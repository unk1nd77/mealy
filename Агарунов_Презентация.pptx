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77" r:id="rId6"/>
    <p:sldId id="278" r:id="rId7"/>
    <p:sldId id="279" r:id="rId8"/>
    <p:sldId id="280" r:id="rId9"/>
    <p:sldId id="289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0" r:id="rId18"/>
    <p:sldId id="291" r:id="rId19"/>
    <p:sldId id="292" r:id="rId20"/>
    <p:sldId id="275" r:id="rId21"/>
    <p:sldId id="293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6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21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7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-3387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-3387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3387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4200" y="256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72033"/>
                </a:solidFill>
              </a:rPr>
              <a:t>01 / 2</a:t>
            </a:r>
            <a:r>
              <a:rPr lang="ru-RU" sz="1400" dirty="0">
                <a:solidFill>
                  <a:srgbClr val="172033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03120" y="411480"/>
            <a:ext cx="8046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Министерство науки и высшего образования Российской Федерации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Федеральное государственное автономное образовательное учреждение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высшего образования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«Московский государственный технический университет имени Н.Э. Баумана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(национальный исследовательский университет)»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(МГТУ им. Н.Э. Баумана)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Мытищинский филиал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Факультет “Космический”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Кафедра “Прикладная математика, информатика и вычислительная техника”</a:t>
            </a:r>
            <a:endParaRPr lang="en-US" sz="1540" dirty="0"/>
          </a:p>
          <a:p>
            <a:pPr marL="0" indent="0" algn="ctr">
              <a:buNone/>
            </a:pPr>
            <a:r>
              <a:rPr lang="en-US" sz="1540" dirty="0">
                <a:solidFill>
                  <a:srgbClr val="172033"/>
                </a:solidFill>
              </a:rPr>
              <a:t>Специальность 09.03.01 “Информатика и вычислительная техника”</a:t>
            </a:r>
            <a:endParaRPr lang="en-US" sz="1540" dirty="0"/>
          </a:p>
        </p:txBody>
      </p:sp>
      <p:sp>
        <p:nvSpPr>
          <p:cNvPr id="11" name="Text 9"/>
          <p:cNvSpPr/>
          <p:nvPr/>
        </p:nvSpPr>
        <p:spPr>
          <a:xfrm>
            <a:off x="2743200" y="331012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172033"/>
                </a:solidFill>
              </a:rPr>
              <a:t>Выпускная квалификационная работа на тему: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987040" y="3886201"/>
            <a:ext cx="62179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172033"/>
                </a:solidFill>
              </a:rPr>
              <a:t>РАЗРАБОТКА ВЕБ‑СЕРВИСА</a:t>
            </a:r>
            <a:endParaRPr lang="en-US" sz="2450" dirty="0"/>
          </a:p>
          <a:p>
            <a:pPr marL="0" indent="0" algn="ctr">
              <a:buNone/>
            </a:pPr>
            <a:r>
              <a:rPr lang="en-US" sz="2450" b="1" dirty="0">
                <a:solidFill>
                  <a:srgbClr val="172033"/>
                </a:solidFill>
              </a:rPr>
              <a:t>МОНИТОРИНГА УТЕЧЕК</a:t>
            </a:r>
            <a:endParaRPr lang="en-US" sz="2450" dirty="0"/>
          </a:p>
          <a:p>
            <a:pPr marL="0" indent="0" algn="ctr">
              <a:buNone/>
            </a:pPr>
            <a:r>
              <a:rPr lang="en-US" sz="2450" b="1" dirty="0">
                <a:solidFill>
                  <a:srgbClr val="172033"/>
                </a:solidFill>
              </a:rPr>
              <a:t>ПЕРСОНАЛЬНЫХ ДАННЫХ</a:t>
            </a:r>
            <a:endParaRPr lang="en-US" sz="2450" dirty="0"/>
          </a:p>
          <a:p>
            <a:pPr marL="0" indent="0" algn="ctr">
              <a:buNone/>
            </a:pPr>
            <a:r>
              <a:rPr lang="en-US" sz="2450" b="1" dirty="0">
                <a:solidFill>
                  <a:srgbClr val="172033"/>
                </a:solidFill>
              </a:rPr>
              <a:t>ПОЛЬЗОВАТЕЛЕЙ</a:t>
            </a:r>
            <a:endParaRPr lang="en-US" sz="2450" dirty="0"/>
          </a:p>
        </p:txBody>
      </p:sp>
      <p:sp>
        <p:nvSpPr>
          <p:cNvPr id="13" name="Shape 11"/>
          <p:cNvSpPr/>
          <p:nvPr/>
        </p:nvSpPr>
        <p:spPr>
          <a:xfrm>
            <a:off x="7010400" y="5532120"/>
            <a:ext cx="4282440" cy="0"/>
          </a:xfrm>
          <a:prstGeom prst="line">
            <a:avLst/>
          </a:prstGeom>
          <a:noFill/>
          <a:ln w="38100">
            <a:solidFill>
              <a:srgbClr val="B9C6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572414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Выполнил: Агарунов Адриел, группа К3-85Б</a:t>
            </a:r>
            <a:endParaRPr lang="en-US" sz="1420" dirty="0"/>
          </a:p>
          <a:p>
            <a:pPr marL="0" indent="0">
              <a:buNone/>
            </a:pPr>
            <a:r>
              <a:rPr lang="en-US" sz="1420" dirty="0">
                <a:solidFill>
                  <a:srgbClr val="172033"/>
                </a:solidFill>
              </a:rPr>
              <a:t>Руководитель: Вилисов Валерий Яковлевич</a:t>
            </a:r>
            <a:endParaRPr lang="en-US" sz="14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371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2371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2371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436542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50" b="1" dirty="0"/>
              <a:t>Актуальность и цель работы</a:t>
            </a:r>
            <a:endParaRPr lang="en-US" sz="235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0652760" cy="0"/>
          </a:xfrm>
          <a:prstGeom prst="line">
            <a:avLst/>
          </a:prstGeom>
          <a:noFill/>
          <a:ln w="889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8096" y="1719072"/>
            <a:ext cx="5257800" cy="354770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7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данные пользователей регулярно появляются в открытых источниках </a:t>
            </a:r>
            <a:r>
              <a:rPr lang="en-US" sz="172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утечек</a:t>
            </a:r>
            <a:r>
              <a:rPr lang="en-US" sz="17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172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720" dirty="0"/>
          </a:p>
          <a:p>
            <a:pPr marL="342900" indent="-342900">
              <a:buFont typeface="+mj-lt"/>
              <a:buAutoNum type="arabicPeriod"/>
            </a:pPr>
            <a:r>
              <a:rPr lang="en-US" sz="17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узнаёт о риске поздно: после фишинга, спама или попыток </a:t>
            </a:r>
            <a:r>
              <a:rPr lang="en-US" sz="172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взлома</a:t>
            </a:r>
            <a:r>
              <a:rPr lang="en-US" sz="17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ru-RU" sz="172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720" dirty="0"/>
          </a:p>
          <a:p>
            <a:pPr marL="342900" indent="-342900">
              <a:buFont typeface="+mj-lt"/>
              <a:buAutoNum type="arabicPeriod"/>
            </a:pPr>
            <a:r>
              <a:rPr lang="ru-RU" sz="172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самостоятельной проверки нужен единый сервис, который показывает совпадения по электронной почте и телефону и дает рекомендации по безопасности.</a:t>
            </a:r>
            <a:endParaRPr lang="en-US" sz="1720" dirty="0"/>
          </a:p>
        </p:txBody>
      </p:sp>
      <p:sp>
        <p:nvSpPr>
          <p:cNvPr id="16" name="Shape 14"/>
          <p:cNvSpPr/>
          <p:nvPr/>
        </p:nvSpPr>
        <p:spPr>
          <a:xfrm>
            <a:off x="6446520" y="1261871"/>
            <a:ext cx="4983480" cy="4864607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536192"/>
            <a:ext cx="27432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20840" y="1993391"/>
            <a:ext cx="4343400" cy="2125811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мониторинга утечек персональных данных пользователей: проверку идентификаторов по локальной базе и внешнему источнику, сохранение истории, уведомления и административный контур управления данными.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697980" y="4791117"/>
            <a:ext cx="1417320" cy="667851"/>
          </a:xfrm>
          <a:prstGeom prst="roundRect">
            <a:avLst>
              <a:gd name="adj" fmla="val 14286"/>
            </a:avLst>
          </a:prstGeom>
          <a:solidFill>
            <a:srgbClr val="FFF6ED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1132" y="4983310"/>
            <a:ext cx="1271016" cy="28346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Граница метода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21039" y="4548970"/>
            <a:ext cx="3041227" cy="143560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ru-RU" sz="1600" dirty="0">
                <a:latin typeface="Arial" pitchFamily="34" charset="0"/>
                <a:ea typeface="Arial" pitchFamily="34" charset="-122"/>
                <a:cs typeface="Arial" pitchFamily="34" charset="-120"/>
              </a:rPr>
              <a:t>Сервис показывает наличие совпадений в подключенных источниках. Отсутствие совпадений не доказывает, что утечки не было.</a:t>
            </a:r>
            <a:endParaRPr lang="en-US" sz="160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2ED45D8F-3FDC-4E65-92B4-ECD22C06C4E9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52FF01-D573-4259-A191-71BF749005B9}"/>
              </a:ext>
            </a:extLst>
          </p:cNvPr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0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2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48" y="-2490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3608" y="-2490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9688" y="-2490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521208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350" b="1" dirty="0"/>
              <a:t>Объект, предмет и задачи</a:t>
            </a:r>
            <a:endParaRPr lang="en-US" sz="2350" dirty="0"/>
          </a:p>
        </p:txBody>
      </p:sp>
      <p:sp>
        <p:nvSpPr>
          <p:cNvPr id="12" name="Shape 10"/>
          <p:cNvSpPr/>
          <p:nvPr/>
        </p:nvSpPr>
        <p:spPr>
          <a:xfrm>
            <a:off x="566928" y="6345936"/>
            <a:ext cx="10652760" cy="0"/>
          </a:xfrm>
          <a:prstGeom prst="line">
            <a:avLst/>
          </a:prstGeom>
          <a:noFill/>
          <a:ln w="8890">
            <a:solidFill>
              <a:srgbClr val="D6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261871"/>
            <a:ext cx="5138928" cy="1438993"/>
          </a:xfrm>
          <a:prstGeom prst="roundRect">
            <a:avLst>
              <a:gd name="adj" fmla="val 3478"/>
            </a:avLst>
          </a:prstGeom>
          <a:solidFill>
            <a:srgbClr val="EAF4FF"/>
          </a:solidFill>
          <a:ln w="12700">
            <a:solidFill>
              <a:srgbClr val="BFD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1832" y="1419353"/>
            <a:ext cx="1463040" cy="3959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Объект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41832" y="1849120"/>
            <a:ext cx="4434840" cy="3200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Веб-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для проверки электронной почты и телефона по источникам утечек.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2273" y="3729904"/>
            <a:ext cx="5138928" cy="1586992"/>
          </a:xfrm>
          <a:prstGeom prst="roundRect">
            <a:avLst>
              <a:gd name="adj" fmla="val 3030"/>
            </a:avLst>
          </a:prstGeom>
          <a:solidFill>
            <a:srgbClr val="E7F7F1"/>
          </a:solidFill>
          <a:ln w="12700">
            <a:solidFill>
              <a:srgbClr val="BFE8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8305" y="3776301"/>
            <a:ext cx="2105828" cy="438911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Предмет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908304" y="4223680"/>
            <a:ext cx="4552695" cy="961136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 идентификаторов, хеширование, поиск совпадений, хранение истории и администрирование базы утечек.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0" y="1261872"/>
            <a:ext cx="3108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разработки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00801" y="1700784"/>
            <a:ext cx="4754880" cy="4160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 fontScale="925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роанализировать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предметную область и ограничения проверки 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утечек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56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560" dirty="0"/>
          </a:p>
          <a:p>
            <a:pPr marL="342900" indent="-342900">
              <a:buFont typeface="+mj-lt"/>
              <a:buAutoNum type="arabicPeriod"/>
            </a:pPr>
            <a:r>
              <a:rPr lang="ru-RU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Спроектировать архитектуру: клиентская часть ↔ серверный программный интерфейс REST ↔ база данных;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56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560" dirty="0"/>
          </a:p>
          <a:p>
            <a:pPr marL="342900" indent="-342900">
              <a:buFont typeface="+mj-lt"/>
              <a:buAutoNum type="arabicPeriod"/>
            </a:pPr>
            <a:r>
              <a:rPr lang="ru-RU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структуру БД для хеш-значений, сессий и журнала проверок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56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560" dirty="0"/>
          </a:p>
          <a:p>
            <a:pPr marL="342900" indent="-342900">
              <a:buFont typeface="+mj-lt"/>
              <a:buAutoNum type="arabicPeriod"/>
            </a:pPr>
            <a:r>
              <a:rPr lang="ru-RU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еализовать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проверку электронной почты/телефона, вход по одноразовому коду, историю и 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56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560" dirty="0"/>
          </a:p>
          <a:p>
            <a:pPr marL="342900" indent="-342900">
              <a:buFont typeface="+mj-lt"/>
              <a:buAutoNum type="arabicPeriod"/>
            </a:pPr>
            <a:r>
              <a:rPr lang="ru-RU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еализовать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административн</a:t>
            </a:r>
            <a:r>
              <a:rPr lang="ru-RU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ую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панель: импорт, создание/изменение/удаление и 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статистику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56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560" dirty="0"/>
          </a:p>
          <a:p>
            <a:pPr marL="342900" indent="-342900">
              <a:buFont typeface="+mj-lt"/>
              <a:buAutoNum type="arabicPeriod"/>
            </a:pPr>
            <a:r>
              <a:rPr lang="ru-RU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lang="en-US" sz="156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оказать</a:t>
            </a:r>
            <a:r>
              <a:rPr lang="en-US" sz="156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результаты работы и направления развития системы.</a:t>
            </a:r>
            <a:endParaRPr lang="en-US" sz="156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865949E5-D245-4E80-850B-BE6FB3D65A46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739C1-70EE-4FF6-B00F-2EBB5F313B23}"/>
              </a:ext>
            </a:extLst>
          </p:cNvPr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0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3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-9144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-9144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-9144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445" y="422983"/>
            <a:ext cx="8869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2350" b="1" dirty="0"/>
              <a:t>Постановка задачи и границы прототипа</a:t>
            </a:r>
            <a:endParaRPr lang="en-US" sz="2350" dirty="0"/>
          </a:p>
        </p:txBody>
      </p:sp>
      <p:sp>
        <p:nvSpPr>
          <p:cNvPr id="12" name="Shape 10"/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1067810"/>
            <a:ext cx="43891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Пользовательский сценарий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8096" y="1579874"/>
            <a:ext cx="33832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1726178"/>
            <a:ext cx="329184" cy="32918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753610"/>
            <a:ext cx="3291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35024" y="1689602"/>
            <a:ext cx="26883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932688" y="2110226"/>
            <a:ext cx="3054096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F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электронная почта или номер телефона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25696" y="1579874"/>
            <a:ext cx="33832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726178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753610"/>
            <a:ext cx="3291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92624" y="1689602"/>
            <a:ext cx="26883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520" dirty="0"/>
          </a:p>
        </p:txBody>
      </p:sp>
      <p:sp>
        <p:nvSpPr>
          <p:cNvPr id="24" name="Text 22"/>
          <p:cNvSpPr/>
          <p:nvPr/>
        </p:nvSpPr>
        <p:spPr>
          <a:xfrm>
            <a:off x="4590288" y="2110226"/>
            <a:ext cx="3054096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F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нормализация, SHA‑256, поиск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83296" y="1579874"/>
            <a:ext cx="338328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0" y="1726178"/>
            <a:ext cx="329184" cy="32918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1753610"/>
            <a:ext cx="32918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50224" y="1689602"/>
            <a:ext cx="26883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1520" dirty="0"/>
          </a:p>
        </p:txBody>
      </p:sp>
      <p:sp>
        <p:nvSpPr>
          <p:cNvPr id="29" name="Text 27"/>
          <p:cNvSpPr/>
          <p:nvPr/>
        </p:nvSpPr>
        <p:spPr>
          <a:xfrm>
            <a:off x="8247888" y="2110226"/>
            <a:ext cx="3054096" cy="3657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F6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статус, источники, риск, рекомендации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51376" y="2073650"/>
            <a:ext cx="274320" cy="0"/>
          </a:xfrm>
          <a:prstGeom prst="line">
            <a:avLst/>
          </a:prstGeom>
          <a:noFill/>
          <a:ln w="19050">
            <a:solidFill>
              <a:srgbClr val="5F68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08976" y="2073650"/>
            <a:ext cx="274320" cy="0"/>
          </a:xfrm>
          <a:prstGeom prst="line">
            <a:avLst/>
          </a:prstGeom>
          <a:noFill/>
          <a:ln w="19050">
            <a:solidFill>
              <a:srgbClr val="5F68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68096" y="2785881"/>
            <a:ext cx="5074920" cy="277164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7" y="2813312"/>
            <a:ext cx="201168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024127" y="3206503"/>
            <a:ext cx="4587545" cy="2432297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окальная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имитационная база 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утечек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60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роверка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электронной почты/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телефона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60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стория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запросов и 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60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Административная панель и загрузка файлов CSV/JSON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73368" y="2785881"/>
            <a:ext cx="5074920" cy="2771641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CAD6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2793669"/>
            <a:ext cx="2103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заявляется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629400" y="3206504"/>
            <a:ext cx="4343400" cy="9601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олный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охват всех утечек в 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интернете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60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инансовая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оценка 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ущерба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60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отовая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промышленная 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инфраструктура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</a:t>
            </a:r>
            <a:endParaRPr lang="ru-RU" sz="1600" dirty="0">
              <a:solidFill>
                <a:srgbClr val="1720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ru-RU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r>
              <a:rPr lang="en-US" sz="1600" dirty="0" err="1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арантия</a:t>
            </a:r>
            <a:r>
              <a:rPr lang="en-US" sz="16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достоверности каждой записи источника.</a:t>
            </a:r>
            <a:endParaRPr lang="en-US" sz="1600" dirty="0"/>
          </a:p>
        </p:txBody>
      </p:sp>
      <p:sp>
        <p:nvSpPr>
          <p:cNvPr id="38" name="Rectangle 23">
            <a:extLst>
              <a:ext uri="{FF2B5EF4-FFF2-40B4-BE49-F238E27FC236}">
                <a16:creationId xmlns:a16="http://schemas.microsoft.com/office/drawing/2014/main" id="{23BA6B9C-3897-4F23-A603-7BA6139CDF97}"/>
              </a:ext>
            </a:extLst>
          </p:cNvPr>
          <p:cNvSpPr/>
          <p:nvPr/>
        </p:nvSpPr>
        <p:spPr>
          <a:xfrm>
            <a:off x="816864" y="2785881"/>
            <a:ext cx="73152" cy="2771642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27">
            <a:extLst>
              <a:ext uri="{FF2B5EF4-FFF2-40B4-BE49-F238E27FC236}">
                <a16:creationId xmlns:a16="http://schemas.microsoft.com/office/drawing/2014/main" id="{7E431172-7744-44C5-92DF-ADD2DE7EEAA1}"/>
              </a:ext>
            </a:extLst>
          </p:cNvPr>
          <p:cNvSpPr/>
          <p:nvPr/>
        </p:nvSpPr>
        <p:spPr>
          <a:xfrm>
            <a:off x="6428232" y="2785881"/>
            <a:ext cx="73152" cy="2771640"/>
          </a:xfrm>
          <a:prstGeom prst="rect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0">
            <a:extLst>
              <a:ext uri="{FF2B5EF4-FFF2-40B4-BE49-F238E27FC236}">
                <a16:creationId xmlns:a16="http://schemas.microsoft.com/office/drawing/2014/main" id="{20287E8B-EF18-4D12-9B29-79CAE4857FE8}"/>
              </a:ext>
            </a:extLst>
          </p:cNvPr>
          <p:cNvSpPr/>
          <p:nvPr/>
        </p:nvSpPr>
        <p:spPr>
          <a:xfrm>
            <a:off x="720005" y="5678424"/>
            <a:ext cx="10835640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825195-BB81-4606-83E0-2FF50566B09A}"/>
              </a:ext>
            </a:extLst>
          </p:cNvPr>
          <p:cNvSpPr txBox="1"/>
          <p:nvPr/>
        </p:nvSpPr>
        <p:spPr>
          <a:xfrm>
            <a:off x="948605" y="5739383"/>
            <a:ext cx="103327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0" dirty="0" err="1">
                <a:solidFill>
                  <a:srgbClr val="1F2937"/>
                </a:solidFill>
                <a:latin typeface="Arial"/>
              </a:rPr>
              <a:t>Рабочее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определение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риска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: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условная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оценка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зависящая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от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количества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найденных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совпадений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и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давности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наиболее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свежей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записи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B37E79-5FC2-458B-B6AA-F4297FED3E3E}"/>
              </a:ext>
            </a:extLst>
          </p:cNvPr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0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4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F4544FB0-6265-4897-9B29-740F699B632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Типовые данные в источниках утечек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05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10223A"/>
                </a:solidFill>
                <a:latin typeface="Arial"/>
              </a:rPr>
              <a:t>Таблица 1 — категории данных и их значение для проверки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9280857"/>
              </p:ext>
            </p:extLst>
          </p:nvPr>
        </p:nvGraphicFramePr>
        <p:xfrm>
          <a:off x="640080" y="1645920"/>
          <a:ext cx="109270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Категория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Примеры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Значение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для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проверки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Идентификаторы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электронная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почта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телефон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логин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позволяют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пользователю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выполнить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самопроверку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Учетные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данные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пароль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хеш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пароля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токены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повышают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риск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несанкционированного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доступа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Контекстные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сведения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источник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дата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регион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имя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пользователя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объясняют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происхождение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совпадения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Технические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метаданные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имя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файла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выгрузки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часть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файла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IP-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адрес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полезны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для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администрирования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и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контроля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загрузки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73152" marR="73152" marT="36576" marB="365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2">
            <a:extLst>
              <a:ext uri="{FF2B5EF4-FFF2-40B4-BE49-F238E27FC236}">
                <a16:creationId xmlns:a16="http://schemas.microsoft.com/office/drawing/2014/main" id="{70212939-BC5F-444F-BADE-FE3C7F3B3CE0}"/>
              </a:ext>
            </a:extLst>
          </p:cNvPr>
          <p:cNvSpPr/>
          <p:nvPr/>
        </p:nvSpPr>
        <p:spPr>
          <a:xfrm>
            <a:off x="0" y="-11503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0285753-7AB9-4581-ADA7-23FE436FE9FD}"/>
              </a:ext>
            </a:extLst>
          </p:cNvPr>
          <p:cNvSpPr/>
          <p:nvPr/>
        </p:nvSpPr>
        <p:spPr>
          <a:xfrm>
            <a:off x="4480560" y="-11503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8CF0044-E14D-459F-B0A5-979845A3C497}"/>
              </a:ext>
            </a:extLst>
          </p:cNvPr>
          <p:cNvSpPr/>
          <p:nvPr/>
        </p:nvSpPr>
        <p:spPr>
          <a:xfrm>
            <a:off x="7406640" y="-11503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6B3656BF-C6A6-4665-95BF-392727A5A71D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186AE67A-B27C-4133-B899-17738BCE5AE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Сравнение подходов к проверке утечек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06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10789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10223A"/>
                </a:solidFill>
                <a:latin typeface="Arial"/>
              </a:rPr>
              <a:t>Таблица 2 — почему выбран собственный прототип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709527"/>
              </p:ext>
            </p:extLst>
          </p:nvPr>
        </p:nvGraphicFramePr>
        <p:xfrm>
          <a:off x="640080" y="1645920"/>
          <a:ext cx="1092708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Подход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Преимущества</a:t>
                      </a: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Ограничения</a:t>
                      </a:r>
                      <a:endParaRPr sz="24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64008" marR="64008" marT="27432" marB="27432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Публичный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внешний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сервис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быстрый старт, готовая база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зависимость от внешнего источника, ограниченный контроль структуры данных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Защитный сервис в составе экосистемы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готовая инфраструктура, доверие к поставщику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закрытая реализация, невозможно показать собственную БД и интерфейс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Корпоративное закрытое решение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учет внутренних требований организации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сложность доступа и договорные ограничения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Собственный учебный сервис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полный контроль над архитектурой, БД, интерфейсом и демонстрационными данными</a:t>
                      </a: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не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претендует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на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полноту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промышленных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баз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;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требует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подключения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легальных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источников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marL="64008" marR="64008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2">
            <a:extLst>
              <a:ext uri="{FF2B5EF4-FFF2-40B4-BE49-F238E27FC236}">
                <a16:creationId xmlns:a16="http://schemas.microsoft.com/office/drawing/2014/main" id="{5972E149-403D-4B5F-B86E-FD70CC9E6FD1}"/>
              </a:ext>
            </a:extLst>
          </p:cNvPr>
          <p:cNvSpPr/>
          <p:nvPr/>
        </p:nvSpPr>
        <p:spPr>
          <a:xfrm>
            <a:off x="0" y="-20647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5D25E65B-BC10-48D0-B032-CA86EA21D45B}"/>
              </a:ext>
            </a:extLst>
          </p:cNvPr>
          <p:cNvSpPr/>
          <p:nvPr/>
        </p:nvSpPr>
        <p:spPr>
          <a:xfrm>
            <a:off x="4480560" y="-20647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1B543B8-E690-4DDA-895F-011577985D19}"/>
              </a:ext>
            </a:extLst>
          </p:cNvPr>
          <p:cNvSpPr/>
          <p:nvPr/>
        </p:nvSpPr>
        <p:spPr>
          <a:xfrm>
            <a:off x="7406640" y="-20647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381A0BF-6201-4ABF-AB7A-22A1D3438776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>
            <a:extLst>
              <a:ext uri="{FF2B5EF4-FFF2-40B4-BE49-F238E27FC236}">
                <a16:creationId xmlns:a16="http://schemas.microsoft.com/office/drawing/2014/main" id="{6FED3BAF-576E-401F-AA05-FCCDFF02E20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dirty="0" err="1">
                <a:solidFill>
                  <a:srgbClr val="10223A"/>
                </a:solidFill>
                <a:latin typeface="Arial"/>
              </a:rPr>
              <a:t>Архитектура</a:t>
            </a:r>
            <a:r>
              <a:rPr sz="2600" b="1" dirty="0">
                <a:solidFill>
                  <a:srgbClr val="10223A"/>
                </a:solidFill>
                <a:latin typeface="Arial"/>
              </a:rPr>
              <a:t> </a:t>
            </a:r>
            <a:r>
              <a:rPr lang="ru-RU" sz="2600" b="1" dirty="0">
                <a:solidFill>
                  <a:srgbClr val="10223A"/>
                </a:solidFill>
                <a:latin typeface="Arial"/>
              </a:rPr>
              <a:t>веб-</a:t>
            </a:r>
            <a:r>
              <a:rPr sz="2600" b="1" dirty="0" err="1">
                <a:solidFill>
                  <a:srgbClr val="10223A"/>
                </a:solidFill>
                <a:latin typeface="Arial"/>
              </a:rPr>
              <a:t>сервиса</a:t>
            </a:r>
            <a:endParaRPr sz="2600" b="1" dirty="0">
              <a:solidFill>
                <a:srgbClr val="10223A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07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1325880"/>
            <a:ext cx="4389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483688"/>
            <a:ext cx="41148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10223A"/>
                </a:solidFill>
                <a:latin typeface="Arial"/>
              </a:rPr>
              <a:t>Пользовательский</a:t>
            </a:r>
            <a:r>
              <a:rPr sz="1600" b="1" dirty="0">
                <a:solidFill>
                  <a:srgbClr val="10223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223A"/>
                </a:solidFill>
                <a:latin typeface="Arial"/>
              </a:rPr>
              <a:t>браузер</a:t>
            </a:r>
            <a:endParaRPr sz="1600" b="1" dirty="0">
              <a:solidFill>
                <a:srgbClr val="10223A"/>
              </a:solidFill>
              <a:latin typeface="Arial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108960" y="1947672"/>
            <a:ext cx="0" cy="502919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450591"/>
            <a:ext cx="4389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41148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10223A"/>
                </a:solidFill>
                <a:latin typeface="Arial"/>
              </a:rPr>
              <a:t>Клиентская</a:t>
            </a:r>
            <a:r>
              <a:rPr sz="1600" b="1" dirty="0">
                <a:solidFill>
                  <a:srgbClr val="10223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223A"/>
                </a:solidFill>
                <a:latin typeface="Arial"/>
              </a:rPr>
              <a:t>часть</a:t>
            </a:r>
            <a:endParaRPr sz="1600" b="1" dirty="0">
              <a:solidFill>
                <a:srgbClr val="10223A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1560" y="2770632"/>
            <a:ext cx="4114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React / Vite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3072384"/>
            <a:ext cx="0" cy="50292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3575304"/>
            <a:ext cx="43891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648456"/>
            <a:ext cx="41148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>
                <a:solidFill>
                  <a:srgbClr val="10223A"/>
                </a:solidFill>
                <a:latin typeface="Arial"/>
              </a:rPr>
              <a:t>Серверный интерфейс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95344"/>
            <a:ext cx="4114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rial"/>
              </a:rPr>
              <a:t>FastAPI, REST / HTTP / JSON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4197096"/>
            <a:ext cx="0" cy="502920"/>
          </a:xfrm>
          <a:prstGeom prst="line">
            <a:avLst/>
          </a:prstGeom>
          <a:ln w="1905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700016"/>
            <a:ext cx="4389120" cy="832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744381"/>
            <a:ext cx="411480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1" dirty="0" err="1">
                <a:solidFill>
                  <a:srgbClr val="10223A"/>
                </a:solidFill>
                <a:latin typeface="Arial"/>
              </a:rPr>
              <a:t>База</a:t>
            </a:r>
            <a:r>
              <a:rPr sz="1600" b="1" dirty="0">
                <a:solidFill>
                  <a:srgbClr val="10223A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10223A"/>
                </a:solidFill>
                <a:latin typeface="Arial"/>
              </a:rPr>
              <a:t>данных</a:t>
            </a:r>
            <a:endParaRPr sz="1600" b="1" dirty="0">
              <a:solidFill>
                <a:srgbClr val="10223A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" y="4991268"/>
            <a:ext cx="41148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0" dirty="0">
                <a:solidFill>
                  <a:srgbClr val="1F2937"/>
                </a:solidFill>
                <a:latin typeface="Arial"/>
              </a:rPr>
              <a:t>SQLite + </a:t>
            </a:r>
            <a:r>
              <a:rPr sz="1200" b="0" dirty="0" err="1">
                <a:solidFill>
                  <a:srgbClr val="1F2937"/>
                </a:solidFill>
                <a:latin typeface="Arial"/>
              </a:rPr>
              <a:t>SQLModel</a:t>
            </a:r>
            <a:br>
              <a:rPr dirty="0"/>
            </a:br>
            <a:r>
              <a:rPr dirty="0"/>
              <a:t>User, Breach, </a:t>
            </a:r>
            <a:r>
              <a:rPr dirty="0" err="1"/>
              <a:t>RequestLog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583680" y="2468879"/>
            <a:ext cx="4114800" cy="1380741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2515277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 dirty="0" err="1">
                <a:solidFill>
                  <a:srgbClr val="0F8076"/>
                </a:solidFill>
                <a:latin typeface="Arial"/>
              </a:rPr>
              <a:t>Внешние</a:t>
            </a:r>
            <a:r>
              <a:rPr sz="1800" b="1" dirty="0">
                <a:solidFill>
                  <a:srgbClr val="0F8076"/>
                </a:solidFill>
                <a:latin typeface="Arial"/>
              </a:rPr>
              <a:t> </a:t>
            </a:r>
            <a:r>
              <a:rPr sz="1800" b="1" dirty="0" err="1">
                <a:solidFill>
                  <a:srgbClr val="0F8076"/>
                </a:solidFill>
                <a:latin typeface="Arial"/>
              </a:rPr>
              <a:t>интеграции</a:t>
            </a:r>
            <a:endParaRPr sz="1800" b="1" dirty="0">
              <a:solidFill>
                <a:srgbClr val="0F8076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12280" y="2908469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dirty="0">
                <a:solidFill>
                  <a:srgbClr val="1F2937"/>
                </a:solidFill>
                <a:latin typeface="Arial"/>
              </a:rPr>
              <a:t>HIBP,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бот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Telegram, SMTP/СМС</a:t>
            </a:r>
            <a:br>
              <a:rPr dirty="0"/>
            </a:br>
            <a:r>
              <a:rPr dirty="0" err="1"/>
              <a:t>используются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наличии</a:t>
            </a:r>
            <a:r>
              <a:rPr dirty="0"/>
              <a:t> </a:t>
            </a:r>
            <a:r>
              <a:rPr dirty="0" err="1"/>
              <a:t>настроек</a:t>
            </a:r>
            <a:endParaRPr dirty="0"/>
          </a:p>
        </p:txBody>
      </p:sp>
      <p:cxnSp>
        <p:nvCxnSpPr>
          <p:cNvPr id="24" name="Connector 23"/>
          <p:cNvCxnSpPr/>
          <p:nvPr/>
        </p:nvCxnSpPr>
        <p:spPr>
          <a:xfrm flipV="1">
            <a:off x="5303520" y="3017520"/>
            <a:ext cx="1280160" cy="868680"/>
          </a:xfrm>
          <a:prstGeom prst="bentConnector3">
            <a:avLst/>
          </a:prstGeom>
          <a:ln w="1651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83680" y="4206239"/>
            <a:ext cx="4114800" cy="1123029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12280" y="4232317"/>
            <a:ext cx="3657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700" b="1" dirty="0" err="1">
                <a:solidFill>
                  <a:srgbClr val="2563EB"/>
                </a:solidFill>
                <a:latin typeface="Arial"/>
              </a:rPr>
              <a:t>Пояснение</a:t>
            </a:r>
            <a:endParaRPr sz="1700" b="1" dirty="0">
              <a:solidFill>
                <a:srgbClr val="2563EB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12280" y="4561501"/>
            <a:ext cx="3657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0" dirty="0" err="1">
                <a:solidFill>
                  <a:srgbClr val="1F2937"/>
                </a:solidFill>
                <a:latin typeface="Arial"/>
              </a:rPr>
              <a:t>Критичная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логика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выполняется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на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сервере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;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клиентская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часть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только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отображает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форму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 и </a:t>
            </a:r>
            <a:r>
              <a:rPr sz="1300" b="0" dirty="0" err="1">
                <a:solidFill>
                  <a:srgbClr val="1F2937"/>
                </a:solidFill>
                <a:latin typeface="Arial"/>
              </a:rPr>
              <a:t>результат</a:t>
            </a:r>
            <a:r>
              <a:rPr sz="13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4C0F0185-C2EC-484B-92FD-0BE0468AA40E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39959B83-04EC-4399-897B-01783884B666}"/>
              </a:ext>
            </a:extLst>
          </p:cNvPr>
          <p:cNvSpPr/>
          <p:nvPr/>
        </p:nvSpPr>
        <p:spPr>
          <a:xfrm>
            <a:off x="3048" y="-19053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CD059A3A-D61E-4F9B-AC50-A0AA1ABD91FD}"/>
              </a:ext>
            </a:extLst>
          </p:cNvPr>
          <p:cNvSpPr/>
          <p:nvPr/>
        </p:nvSpPr>
        <p:spPr>
          <a:xfrm>
            <a:off x="4483608" y="-19053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EB6B46FB-19CA-4846-B55D-7DD4B73AD48D}"/>
              </a:ext>
            </a:extLst>
          </p:cNvPr>
          <p:cNvSpPr/>
          <p:nvPr/>
        </p:nvSpPr>
        <p:spPr>
          <a:xfrm>
            <a:off x="7409688" y="-19053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5DC4E72C-746C-4BD6-8902-DDDFF18192BE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 w="12700">
            <a:solidFill>
              <a:srgbClr val="F5F8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Используемые технологии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08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029200" cy="1453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44063"/>
            <a:ext cx="73152" cy="139361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554480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rial"/>
              </a:rPr>
              <a:t>Клиентская часть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84248"/>
            <a:ext cx="4754880" cy="5943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rial"/>
              </a:rPr>
              <a:t>React 18, TypeScript,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Vite</a:t>
            </a:r>
            <a:br>
              <a:rPr dirty="0"/>
            </a:b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, </a:t>
            </a:r>
            <a:r>
              <a:rPr dirty="0" err="1"/>
              <a:t>история</a:t>
            </a:r>
            <a:r>
              <a:rPr dirty="0"/>
              <a:t>, </a:t>
            </a:r>
            <a:r>
              <a:rPr dirty="0" err="1"/>
              <a:t>профиль</a:t>
            </a:r>
            <a:r>
              <a:rPr dirty="0"/>
              <a:t>, </a:t>
            </a:r>
            <a:r>
              <a:rPr dirty="0" err="1"/>
              <a:t>административная</a:t>
            </a:r>
            <a:r>
              <a:rPr dirty="0"/>
              <a:t> </a:t>
            </a:r>
            <a:r>
              <a:rPr dirty="0" err="1"/>
              <a:t>панель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19"/>
            <a:ext cx="5029200" cy="145389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464899"/>
            <a:ext cx="73152" cy="1372778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554480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8076"/>
                </a:solidFill>
                <a:latin typeface="Arial"/>
              </a:rPr>
              <a:t>Серверная часть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984248"/>
            <a:ext cx="4754880" cy="5943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rial"/>
              </a:rPr>
              <a:t>Python 3,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FastAPI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Uvicorn</a:t>
            </a:r>
            <a:br>
              <a:rPr dirty="0"/>
            </a:br>
            <a:r>
              <a:rPr dirty="0" err="1"/>
              <a:t>маршруты</a:t>
            </a:r>
            <a:r>
              <a:rPr dirty="0"/>
              <a:t> </a:t>
            </a:r>
            <a:r>
              <a:rPr dirty="0" err="1"/>
              <a:t>авторизации</a:t>
            </a:r>
            <a:r>
              <a:rPr dirty="0"/>
              <a:t>, </a:t>
            </a:r>
            <a:r>
              <a:rPr dirty="0" err="1"/>
              <a:t>проверки</a:t>
            </a:r>
            <a:r>
              <a:rPr dirty="0"/>
              <a:t> и </a:t>
            </a:r>
            <a:r>
              <a:rPr dirty="0" err="1"/>
              <a:t>администрирования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5029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73152" cy="1453896"/>
          </a:xfrm>
          <a:prstGeom prst="rect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383279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C25C00"/>
                </a:solidFill>
                <a:latin typeface="Arial"/>
              </a:rPr>
              <a:t>Данные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813048"/>
            <a:ext cx="4754880" cy="5943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 err="1">
                <a:solidFill>
                  <a:srgbClr val="1F2937"/>
                </a:solidFill>
                <a:latin typeface="Arial"/>
              </a:rPr>
              <a:t>SQLModel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/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SQLAlchemy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, SQLite</a:t>
            </a:r>
            <a:br>
              <a:rPr dirty="0"/>
            </a:b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, </a:t>
            </a:r>
            <a:r>
              <a:rPr dirty="0" err="1"/>
              <a:t>утечек</a:t>
            </a:r>
            <a:r>
              <a:rPr dirty="0"/>
              <a:t>, </a:t>
            </a:r>
            <a:r>
              <a:rPr dirty="0" err="1"/>
              <a:t>сессий</a:t>
            </a:r>
            <a:r>
              <a:rPr dirty="0"/>
              <a:t> и </a:t>
            </a:r>
            <a:r>
              <a:rPr dirty="0" err="1"/>
              <a:t>журнала</a:t>
            </a:r>
            <a:r>
              <a:rPr dirty="0"/>
              <a:t> </a:t>
            </a:r>
            <a:r>
              <a:rPr dirty="0" err="1"/>
              <a:t>проверок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400800" y="3246120"/>
            <a:ext cx="5029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3246119"/>
            <a:ext cx="73152" cy="1453893"/>
          </a:xfrm>
          <a:prstGeom prst="rect">
            <a:avLst/>
          </a:prstGeom>
          <a:solidFill>
            <a:srgbClr val="2D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65392" y="3383279"/>
            <a:ext cx="47548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2DBEA0"/>
                </a:solidFill>
                <a:latin typeface="Arial"/>
              </a:rPr>
              <a:t>Интеграции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813048"/>
            <a:ext cx="4754880" cy="5943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solidFill>
                  <a:srgbClr val="1F2937"/>
                </a:solidFill>
                <a:latin typeface="Arial"/>
              </a:rPr>
              <a:t>HIBP,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бот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Telegram, SMTP/СМС</a:t>
            </a:r>
            <a:br>
              <a:rPr dirty="0"/>
            </a:br>
            <a:r>
              <a:rPr dirty="0" err="1"/>
              <a:t>внешняя</a:t>
            </a:r>
            <a:r>
              <a:rPr dirty="0"/>
              <a:t> </a:t>
            </a:r>
            <a:r>
              <a:rPr dirty="0" err="1"/>
              <a:t>проверка</a:t>
            </a:r>
            <a:r>
              <a:rPr dirty="0"/>
              <a:t> </a:t>
            </a:r>
            <a:r>
              <a:rPr dirty="0" err="1"/>
              <a:t>электронной</a:t>
            </a:r>
            <a:r>
              <a:rPr dirty="0"/>
              <a:t> </a:t>
            </a:r>
            <a:r>
              <a:rPr dirty="0" err="1"/>
              <a:t>почты</a:t>
            </a:r>
            <a:r>
              <a:rPr dirty="0"/>
              <a:t> и </a:t>
            </a:r>
            <a:r>
              <a:rPr dirty="0" err="1"/>
              <a:t>каналы</a:t>
            </a:r>
            <a:r>
              <a:rPr dirty="0"/>
              <a:t> </a:t>
            </a:r>
            <a:r>
              <a:rPr dirty="0" err="1"/>
              <a:t>уведомлений</a:t>
            </a:r>
            <a:endParaRPr dirty="0"/>
          </a:p>
        </p:txBody>
      </p:sp>
      <p:sp>
        <p:nvSpPr>
          <p:cNvPr id="23" name="Rounded Rectangle 22"/>
          <p:cNvSpPr/>
          <p:nvPr/>
        </p:nvSpPr>
        <p:spPr>
          <a:xfrm>
            <a:off x="731520" y="5486400"/>
            <a:ext cx="10698480" cy="640080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5207" y="5571748"/>
            <a:ext cx="102412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 err="1">
                <a:solidFill>
                  <a:srgbClr val="1F2937"/>
                </a:solidFill>
                <a:latin typeface="Arial"/>
              </a:rPr>
              <a:t>Набор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технологий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выбран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для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быстрого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создания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проверяемого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прототипа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возможности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последующего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перехода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с SQLite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на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PostgreSQL.</a:t>
            </a:r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9FA87FFC-5C95-4A63-990D-F5D522674A4C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94396DC2-0245-48A3-87FD-EA803205489E}"/>
              </a:ext>
            </a:extLst>
          </p:cNvPr>
          <p:cNvSpPr/>
          <p:nvPr/>
        </p:nvSpPr>
        <p:spPr>
          <a:xfrm>
            <a:off x="0" y="-20197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F77E8C5C-EE3B-4A5C-9F67-AA75137922B6}"/>
              </a:ext>
            </a:extLst>
          </p:cNvPr>
          <p:cNvSpPr/>
          <p:nvPr/>
        </p:nvSpPr>
        <p:spPr>
          <a:xfrm>
            <a:off x="4480560" y="-20197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9" name="Shape 4">
            <a:extLst>
              <a:ext uri="{FF2B5EF4-FFF2-40B4-BE49-F238E27FC236}">
                <a16:creationId xmlns:a16="http://schemas.microsoft.com/office/drawing/2014/main" id="{07067D85-2B95-4AFB-8E4B-81282FC704A5}"/>
              </a:ext>
            </a:extLst>
          </p:cNvPr>
          <p:cNvSpPr/>
          <p:nvPr/>
        </p:nvSpPr>
        <p:spPr>
          <a:xfrm>
            <a:off x="7406640" y="-20197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434840" cy="54864"/>
          </a:xfrm>
          <a:prstGeom prst="rect">
            <a:avLst/>
          </a:prstGeom>
          <a:solidFill>
            <a:srgbClr val="2FD0BE"/>
          </a:solidFill>
          <a:ln w="12700">
            <a:solidFill>
              <a:srgbClr val="2FD0B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434840" y="73152"/>
            <a:ext cx="2788920" cy="54864"/>
          </a:xfrm>
          <a:prstGeom prst="rect">
            <a:avLst/>
          </a:prstGeom>
          <a:solidFill>
            <a:srgbClr val="0E726F"/>
          </a:solidFill>
          <a:ln w="12700">
            <a:solidFill>
              <a:srgbClr val="0E726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73152"/>
            <a:ext cx="4965192" cy="54864"/>
          </a:xfrm>
          <a:prstGeom prst="rect">
            <a:avLst/>
          </a:prstGeom>
          <a:solidFill>
            <a:srgbClr val="D8951C"/>
          </a:solidFill>
          <a:ln w="12700">
            <a:solidFill>
              <a:srgbClr val="D8951C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310896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E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базы данных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195560" y="39319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55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2</a:t>
            </a:r>
            <a:r>
              <a:rPr lang="ru-RU" sz="1550" dirty="0">
                <a:solidFill>
                  <a:srgbClr val="5B67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8368" y="896112"/>
            <a:ext cx="10442448" cy="0"/>
          </a:xfrm>
          <a:prstGeom prst="line">
            <a:avLst/>
          </a:prstGeom>
          <a:noFill/>
          <a:ln w="50800">
            <a:solidFill>
              <a:srgbClr val="D8E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0607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E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сущности и связи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1554479"/>
            <a:ext cx="2971800" cy="2157981"/>
          </a:xfrm>
          <a:prstGeom prst="rect">
            <a:avLst/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554480"/>
            <a:ext cx="2971800" cy="384048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60020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4672" y="1993392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804672" y="2231136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804672" y="2468880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804672" y="2706624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telegram_id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804672" y="2944368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notify_email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804672" y="3182112"/>
            <a:ext cx="2642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notify_telegram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4617720" y="1554480"/>
            <a:ext cx="2971800" cy="21579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554480"/>
            <a:ext cx="2971800" cy="384048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160020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RequestLog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82312" y="19933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782312" y="22219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→ User.id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782312" y="24505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query_hash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4782312" y="26791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query_type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782312" y="29077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hits_count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82312" y="31363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risk_score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82312" y="3364992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302752" y="1554480"/>
            <a:ext cx="3246120" cy="21579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1554480"/>
            <a:ext cx="3246120" cy="384048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30768" y="16002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Breach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467344" y="19933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260" dirty="0"/>
          </a:p>
        </p:txBody>
      </p:sp>
      <p:sp>
        <p:nvSpPr>
          <p:cNvPr id="33" name="Text 31"/>
          <p:cNvSpPr/>
          <p:nvPr/>
        </p:nvSpPr>
        <p:spPr>
          <a:xfrm>
            <a:off x="8467344" y="22219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260" dirty="0"/>
          </a:p>
        </p:txBody>
      </p:sp>
      <p:sp>
        <p:nvSpPr>
          <p:cNvPr id="34" name="Text 32"/>
          <p:cNvSpPr/>
          <p:nvPr/>
        </p:nvSpPr>
        <p:spPr>
          <a:xfrm>
            <a:off x="8467344" y="24505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email_hash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8467344" y="26791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phone_hash</a:t>
            </a:r>
            <a:endParaRPr lang="en-US" sz="1260" dirty="0"/>
          </a:p>
        </p:txBody>
      </p:sp>
      <p:sp>
        <p:nvSpPr>
          <p:cNvPr id="36" name="Text 34"/>
          <p:cNvSpPr/>
          <p:nvPr/>
        </p:nvSpPr>
        <p:spPr>
          <a:xfrm>
            <a:off x="8467344" y="29077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date_found</a:t>
            </a:r>
            <a:endParaRPr lang="en-US" sz="1260" dirty="0"/>
          </a:p>
        </p:txBody>
      </p:sp>
      <p:sp>
        <p:nvSpPr>
          <p:cNvPr id="37" name="Text 35"/>
          <p:cNvSpPr/>
          <p:nvPr/>
        </p:nvSpPr>
        <p:spPr>
          <a:xfrm>
            <a:off x="8467344" y="31363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8467344" y="3364992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leak_file / leak_part</a:t>
            </a:r>
            <a:endParaRPr lang="en-US" sz="1260" dirty="0"/>
          </a:p>
        </p:txBody>
      </p:sp>
      <p:sp>
        <p:nvSpPr>
          <p:cNvPr id="39" name="Shape 37"/>
          <p:cNvSpPr/>
          <p:nvPr/>
        </p:nvSpPr>
        <p:spPr>
          <a:xfrm>
            <a:off x="3611880" y="2763012"/>
            <a:ext cx="1005840" cy="0"/>
          </a:xfrm>
          <a:prstGeom prst="line">
            <a:avLst/>
          </a:prstGeom>
          <a:noFill/>
          <a:ln w="21590">
            <a:solidFill>
              <a:srgbClr val="0E726F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589520" y="2633472"/>
            <a:ext cx="713232" cy="0"/>
          </a:xfrm>
          <a:prstGeom prst="line">
            <a:avLst/>
          </a:prstGeom>
          <a:noFill/>
          <a:ln w="21590">
            <a:solidFill>
              <a:srgbClr val="0E726F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658368" y="37673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E1C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Служебные таблицы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40080" y="4224528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4224528"/>
            <a:ext cx="2514600" cy="310896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" y="4270248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AuthSession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04672" y="4590288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</a:t>
            </a:r>
            <a:endParaRPr lang="en-US" sz="1170" dirty="0"/>
          </a:p>
        </p:txBody>
      </p:sp>
      <p:sp>
        <p:nvSpPr>
          <p:cNvPr id="46" name="Text 44"/>
          <p:cNvSpPr/>
          <p:nvPr/>
        </p:nvSpPr>
        <p:spPr>
          <a:xfrm>
            <a:off x="804672" y="4800600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170" dirty="0"/>
          </a:p>
        </p:txBody>
      </p:sp>
      <p:sp>
        <p:nvSpPr>
          <p:cNvPr id="47" name="Text 45"/>
          <p:cNvSpPr/>
          <p:nvPr/>
        </p:nvSpPr>
        <p:spPr>
          <a:xfrm>
            <a:off x="804672" y="5010912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1170" dirty="0"/>
          </a:p>
        </p:txBody>
      </p:sp>
      <p:sp>
        <p:nvSpPr>
          <p:cNvPr id="48" name="Shape 46"/>
          <p:cNvSpPr/>
          <p:nvPr/>
        </p:nvSpPr>
        <p:spPr>
          <a:xfrm>
            <a:off x="3383280" y="4224528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383280" y="4224528"/>
            <a:ext cx="2514600" cy="310896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11296" y="4270248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OTPRequest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3547872" y="4590288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endParaRPr lang="en-US" sz="1170" dirty="0"/>
          </a:p>
        </p:txBody>
      </p:sp>
      <p:sp>
        <p:nvSpPr>
          <p:cNvPr id="52" name="Text 50"/>
          <p:cNvSpPr/>
          <p:nvPr/>
        </p:nvSpPr>
        <p:spPr>
          <a:xfrm>
            <a:off x="3547872" y="4800600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last_code</a:t>
            </a:r>
            <a:endParaRPr lang="en-US" sz="1170" dirty="0"/>
          </a:p>
        </p:txBody>
      </p:sp>
      <p:sp>
        <p:nvSpPr>
          <p:cNvPr id="53" name="Text 51"/>
          <p:cNvSpPr/>
          <p:nvPr/>
        </p:nvSpPr>
        <p:spPr>
          <a:xfrm>
            <a:off x="3547872" y="5010912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locked_until</a:t>
            </a:r>
            <a:endParaRPr lang="en-US" sz="1170" dirty="0"/>
          </a:p>
        </p:txBody>
      </p:sp>
      <p:sp>
        <p:nvSpPr>
          <p:cNvPr id="54" name="Shape 52"/>
          <p:cNvSpPr/>
          <p:nvPr/>
        </p:nvSpPr>
        <p:spPr>
          <a:xfrm>
            <a:off x="6126480" y="4224528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126480" y="4224528"/>
            <a:ext cx="2514600" cy="310896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54496" y="4270248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TelegramChatId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6291072" y="4590288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telegram_username</a:t>
            </a:r>
            <a:endParaRPr lang="en-US" sz="1140" dirty="0"/>
          </a:p>
        </p:txBody>
      </p:sp>
      <p:sp>
        <p:nvSpPr>
          <p:cNvPr id="58" name="Text 56"/>
          <p:cNvSpPr/>
          <p:nvPr/>
        </p:nvSpPr>
        <p:spPr>
          <a:xfrm>
            <a:off x="6291072" y="4800600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chat_id</a:t>
            </a:r>
            <a:endParaRPr lang="en-US" sz="1140" dirty="0"/>
          </a:p>
        </p:txBody>
      </p:sp>
      <p:sp>
        <p:nvSpPr>
          <p:cNvPr id="59" name="Text 57"/>
          <p:cNvSpPr/>
          <p:nvPr/>
        </p:nvSpPr>
        <p:spPr>
          <a:xfrm>
            <a:off x="6291072" y="5010912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4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updated_at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8869680" y="4224528"/>
            <a:ext cx="2514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4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869680" y="4224528"/>
            <a:ext cx="2514600" cy="310896"/>
          </a:xfrm>
          <a:prstGeom prst="rect">
            <a:avLst/>
          </a:prstGeom>
          <a:solidFill>
            <a:srgbClr val="0E1C2D"/>
          </a:solidFill>
          <a:ln w="12700">
            <a:solidFill>
              <a:srgbClr val="0E1C2D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97696" y="4270248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AdminSession</a:t>
            </a:r>
            <a:endParaRPr lang="en-US" sz="1450" dirty="0"/>
          </a:p>
        </p:txBody>
      </p:sp>
      <p:sp>
        <p:nvSpPr>
          <p:cNvPr id="63" name="Text 61"/>
          <p:cNvSpPr/>
          <p:nvPr/>
        </p:nvSpPr>
        <p:spPr>
          <a:xfrm>
            <a:off x="9034272" y="4590288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</a:t>
            </a:r>
            <a:endParaRPr lang="en-US" sz="1170" dirty="0"/>
          </a:p>
        </p:txBody>
      </p:sp>
      <p:sp>
        <p:nvSpPr>
          <p:cNvPr id="64" name="Text 62"/>
          <p:cNvSpPr/>
          <p:nvPr/>
        </p:nvSpPr>
        <p:spPr>
          <a:xfrm>
            <a:off x="9034272" y="4800600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1170" dirty="0"/>
          </a:p>
        </p:txBody>
      </p:sp>
      <p:sp>
        <p:nvSpPr>
          <p:cNvPr id="65" name="Text 63"/>
          <p:cNvSpPr/>
          <p:nvPr/>
        </p:nvSpPr>
        <p:spPr>
          <a:xfrm>
            <a:off x="9034272" y="5010912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7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expires_at</a:t>
            </a:r>
            <a:endParaRPr lang="en-US" sz="1170" dirty="0"/>
          </a:p>
        </p:txBody>
      </p:sp>
      <p:sp>
        <p:nvSpPr>
          <p:cNvPr id="66" name="Shape 64"/>
          <p:cNvSpPr/>
          <p:nvPr/>
        </p:nvSpPr>
        <p:spPr>
          <a:xfrm>
            <a:off x="658368" y="5413248"/>
            <a:ext cx="10844784" cy="749808"/>
          </a:xfrm>
          <a:prstGeom prst="roundRect">
            <a:avLst>
              <a:gd name="adj" fmla="val 9756"/>
            </a:avLst>
          </a:prstGeom>
          <a:solidFill>
            <a:srgbClr val="E9FAF5"/>
          </a:solidFill>
          <a:ln w="12700">
            <a:solidFill>
              <a:srgbClr val="B9E4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96112" y="5504688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Breach хранит записи утечек и хеш-значения идентификаторов.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RequestLog хранит историю проверок и связан с User.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A27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AuthSession, AdminSession, OTPRequest и TelegramChatId обеспечивают вход, сессии и доставку кодов.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2920" y="6492240"/>
            <a:ext cx="11201400" cy="0"/>
          </a:xfrm>
          <a:prstGeom prst="line">
            <a:avLst/>
          </a:prstGeom>
          <a:noFill/>
          <a:ln w="12700">
            <a:solidFill>
              <a:srgbClr val="D8E3E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Алгоритм проверки идентификатора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10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17957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Начало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527048"/>
            <a:ext cx="0" cy="118871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164592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Получить запрос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4708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электронная почта и/или телефон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202996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214884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8541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Проверить входные данные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35000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если оба поля пустые - ошибка 400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" y="253288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31520" y="265176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268833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Нормализовать идентификатор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52928"/>
            <a:ext cx="3749040" cy="1938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 dirty="0" err="1">
                <a:solidFill>
                  <a:srgbClr val="5B697C"/>
                </a:solidFill>
                <a:latin typeface="Arial"/>
              </a:rPr>
              <a:t>эл</a:t>
            </a:r>
            <a:r>
              <a:rPr lang="ru-RU" sz="900" dirty="0" err="1">
                <a:solidFill>
                  <a:srgbClr val="5B697C"/>
                </a:solidFill>
                <a:latin typeface="Arial"/>
              </a:rPr>
              <a:t>ектронная</a:t>
            </a:r>
            <a:r>
              <a:rPr sz="9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5B697C"/>
                </a:solidFill>
                <a:latin typeface="Arial"/>
              </a:rPr>
              <a:t>почта</a:t>
            </a:r>
            <a:r>
              <a:rPr sz="900" b="0" dirty="0">
                <a:solidFill>
                  <a:srgbClr val="5B697C"/>
                </a:solidFill>
                <a:latin typeface="Arial"/>
              </a:rPr>
              <a:t>: </a:t>
            </a:r>
            <a:r>
              <a:rPr sz="900" b="0" dirty="0" err="1">
                <a:solidFill>
                  <a:srgbClr val="5B697C"/>
                </a:solidFill>
                <a:latin typeface="Arial"/>
              </a:rPr>
              <a:t>нижний</a:t>
            </a:r>
            <a:r>
              <a:rPr sz="9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5B697C"/>
                </a:solidFill>
                <a:latin typeface="Arial"/>
              </a:rPr>
              <a:t>регистр</a:t>
            </a:r>
            <a:r>
              <a:rPr sz="900" b="0" dirty="0">
                <a:solidFill>
                  <a:srgbClr val="5B697C"/>
                </a:solidFill>
                <a:latin typeface="Arial"/>
              </a:rPr>
              <a:t>; </a:t>
            </a:r>
            <a:r>
              <a:rPr sz="900" b="0" dirty="0" err="1">
                <a:solidFill>
                  <a:srgbClr val="5B697C"/>
                </a:solidFill>
                <a:latin typeface="Arial"/>
              </a:rPr>
              <a:t>телефон</a:t>
            </a:r>
            <a:r>
              <a:rPr sz="900" b="0" dirty="0">
                <a:solidFill>
                  <a:srgbClr val="5B697C"/>
                </a:solidFill>
                <a:latin typeface="Arial"/>
              </a:rPr>
              <a:t>: </a:t>
            </a:r>
            <a:r>
              <a:rPr sz="900" b="0" dirty="0" err="1">
                <a:solidFill>
                  <a:srgbClr val="5B697C"/>
                </a:solidFill>
                <a:latin typeface="Arial"/>
              </a:rPr>
              <a:t>единый</a:t>
            </a:r>
            <a:r>
              <a:rPr sz="9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5B697C"/>
                </a:solidFill>
                <a:latin typeface="Arial"/>
              </a:rPr>
              <a:t>формат</a:t>
            </a:r>
            <a:endParaRPr sz="900" b="0" dirty="0">
              <a:solidFill>
                <a:srgbClr val="5B697C"/>
              </a:solidFill>
              <a:latin typeface="Arial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303580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315468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319125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Вычислить SHA-256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35584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email_hash и/или phone_hash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353872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31520" y="365760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69417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Найти совпадения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85876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таблица Breach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743200" y="404164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1520" y="416052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419709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Сформировать результат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36168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источники, даты, важность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43200" y="454456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1520" y="466344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470001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Рассчитать риск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86460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количество совпадений + давность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743200" y="504748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1520" y="516636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520293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Сохранить журнал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36752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RequestLog: хеш, тип, число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743200" y="555040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1520" y="566928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80" y="570585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Вернуть ответ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870448"/>
            <a:ext cx="3749040" cy="1280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0">
                <a:solidFill>
                  <a:srgbClr val="5B697C"/>
                </a:solidFill>
                <a:latin typeface="Arial"/>
              </a:rPr>
              <a:t>статус, найденные записи, риск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743200" y="6053328"/>
            <a:ext cx="0" cy="118872"/>
          </a:xfrm>
          <a:prstGeom prst="line">
            <a:avLst/>
          </a:prstGeom>
          <a:ln w="1270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31520" y="6172200"/>
            <a:ext cx="40233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80" y="6208776"/>
            <a:ext cx="3749040" cy="1645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10223A"/>
                </a:solidFill>
                <a:latin typeface="Arial"/>
              </a:rPr>
              <a:t>Конец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0" y="3154680"/>
            <a:ext cx="2971800" cy="9601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23560" y="3310128"/>
            <a:ext cx="2697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rial"/>
              </a:rPr>
              <a:t>Внешний источник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0" y="3584448"/>
            <a:ext cx="260604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rial"/>
              </a:rPr>
              <a:t>HIBP для электронной почты при наличии ключа доступа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754880" y="3657600"/>
            <a:ext cx="731520" cy="192024"/>
          </a:xfrm>
          <a:prstGeom prst="line">
            <a:avLst/>
          </a:prstGeom>
          <a:ln w="1524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>
            <a:cxnSpLocks/>
          </p:cNvCxnSpPr>
          <p:nvPr/>
        </p:nvCxnSpPr>
        <p:spPr>
          <a:xfrm flipH="1">
            <a:off x="4754880" y="4010025"/>
            <a:ext cx="731520" cy="342519"/>
          </a:xfrm>
          <a:prstGeom prst="line">
            <a:avLst/>
          </a:prstGeom>
          <a:ln w="15240">
            <a:solidFill>
              <a:srgbClr val="1F293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5486400" y="4617720"/>
            <a:ext cx="2971800" cy="914400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23560" y="4773168"/>
            <a:ext cx="2697480" cy="20116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300" b="1">
                <a:solidFill>
                  <a:srgbClr val="0F8076"/>
                </a:solidFill>
                <a:latin typeface="Arial"/>
              </a:rPr>
              <a:t>Уведомления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5047488"/>
            <a:ext cx="2606040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>
                <a:solidFill>
                  <a:srgbClr val="1F2937"/>
                </a:solidFill>
                <a:latin typeface="Arial"/>
              </a:rPr>
              <a:t>Telegram или почта при включенных настройках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4754880" y="5074920"/>
            <a:ext cx="731520" cy="283464"/>
          </a:xfrm>
          <a:prstGeom prst="line">
            <a:avLst/>
          </a:prstGeom>
          <a:ln w="15240">
            <a:solidFill>
              <a:srgbClr val="1F2937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641080" y="1828800"/>
            <a:ext cx="29260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15400" y="2084831"/>
            <a:ext cx="24688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10223A"/>
                </a:solidFill>
                <a:latin typeface="Arial"/>
              </a:rPr>
              <a:t>Режимы работы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15400" y="2578608"/>
            <a:ext cx="2560320" cy="116544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20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sz="1200" dirty="0">
                <a:solidFill>
                  <a:srgbClr val="1F2937"/>
                </a:solidFill>
                <a:latin typeface="Arial"/>
              </a:rPr>
              <a:t>А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вторизованная</a:t>
            </a:r>
            <a:r>
              <a:rPr sz="120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проверка</a:t>
            </a:r>
            <a:r>
              <a:rPr sz="1200" dirty="0">
                <a:solidFill>
                  <a:srgbClr val="1F2937"/>
                </a:solidFill>
                <a:latin typeface="Arial"/>
              </a:rPr>
              <a:t> с 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историей</a:t>
            </a:r>
            <a:r>
              <a:rPr sz="12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1F2937"/>
                </a:solidFill>
                <a:latin typeface="Arial"/>
              </a:rPr>
              <a:t>2. </a:t>
            </a:r>
            <a:r>
              <a:rPr lang="ru-RU" sz="1200" dirty="0">
                <a:solidFill>
                  <a:srgbClr val="1F2937"/>
                </a:solidFill>
                <a:latin typeface="Arial"/>
              </a:rPr>
              <a:t>Г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остевая</a:t>
            </a:r>
            <a:r>
              <a:rPr sz="120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быстрая</a:t>
            </a:r>
            <a:r>
              <a:rPr sz="120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проверка</a:t>
            </a:r>
            <a:r>
              <a:rPr sz="12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200" dirty="0">
                <a:solidFill>
                  <a:srgbClr val="1F2937"/>
                </a:solidFill>
                <a:latin typeface="Arial"/>
              </a:rPr>
              <a:t>3. </a:t>
            </a:r>
            <a:r>
              <a:rPr lang="ru-RU" sz="1200" dirty="0">
                <a:solidFill>
                  <a:srgbClr val="1F2937"/>
                </a:solidFill>
                <a:latin typeface="Arial"/>
              </a:rPr>
              <a:t>А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дминистративная</a:t>
            </a:r>
            <a:r>
              <a:rPr sz="120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загрузка</a:t>
            </a:r>
            <a:r>
              <a:rPr sz="1200" dirty="0">
                <a:solidFill>
                  <a:srgbClr val="1F2937"/>
                </a:solidFill>
                <a:latin typeface="Arial"/>
              </a:rPr>
              <a:t> </a:t>
            </a:r>
            <a:r>
              <a:rPr sz="1200" dirty="0" err="1">
                <a:solidFill>
                  <a:srgbClr val="1F2937"/>
                </a:solidFill>
                <a:latin typeface="Arial"/>
              </a:rPr>
              <a:t>данных</a:t>
            </a:r>
            <a:r>
              <a:rPr sz="120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60" name="Shape 2">
            <a:extLst>
              <a:ext uri="{FF2B5EF4-FFF2-40B4-BE49-F238E27FC236}">
                <a16:creationId xmlns:a16="http://schemas.microsoft.com/office/drawing/2014/main" id="{67944E20-7E78-4FAA-B3FD-071DD37277C0}"/>
              </a:ext>
            </a:extLst>
          </p:cNvPr>
          <p:cNvSpPr/>
          <p:nvPr/>
        </p:nvSpPr>
        <p:spPr>
          <a:xfrm>
            <a:off x="0" y="-10668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D7AD4185-2382-4C20-841B-C7A785D2B332}"/>
              </a:ext>
            </a:extLst>
          </p:cNvPr>
          <p:cNvSpPr/>
          <p:nvPr/>
        </p:nvSpPr>
        <p:spPr>
          <a:xfrm>
            <a:off x="4480560" y="-10668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4B5FE78D-9243-4FB8-889B-452A3F52E76A}"/>
              </a:ext>
            </a:extLst>
          </p:cNvPr>
          <p:cNvSpPr/>
          <p:nvPr/>
        </p:nvSpPr>
        <p:spPr>
          <a:xfrm>
            <a:off x="7406640" y="-10668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0A5C9144-CAC1-4887-B18D-3B7AAB8DA517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Оценка условного риска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11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272260"/>
              </p:ext>
            </p:extLst>
          </p:nvPr>
        </p:nvGraphicFramePr>
        <p:xfrm>
          <a:off x="5801627" y="1234440"/>
          <a:ext cx="5536933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6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0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2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Баллы</a:t>
                      </a:r>
                      <a:endParaRPr sz="2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Уровень</a:t>
                      </a:r>
                      <a:endParaRPr sz="2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Смысл</a:t>
                      </a:r>
                      <a:endParaRPr sz="2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нет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совпадений не найдено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1-29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низкий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мало совпадений или устаревшие записи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30-59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средний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есть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совпадения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требующие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внимания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60-84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высокий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несколько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источников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или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свежая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запись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9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85-100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критический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максимальный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уровень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условного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риска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20005" y="5710682"/>
            <a:ext cx="10515600" cy="685800"/>
          </a:xfrm>
          <a:prstGeom prst="roundRect">
            <a:avLst/>
          </a:prstGeom>
          <a:solidFill>
            <a:srgbClr val="FFF4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8605" y="5828538"/>
            <a:ext cx="10058400" cy="51706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dirty="0" err="1">
                <a:solidFill>
                  <a:srgbClr val="1F2937"/>
                </a:solidFill>
                <a:latin typeface="Arial"/>
              </a:rPr>
              <a:t>Важно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: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показатель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риска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не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является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финансовой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или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юридической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оценкой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ущерба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. </a:t>
            </a:r>
            <a:endParaRPr lang="ru-RU" sz="1500" b="0" dirty="0">
              <a:solidFill>
                <a:srgbClr val="1F2937"/>
              </a:solidFill>
              <a:latin typeface="Arial"/>
            </a:endParaRPr>
          </a:p>
          <a:p>
            <a:pPr algn="ctr"/>
            <a:r>
              <a:rPr sz="1500" b="0" dirty="0" err="1">
                <a:solidFill>
                  <a:srgbClr val="1F2937"/>
                </a:solidFill>
                <a:latin typeface="Arial"/>
              </a:rPr>
              <a:t>Он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используется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как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пользовательская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rial"/>
              </a:rPr>
              <a:t>подсказка</a:t>
            </a:r>
            <a:r>
              <a:rPr sz="15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600A3025-B533-4C4B-A5CA-87E293C36EB5}"/>
              </a:ext>
            </a:extLst>
          </p:cNvPr>
          <p:cNvSpPr/>
          <p:nvPr/>
        </p:nvSpPr>
        <p:spPr>
          <a:xfrm>
            <a:off x="0" y="0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421F02A-7C3B-48F9-800E-EB514832BF7D}"/>
              </a:ext>
            </a:extLst>
          </p:cNvPr>
          <p:cNvSpPr/>
          <p:nvPr/>
        </p:nvSpPr>
        <p:spPr>
          <a:xfrm>
            <a:off x="4480560" y="0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76F5091D-5628-4BB9-8813-9693A3A6BDA9}"/>
              </a:ext>
            </a:extLst>
          </p:cNvPr>
          <p:cNvSpPr/>
          <p:nvPr/>
        </p:nvSpPr>
        <p:spPr>
          <a:xfrm>
            <a:off x="7406640" y="0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C8C57063-B6F6-4BB3-BE2B-311032075743}"/>
              </a:ext>
            </a:extLst>
          </p:cNvPr>
          <p:cNvSpPr/>
          <p:nvPr/>
        </p:nvSpPr>
        <p:spPr>
          <a:xfrm>
            <a:off x="720005" y="96247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40033E80-353F-4F66-9FEE-5EF6F2A1A1D8}"/>
              </a:ext>
            </a:extLst>
          </p:cNvPr>
          <p:cNvSpPr/>
          <p:nvPr/>
        </p:nvSpPr>
        <p:spPr>
          <a:xfrm>
            <a:off x="594360" y="1143000"/>
            <a:ext cx="4892040" cy="4160520"/>
          </a:xfrm>
          <a:prstGeom prst="roundRect">
            <a:avLst/>
          </a:prstGeom>
          <a:solidFill>
            <a:srgbClr val="E8F1FC"/>
          </a:solidFill>
          <a:ln w="12700">
            <a:solidFill>
              <a:srgbClr val="BE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CE73D8-4CDE-4E90-8ED0-2A4BAF87A340}"/>
              </a:ext>
            </a:extLst>
          </p:cNvPr>
          <p:cNvSpPr txBox="1"/>
          <p:nvPr/>
        </p:nvSpPr>
        <p:spPr>
          <a:xfrm>
            <a:off x="868680" y="13258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rial"/>
              </a:rPr>
              <a:t>Расчет показателя риска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E5C386-EEAE-4481-817C-7D1845FBE405}"/>
              </a:ext>
            </a:extLst>
          </p:cNvPr>
          <p:cNvSpPr txBox="1"/>
          <p:nvPr/>
        </p:nvSpPr>
        <p:spPr>
          <a:xfrm>
            <a:off x="868680" y="1755648"/>
            <a:ext cx="45415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41F30"/>
                </a:solidFill>
                <a:latin typeface="Arial"/>
              </a:rPr>
              <a:t>n —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число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найденных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совпадений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шт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.
age —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давность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самой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новой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записи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дней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.
base = min(n × 25, 100)
25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баллов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начисляется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за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каждое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совпадение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;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максимум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— 100.
penalty = 20,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если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age &gt; 365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дней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;
penalty = 10,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если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180 &lt; age ≤ 365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дней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;
penalty = 0,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если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age ≤ 180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дней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.
score = max(base − penalty, 0)
score —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итоговая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оценка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баллы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от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0 </a:t>
            </a:r>
            <a:r>
              <a:rPr sz="1600" b="0" dirty="0" err="1">
                <a:solidFill>
                  <a:srgbClr val="141F30"/>
                </a:solidFill>
                <a:latin typeface="Arial"/>
              </a:rPr>
              <a:t>до</a:t>
            </a:r>
            <a:r>
              <a:rPr sz="1600" b="0" dirty="0">
                <a:solidFill>
                  <a:srgbClr val="141F30"/>
                </a:solidFill>
                <a:latin typeface="Arial"/>
              </a:rPr>
              <a:t> 100.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Серверный интерфейс и программные модули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12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4805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10223A"/>
                </a:solidFill>
                <a:latin typeface="Arial"/>
              </a:rPr>
              <a:t>Ключевые маршруты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21488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POST /check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5625" y="2048281"/>
            <a:ext cx="2636521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5B697C"/>
                </a:solidFill>
                <a:latin typeface="Arial"/>
              </a:rPr>
              <a:t>авторизованная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проверка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21488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dirty="0">
                <a:solidFill>
                  <a:srgbClr val="2563EB"/>
                </a:solidFill>
                <a:latin typeface="Arial"/>
              </a:rPr>
              <a:t>GET /check/demo-identifiers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542707"/>
            <a:ext cx="22860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5B697C"/>
                </a:solidFill>
                <a:latin typeface="Arial"/>
              </a:rPr>
              <a:t>демо-идентификаторы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3177540"/>
            <a:ext cx="21488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dirty="0">
                <a:solidFill>
                  <a:srgbClr val="2563EB"/>
                </a:solidFill>
                <a:latin typeface="Arial"/>
              </a:rPr>
              <a:t>/auth/*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5658" y="3139224"/>
            <a:ext cx="27432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5B697C"/>
                </a:solidFill>
                <a:latin typeface="Arial"/>
              </a:rPr>
              <a:t>вход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по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одноразовому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коду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21488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dirty="0">
                <a:solidFill>
                  <a:srgbClr val="2563EB"/>
                </a:solidFill>
                <a:latin typeface="Arial"/>
              </a:rPr>
              <a:t>GET /history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9978" y="3548799"/>
            <a:ext cx="228600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5B697C"/>
                </a:solidFill>
                <a:latin typeface="Arial"/>
              </a:rPr>
              <a:t>история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проверок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21488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/admin/*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937796"/>
            <a:ext cx="2286000" cy="54784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5B697C"/>
                </a:solidFill>
                <a:latin typeface="Arial"/>
              </a:rPr>
              <a:t>загрузка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данных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статистика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" y="4572000"/>
            <a:ext cx="214884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Arial"/>
              </a:rPr>
              <a:t>PATCH /user/notifications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572000"/>
            <a:ext cx="2486026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5B697C"/>
                </a:solidFill>
                <a:latin typeface="Arial"/>
              </a:rPr>
              <a:t>настройки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5B697C"/>
                </a:solidFill>
                <a:latin typeface="Arial"/>
              </a:rPr>
              <a:t>уведомлений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309360" y="1280160"/>
            <a:ext cx="5166360" cy="4297680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1554480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0F8076"/>
                </a:solidFill>
                <a:latin typeface="Arial"/>
              </a:rPr>
              <a:t>Модули серверной части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4572000" cy="321729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dirty="0">
                <a:solidFill>
                  <a:srgbClr val="1F2937"/>
                </a:solidFill>
                <a:latin typeface="Arial"/>
              </a:rPr>
              <a:t>• routes/check.py — </a:t>
            </a:r>
            <a:r>
              <a:rPr dirty="0" err="1">
                <a:solidFill>
                  <a:srgbClr val="1F2937"/>
                </a:solidFill>
                <a:latin typeface="Arial"/>
              </a:rPr>
              <a:t>проверка</a:t>
            </a:r>
            <a:r>
              <a:rPr dirty="0">
                <a:solidFill>
                  <a:srgbClr val="1F2937"/>
                </a:solidFill>
                <a:latin typeface="Arial"/>
              </a:rPr>
              <a:t> и </a:t>
            </a:r>
            <a:r>
              <a:rPr dirty="0" err="1">
                <a:solidFill>
                  <a:srgbClr val="1F2937"/>
                </a:solidFill>
                <a:latin typeface="Arial"/>
              </a:rPr>
              <a:t>журнал</a:t>
            </a:r>
            <a:r>
              <a:rPr dirty="0">
                <a:solidFill>
                  <a:srgbClr val="1F2937"/>
                </a:solidFill>
                <a:latin typeface="Arial"/>
              </a:rPr>
              <a:t> </a:t>
            </a:r>
            <a:r>
              <a:rPr dirty="0" err="1">
                <a:solidFill>
                  <a:srgbClr val="1F2937"/>
                </a:solidFill>
                <a:latin typeface="Arial"/>
              </a:rPr>
              <a:t>RequestLog</a:t>
            </a:r>
            <a:r>
              <a:rPr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dirty="0">
                <a:solidFill>
                  <a:srgbClr val="1F2937"/>
                </a:solidFill>
                <a:latin typeface="Arial"/>
              </a:rPr>
              <a:t>• utils/hashing.py — SHA-256 </a:t>
            </a:r>
            <a:r>
              <a:rPr dirty="0" err="1">
                <a:solidFill>
                  <a:srgbClr val="1F2937"/>
                </a:solidFill>
                <a:latin typeface="Arial"/>
              </a:rPr>
              <a:t>для</a:t>
            </a:r>
            <a:r>
              <a:rPr dirty="0">
                <a:solidFill>
                  <a:srgbClr val="1F2937"/>
                </a:solidFill>
                <a:latin typeface="Arial"/>
              </a:rPr>
              <a:t> </a:t>
            </a:r>
            <a:r>
              <a:rPr dirty="0" err="1">
                <a:solidFill>
                  <a:srgbClr val="1F2937"/>
                </a:solidFill>
                <a:latin typeface="Arial"/>
              </a:rPr>
              <a:t>электронной</a:t>
            </a:r>
            <a:r>
              <a:rPr dirty="0">
                <a:solidFill>
                  <a:srgbClr val="1F2937"/>
                </a:solidFill>
                <a:latin typeface="Arial"/>
              </a:rPr>
              <a:t> </a:t>
            </a:r>
            <a:r>
              <a:rPr dirty="0" err="1">
                <a:solidFill>
                  <a:srgbClr val="1F2937"/>
                </a:solidFill>
                <a:latin typeface="Arial"/>
              </a:rPr>
              <a:t>почты</a:t>
            </a:r>
            <a:r>
              <a:rPr dirty="0">
                <a:solidFill>
                  <a:srgbClr val="1F2937"/>
                </a:solidFill>
                <a:latin typeface="Arial"/>
              </a:rPr>
              <a:t>/</a:t>
            </a:r>
            <a:r>
              <a:rPr dirty="0" err="1">
                <a:solidFill>
                  <a:srgbClr val="1F2937"/>
                </a:solidFill>
                <a:latin typeface="Arial"/>
              </a:rPr>
              <a:t>телефона</a:t>
            </a:r>
            <a:r>
              <a:rPr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dirty="0">
                <a:solidFill>
                  <a:srgbClr val="1F2937"/>
                </a:solidFill>
                <a:latin typeface="Arial"/>
              </a:rPr>
              <a:t>• utils/risk.py — </a:t>
            </a:r>
            <a:r>
              <a:rPr dirty="0" err="1">
                <a:solidFill>
                  <a:srgbClr val="1F2937"/>
                </a:solidFill>
                <a:latin typeface="Arial"/>
              </a:rPr>
              <a:t>условная</a:t>
            </a:r>
            <a:r>
              <a:rPr dirty="0">
                <a:solidFill>
                  <a:srgbClr val="1F2937"/>
                </a:solidFill>
                <a:latin typeface="Arial"/>
              </a:rPr>
              <a:t> </a:t>
            </a:r>
            <a:r>
              <a:rPr dirty="0" err="1">
                <a:solidFill>
                  <a:srgbClr val="1F2937"/>
                </a:solidFill>
                <a:latin typeface="Arial"/>
              </a:rPr>
              <a:t>оценка</a:t>
            </a:r>
            <a:r>
              <a:rPr dirty="0">
                <a:solidFill>
                  <a:srgbClr val="1F2937"/>
                </a:solidFill>
                <a:latin typeface="Arial"/>
              </a:rPr>
              <a:t> </a:t>
            </a:r>
            <a:r>
              <a:rPr dirty="0" err="1">
                <a:solidFill>
                  <a:srgbClr val="1F2937"/>
                </a:solidFill>
                <a:latin typeface="Arial"/>
              </a:rPr>
              <a:t>риска</a:t>
            </a:r>
            <a:r>
              <a:rPr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dirty="0">
                <a:solidFill>
                  <a:srgbClr val="1F2937"/>
                </a:solidFill>
                <a:latin typeface="Arial"/>
              </a:rPr>
              <a:t>• routes/admin.py — </a:t>
            </a:r>
            <a:r>
              <a:rPr dirty="0" err="1">
                <a:solidFill>
                  <a:srgbClr val="1F2937"/>
                </a:solidFill>
                <a:latin typeface="Arial"/>
              </a:rPr>
              <a:t>статистика</a:t>
            </a:r>
            <a:r>
              <a:rPr dirty="0">
                <a:solidFill>
                  <a:srgbClr val="1F2937"/>
                </a:solidFill>
                <a:latin typeface="Arial"/>
              </a:rPr>
              <a:t>, </a:t>
            </a:r>
            <a:r>
              <a:rPr dirty="0" err="1">
                <a:solidFill>
                  <a:srgbClr val="1F2937"/>
                </a:solidFill>
                <a:latin typeface="Arial"/>
              </a:rPr>
              <a:t>изменение</a:t>
            </a:r>
            <a:r>
              <a:rPr dirty="0">
                <a:solidFill>
                  <a:srgbClr val="1F2937"/>
                </a:solidFill>
                <a:latin typeface="Arial"/>
              </a:rPr>
              <a:t> </a:t>
            </a:r>
            <a:r>
              <a:rPr dirty="0" err="1">
                <a:solidFill>
                  <a:srgbClr val="1F2937"/>
                </a:solidFill>
                <a:latin typeface="Arial"/>
              </a:rPr>
              <a:t>записей</a:t>
            </a:r>
            <a:r>
              <a:rPr dirty="0">
                <a:solidFill>
                  <a:srgbClr val="1F2937"/>
                </a:solidFill>
                <a:latin typeface="Arial"/>
              </a:rPr>
              <a:t> и </a:t>
            </a:r>
            <a:r>
              <a:rPr dirty="0" err="1">
                <a:solidFill>
                  <a:srgbClr val="1F2937"/>
                </a:solidFill>
                <a:latin typeface="Arial"/>
              </a:rPr>
              <a:t>загрузка</a:t>
            </a:r>
            <a:r>
              <a:rPr dirty="0">
                <a:solidFill>
                  <a:srgbClr val="1F2937"/>
                </a:solidFill>
                <a:latin typeface="Arial"/>
              </a:rPr>
              <a:t> CSV/JSON;</a:t>
            </a:r>
          </a:p>
          <a:p>
            <a:pPr>
              <a:spcAft>
                <a:spcPts val="800"/>
              </a:spcAft>
            </a:pPr>
            <a:r>
              <a:rPr dirty="0">
                <a:solidFill>
                  <a:srgbClr val="1F2937"/>
                </a:solidFill>
                <a:latin typeface="Arial"/>
              </a:rPr>
              <a:t>• services/telegram_sender.py, services/email_sender.py — </a:t>
            </a:r>
            <a:r>
              <a:rPr dirty="0" err="1">
                <a:solidFill>
                  <a:srgbClr val="1F2937"/>
                </a:solidFill>
                <a:latin typeface="Arial"/>
              </a:rPr>
              <a:t>уведомления</a:t>
            </a:r>
            <a:r>
              <a:rPr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6083BE48-3ADE-49AC-86F7-50F503D390E9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1118853-38E5-43BA-9511-C0E9694813E7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401765B9-409E-4D79-979E-31B962541E11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D15E16D6-B6FD-4F72-9F4F-59114564813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cxnSp>
        <p:nvCxnSpPr>
          <p:cNvPr id="28" name="Connector 50">
            <a:extLst>
              <a:ext uri="{FF2B5EF4-FFF2-40B4-BE49-F238E27FC236}">
                <a16:creationId xmlns:a16="http://schemas.microsoft.com/office/drawing/2014/main" id="{BDD982E5-F940-4922-AAB4-4CF89490352B}"/>
              </a:ext>
            </a:extLst>
          </p:cNvPr>
          <p:cNvCxnSpPr>
            <a:cxnSpLocks/>
          </p:cNvCxnSpPr>
          <p:nvPr/>
        </p:nvCxnSpPr>
        <p:spPr>
          <a:xfrm>
            <a:off x="2290813" y="2204185"/>
            <a:ext cx="731520" cy="0"/>
          </a:xfrm>
          <a:prstGeom prst="line">
            <a:avLst/>
          </a:prstGeom>
          <a:ln w="15240">
            <a:solidFill>
              <a:srgbClr val="1F293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50">
            <a:extLst>
              <a:ext uri="{FF2B5EF4-FFF2-40B4-BE49-F238E27FC236}">
                <a16:creationId xmlns:a16="http://schemas.microsoft.com/office/drawing/2014/main" id="{E4866393-155F-4BCB-925E-08EDC298AF4B}"/>
              </a:ext>
            </a:extLst>
          </p:cNvPr>
          <p:cNvCxnSpPr>
            <a:cxnSpLocks/>
          </p:cNvCxnSpPr>
          <p:nvPr/>
        </p:nvCxnSpPr>
        <p:spPr>
          <a:xfrm>
            <a:off x="2668605" y="2694538"/>
            <a:ext cx="353728" cy="0"/>
          </a:xfrm>
          <a:prstGeom prst="line">
            <a:avLst/>
          </a:prstGeom>
          <a:ln w="15240">
            <a:solidFill>
              <a:srgbClr val="1F293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50">
            <a:extLst>
              <a:ext uri="{FF2B5EF4-FFF2-40B4-BE49-F238E27FC236}">
                <a16:creationId xmlns:a16="http://schemas.microsoft.com/office/drawing/2014/main" id="{01C027C0-860D-4236-BF96-84FC1314B83B}"/>
              </a:ext>
            </a:extLst>
          </p:cNvPr>
          <p:cNvCxnSpPr>
            <a:cxnSpLocks/>
          </p:cNvCxnSpPr>
          <p:nvPr/>
        </p:nvCxnSpPr>
        <p:spPr>
          <a:xfrm>
            <a:off x="3069256" y="4718516"/>
            <a:ext cx="176864" cy="0"/>
          </a:xfrm>
          <a:prstGeom prst="line">
            <a:avLst/>
          </a:prstGeom>
          <a:ln w="15240">
            <a:solidFill>
              <a:srgbClr val="1F293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50">
            <a:extLst>
              <a:ext uri="{FF2B5EF4-FFF2-40B4-BE49-F238E27FC236}">
                <a16:creationId xmlns:a16="http://schemas.microsoft.com/office/drawing/2014/main" id="{2CC65DDA-B9DF-4278-BBB0-E81B5446620A}"/>
              </a:ext>
            </a:extLst>
          </p:cNvPr>
          <p:cNvCxnSpPr>
            <a:cxnSpLocks/>
          </p:cNvCxnSpPr>
          <p:nvPr/>
        </p:nvCxnSpPr>
        <p:spPr>
          <a:xfrm>
            <a:off x="2077453" y="3290035"/>
            <a:ext cx="731520" cy="0"/>
          </a:xfrm>
          <a:prstGeom prst="line">
            <a:avLst/>
          </a:prstGeom>
          <a:ln w="15240">
            <a:solidFill>
              <a:srgbClr val="1F293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50">
            <a:extLst>
              <a:ext uri="{FF2B5EF4-FFF2-40B4-BE49-F238E27FC236}">
                <a16:creationId xmlns:a16="http://schemas.microsoft.com/office/drawing/2014/main" id="{8B2DD16B-89B1-4D84-85B4-F8000A372FB6}"/>
              </a:ext>
            </a:extLst>
          </p:cNvPr>
          <p:cNvCxnSpPr>
            <a:cxnSpLocks/>
          </p:cNvCxnSpPr>
          <p:nvPr/>
        </p:nvCxnSpPr>
        <p:spPr>
          <a:xfrm>
            <a:off x="2224138" y="3699610"/>
            <a:ext cx="731520" cy="0"/>
          </a:xfrm>
          <a:prstGeom prst="line">
            <a:avLst/>
          </a:prstGeom>
          <a:ln w="15240">
            <a:solidFill>
              <a:srgbClr val="1F293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50">
            <a:extLst>
              <a:ext uri="{FF2B5EF4-FFF2-40B4-BE49-F238E27FC236}">
                <a16:creationId xmlns:a16="http://schemas.microsoft.com/office/drawing/2014/main" id="{EE988DE3-4736-4B21-9ED8-E985FF29D80D}"/>
              </a:ext>
            </a:extLst>
          </p:cNvPr>
          <p:cNvCxnSpPr>
            <a:cxnSpLocks/>
          </p:cNvCxnSpPr>
          <p:nvPr/>
        </p:nvCxnSpPr>
        <p:spPr>
          <a:xfrm>
            <a:off x="2077453" y="4213960"/>
            <a:ext cx="731520" cy="0"/>
          </a:xfrm>
          <a:prstGeom prst="line">
            <a:avLst/>
          </a:prstGeom>
          <a:ln w="15240">
            <a:solidFill>
              <a:srgbClr val="1F293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Пример работы: публичная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13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498348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 dirty="0" err="1">
                <a:latin typeface="Arial"/>
              </a:rPr>
              <a:t>Страница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проверки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электронной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почты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или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телефона</a:t>
            </a:r>
            <a:endParaRPr sz="1400" b="0" dirty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6560" y="1234440"/>
            <a:ext cx="4572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0223A"/>
                </a:solidFill>
                <a:latin typeface="Arial"/>
              </a:rPr>
              <a:t>Что демонстрируется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737360"/>
            <a:ext cx="4480560" cy="228370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sz="1800" dirty="0">
                <a:solidFill>
                  <a:srgbClr val="1F2937"/>
                </a:solidFill>
                <a:latin typeface="Arial"/>
              </a:rPr>
              <a:t>Ф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орма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ввода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для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пользователя</a:t>
            </a:r>
            <a:r>
              <a:rPr sz="18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2. </a:t>
            </a:r>
            <a:r>
              <a:rPr lang="ru-RU" sz="1800" dirty="0">
                <a:solidFill>
                  <a:srgbClr val="1F2937"/>
                </a:solidFill>
                <a:latin typeface="Arial"/>
              </a:rPr>
              <a:t>П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роверка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через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веб-интерфейс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без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ручного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обращения</a:t>
            </a:r>
            <a:r>
              <a:rPr sz="1800" dirty="0">
                <a:solidFill>
                  <a:srgbClr val="1F2937"/>
                </a:solidFill>
                <a:latin typeface="Arial"/>
              </a:rPr>
              <a:t> к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базе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данных</a:t>
            </a:r>
            <a:r>
              <a:rPr sz="18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3. </a:t>
            </a:r>
            <a:r>
              <a:rPr lang="ru-RU" sz="1800" dirty="0">
                <a:solidFill>
                  <a:srgbClr val="1F2937"/>
                </a:solidFill>
                <a:latin typeface="Arial"/>
              </a:rPr>
              <a:t>Е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диный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сценарий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для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электронной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почты</a:t>
            </a:r>
            <a:r>
              <a:rPr sz="1800" dirty="0">
                <a:solidFill>
                  <a:srgbClr val="1F2937"/>
                </a:solidFill>
                <a:latin typeface="Arial"/>
              </a:rPr>
              <a:t> и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телефона</a:t>
            </a:r>
            <a:r>
              <a:rPr sz="18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4. </a:t>
            </a:r>
            <a:r>
              <a:rPr lang="ru-RU" sz="1800" dirty="0">
                <a:solidFill>
                  <a:srgbClr val="1F2937"/>
                </a:solidFill>
                <a:latin typeface="Arial"/>
              </a:rPr>
              <a:t>П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онятный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результат</a:t>
            </a:r>
            <a:r>
              <a:rPr sz="1800" dirty="0">
                <a:solidFill>
                  <a:srgbClr val="1F2937"/>
                </a:solidFill>
                <a:latin typeface="Arial"/>
              </a:rPr>
              <a:t> и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дальнейшие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действия</a:t>
            </a:r>
            <a:r>
              <a:rPr sz="180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709160"/>
            <a:ext cx="4480560" cy="106299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4800600"/>
            <a:ext cx="4023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1F2937"/>
                </a:solidFill>
                <a:latin typeface="Arial"/>
              </a:rPr>
              <a:t>Экран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подтверждает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что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реализованы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серверная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часть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, и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пользовательский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интерфейс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сервиса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1BF1B9A-222B-4357-8693-5106124E30EE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A4DADDD8-33A7-416C-98D6-775D2C97CE5B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478AEF2-E5F0-4F9F-AF4A-055F89FB83A8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4A29F39C-63C2-4F1F-BF82-F5BCFE4CB1C2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04EB27-9431-4E1D-8CCD-338B60CEB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53" y="1337310"/>
            <a:ext cx="6377090" cy="35890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Пример работы: результат проверки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14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143000"/>
            <a:ext cx="51663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0" dirty="0" err="1">
                <a:latin typeface="Arial"/>
              </a:rPr>
              <a:t>Совпадений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нет</a:t>
            </a:r>
            <a:endParaRPr sz="1800" b="0" dirty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143000"/>
            <a:ext cx="516636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4663440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0" dirty="0" err="1">
                <a:latin typeface="Arial"/>
              </a:rPr>
              <a:t>Совпадения</a:t>
            </a:r>
            <a:r>
              <a:rPr sz="1800" b="0" dirty="0">
                <a:latin typeface="Arial"/>
              </a:rPr>
              <a:t> </a:t>
            </a:r>
            <a:r>
              <a:rPr sz="1800" b="0" dirty="0" err="1">
                <a:latin typeface="Arial"/>
              </a:rPr>
              <a:t>обнаружены</a:t>
            </a:r>
            <a:endParaRPr sz="1800" b="0" dirty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85800" y="5166360"/>
            <a:ext cx="107442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5239512"/>
            <a:ext cx="102870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 err="1">
                <a:solidFill>
                  <a:srgbClr val="1F2937"/>
                </a:solidFill>
                <a:latin typeface="Arial"/>
              </a:rPr>
              <a:t>Пользователь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получает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статус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проверки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количество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совпадений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список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источников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показатель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риска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рекомендации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по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дальнейшим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действиям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7B9EF3D9-7A66-458C-865D-D9795DBDA606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E30F65F-E720-4B3C-9EED-3FDE7D8D2F54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4DB0360A-4ED4-4218-81E2-680BD4E869B1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CF5DA70-9DCD-482B-8E68-9EF6CC73F3E0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39667C5-47EB-4968-8298-63C95A639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33317"/>
            <a:ext cx="4800600" cy="30026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28E8152-61C0-41E6-B0C9-73232663D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51558"/>
            <a:ext cx="4800599" cy="29841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Детализация найденной утечки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15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64008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576072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 err="1">
                <a:latin typeface="Arial"/>
              </a:rPr>
              <a:t>Подробности</a:t>
            </a:r>
            <a:r>
              <a:rPr sz="1600" b="0" dirty="0">
                <a:latin typeface="Arial"/>
              </a:rPr>
              <a:t> </a:t>
            </a:r>
            <a:r>
              <a:rPr sz="1600" b="0" dirty="0" err="1">
                <a:latin typeface="Arial"/>
              </a:rPr>
              <a:t>утечки</a:t>
            </a:r>
            <a:r>
              <a:rPr sz="1600" b="0" dirty="0">
                <a:latin typeface="Arial"/>
              </a:rPr>
              <a:t> и </a:t>
            </a:r>
            <a:r>
              <a:rPr sz="1600" b="0" dirty="0" err="1">
                <a:latin typeface="Arial"/>
              </a:rPr>
              <a:t>рекомендации</a:t>
            </a:r>
            <a:endParaRPr sz="1600" b="0" dirty="0"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0" y="1280160"/>
            <a:ext cx="43891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10223A"/>
                </a:solidFill>
                <a:latin typeface="Arial"/>
              </a:rPr>
              <a:t>Состав результата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828800"/>
            <a:ext cx="4389120" cy="145270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sz="1800" dirty="0">
                <a:solidFill>
                  <a:srgbClr val="1F2937"/>
                </a:solidFill>
                <a:latin typeface="Arial"/>
              </a:rPr>
              <a:t>И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сточник</a:t>
            </a:r>
            <a:r>
              <a:rPr sz="1800" dirty="0">
                <a:solidFill>
                  <a:srgbClr val="1F2937"/>
                </a:solidFill>
                <a:latin typeface="Arial"/>
              </a:rPr>
              <a:t> и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дата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обнаружения</a:t>
            </a:r>
            <a:r>
              <a:rPr sz="18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2. </a:t>
            </a:r>
            <a:r>
              <a:rPr lang="ru-RU" dirty="0">
                <a:solidFill>
                  <a:srgbClr val="1F2937"/>
                </a:solidFill>
                <a:latin typeface="Arial"/>
              </a:rPr>
              <a:t>Т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ип</a:t>
            </a:r>
            <a:r>
              <a:rPr sz="1800" dirty="0">
                <a:solidFill>
                  <a:srgbClr val="1F2937"/>
                </a:solidFill>
                <a:latin typeface="Arial"/>
              </a:rPr>
              <a:t> и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уровень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серьезности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записи</a:t>
            </a:r>
            <a:r>
              <a:rPr sz="18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3. </a:t>
            </a:r>
            <a:r>
              <a:rPr lang="ru-RU" sz="1800" dirty="0">
                <a:solidFill>
                  <a:srgbClr val="1F2937"/>
                </a:solidFill>
                <a:latin typeface="Arial"/>
              </a:rPr>
              <a:t>К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онтекстные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рекомендации</a:t>
            </a:r>
            <a:r>
              <a:rPr sz="18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800" dirty="0">
                <a:solidFill>
                  <a:srgbClr val="1F2937"/>
                </a:solidFill>
                <a:latin typeface="Arial"/>
              </a:rPr>
              <a:t>4. </a:t>
            </a:r>
            <a:r>
              <a:rPr lang="ru-RU" sz="1800" dirty="0">
                <a:solidFill>
                  <a:srgbClr val="1F2937"/>
                </a:solidFill>
                <a:latin typeface="Arial"/>
              </a:rPr>
              <a:t>П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ояснение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ограничений</a:t>
            </a:r>
            <a:r>
              <a:rPr sz="1800" dirty="0">
                <a:solidFill>
                  <a:srgbClr val="1F2937"/>
                </a:solidFill>
                <a:latin typeface="Arial"/>
              </a:rPr>
              <a:t> </a:t>
            </a:r>
            <a:r>
              <a:rPr sz="1800" dirty="0" err="1">
                <a:solidFill>
                  <a:srgbClr val="1F2937"/>
                </a:solidFill>
                <a:latin typeface="Arial"/>
              </a:rPr>
              <a:t>результата</a:t>
            </a:r>
            <a:r>
              <a:rPr sz="180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343400"/>
            <a:ext cx="4206240" cy="1066800"/>
          </a:xfrm>
          <a:prstGeom prst="roundRect">
            <a:avLst/>
          </a:prstGeom>
          <a:solidFill>
            <a:srgbClr val="FFF4E7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4544568"/>
            <a:ext cx="3749039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Arial"/>
              </a:rPr>
              <a:t>Важно: идентификатор найден в источнике утечки. Сервис не утверждает, что пользователь точно пострадал.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3056C885-9F4F-4D41-9966-E6C3B08C5D65}"/>
              </a:ext>
            </a:extLst>
          </p:cNvPr>
          <p:cNvSpPr/>
          <p:nvPr/>
        </p:nvSpPr>
        <p:spPr>
          <a:xfrm>
            <a:off x="3048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7087122A-E2BC-4726-87BE-25A8BC2E8B3E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8175AE01-D3AE-4BC5-97F7-BA2D241CD314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0E418129-E89C-4018-AD7E-78F1201E82E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48278F-F2C3-46C0-9DD4-39A6E77C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600200"/>
            <a:ext cx="6143624" cy="346544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Административная панель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16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188720"/>
            <a:ext cx="6492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371600"/>
            <a:ext cx="6126480" cy="37618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715000"/>
            <a:ext cx="612648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>
                <a:solidFill>
                  <a:srgbClr val="5B697C"/>
                </a:solidFill>
                <a:latin typeface="Arial"/>
              </a:rPr>
              <a:t>Статистика, таблицы и управление записями утечек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1325880"/>
            <a:ext cx="3931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dirty="0" err="1">
                <a:solidFill>
                  <a:srgbClr val="10223A"/>
                </a:solidFill>
                <a:latin typeface="Arial"/>
              </a:rPr>
              <a:t>Функции</a:t>
            </a:r>
            <a:r>
              <a:rPr sz="2400" b="1" dirty="0">
                <a:solidFill>
                  <a:srgbClr val="10223A"/>
                </a:solidFill>
                <a:latin typeface="Arial"/>
              </a:rPr>
              <a:t> </a:t>
            </a:r>
            <a:r>
              <a:rPr sz="2400" b="1" dirty="0" err="1">
                <a:solidFill>
                  <a:srgbClr val="10223A"/>
                </a:solidFill>
                <a:latin typeface="Arial"/>
              </a:rPr>
              <a:t>администратора</a:t>
            </a:r>
            <a:endParaRPr sz="2400" b="1" dirty="0">
              <a:solidFill>
                <a:srgbClr val="10223A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43800" y="2298763"/>
            <a:ext cx="4023360" cy="252479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0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sz="1500" dirty="0">
                <a:solidFill>
                  <a:srgbClr val="1F2937"/>
                </a:solidFill>
                <a:latin typeface="Arial"/>
              </a:rPr>
              <a:t>С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татистика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пользователей</a:t>
            </a:r>
            <a:r>
              <a:rPr sz="150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входов</a:t>
            </a:r>
            <a:r>
              <a:rPr sz="1500" dirty="0">
                <a:solidFill>
                  <a:srgbClr val="1F2937"/>
                </a:solidFill>
                <a:latin typeface="Arial"/>
              </a:rPr>
              <a:t> и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проверок</a:t>
            </a:r>
            <a:r>
              <a:rPr sz="15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1F2937"/>
                </a:solidFill>
                <a:latin typeface="Arial"/>
              </a:rPr>
              <a:t>2. </a:t>
            </a:r>
            <a:r>
              <a:rPr lang="ru-RU" sz="1500" dirty="0">
                <a:solidFill>
                  <a:srgbClr val="1F2937"/>
                </a:solidFill>
                <a:latin typeface="Arial"/>
              </a:rPr>
              <a:t>Д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обавление</a:t>
            </a:r>
            <a:r>
              <a:rPr sz="1500" dirty="0">
                <a:solidFill>
                  <a:srgbClr val="1F2937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изменение</a:t>
            </a:r>
            <a:r>
              <a:rPr sz="1500" dirty="0">
                <a:solidFill>
                  <a:srgbClr val="1F2937"/>
                </a:solidFill>
                <a:latin typeface="Arial"/>
              </a:rPr>
              <a:t> и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удаление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записей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таблицы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утечек</a:t>
            </a:r>
            <a:r>
              <a:rPr sz="15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1F2937"/>
                </a:solidFill>
                <a:latin typeface="Arial"/>
              </a:rPr>
              <a:t>3. </a:t>
            </a:r>
            <a:r>
              <a:rPr lang="ru-RU" sz="1500" dirty="0">
                <a:solidFill>
                  <a:srgbClr val="1F2937"/>
                </a:solidFill>
                <a:latin typeface="Arial"/>
              </a:rPr>
              <a:t>З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агрузка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файлов</a:t>
            </a:r>
            <a:r>
              <a:rPr sz="1500" dirty="0">
                <a:solidFill>
                  <a:srgbClr val="1F2937"/>
                </a:solidFill>
                <a:latin typeface="Arial"/>
              </a:rPr>
              <a:t> CSV/JSON с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записями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утечек</a:t>
            </a:r>
            <a:r>
              <a:rPr sz="15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1F2937"/>
                </a:solidFill>
                <a:latin typeface="Arial"/>
              </a:rPr>
              <a:t>4. </a:t>
            </a:r>
            <a:r>
              <a:rPr lang="ru-RU" sz="1500" dirty="0">
                <a:solidFill>
                  <a:srgbClr val="1F2937"/>
                </a:solidFill>
                <a:latin typeface="Arial"/>
              </a:rPr>
              <a:t>П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росмотр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схемы</a:t>
            </a:r>
            <a:r>
              <a:rPr sz="1500" dirty="0">
                <a:solidFill>
                  <a:srgbClr val="1F2937"/>
                </a:solidFill>
                <a:latin typeface="Arial"/>
              </a:rPr>
              <a:t> БД и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числа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записей</a:t>
            </a:r>
            <a:r>
              <a:rPr sz="1500" dirty="0">
                <a:solidFill>
                  <a:srgbClr val="1F2937"/>
                </a:solidFill>
                <a:latin typeface="Arial"/>
              </a:rPr>
              <a:t>;</a:t>
            </a:r>
          </a:p>
          <a:p>
            <a:pPr>
              <a:spcAft>
                <a:spcPts val="800"/>
              </a:spcAft>
            </a:pPr>
            <a:r>
              <a:rPr sz="1500" dirty="0">
                <a:solidFill>
                  <a:srgbClr val="1F2937"/>
                </a:solidFill>
                <a:latin typeface="Arial"/>
              </a:rPr>
              <a:t>5. </a:t>
            </a:r>
            <a:r>
              <a:rPr lang="ru-RU" sz="1500" dirty="0">
                <a:solidFill>
                  <a:srgbClr val="1F2937"/>
                </a:solidFill>
                <a:latin typeface="Arial"/>
              </a:rPr>
              <a:t>О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тдельная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административная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сессия</a:t>
            </a:r>
            <a:r>
              <a:rPr sz="1500" dirty="0">
                <a:solidFill>
                  <a:srgbClr val="1F2937"/>
                </a:solidFill>
                <a:latin typeface="Arial"/>
              </a:rPr>
              <a:t> с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временным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ключом</a:t>
            </a:r>
            <a:r>
              <a:rPr sz="1500" dirty="0">
                <a:solidFill>
                  <a:srgbClr val="1F293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F2937"/>
                </a:solidFill>
                <a:latin typeface="Arial"/>
              </a:rPr>
              <a:t>доступа</a:t>
            </a:r>
            <a:r>
              <a:rPr sz="150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5166359"/>
            <a:ext cx="3931920" cy="862965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49540" y="5212080"/>
            <a:ext cx="352044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 err="1">
                <a:solidFill>
                  <a:srgbClr val="1F2937"/>
                </a:solidFill>
                <a:latin typeface="Arial"/>
              </a:rPr>
              <a:t>Административный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контур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показывает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что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базу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утечек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можно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сопровождать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через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1F2937"/>
                </a:solidFill>
                <a:latin typeface="Arial"/>
              </a:rPr>
              <a:t>интерфейс</a:t>
            </a:r>
            <a:r>
              <a:rPr sz="14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A6073693-C05A-46AD-BD05-066AF9B5C905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4DC41F01-8031-410E-961F-D68507D95156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395D08E8-B606-4496-AD3E-04593A8797F7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138E0C71-91E6-4ECC-A08F-0EA12FE3D503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Использование структурированных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17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143000"/>
            <a:ext cx="10789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10223A"/>
                </a:solidFill>
                <a:latin typeface="Arial"/>
              </a:rPr>
              <a:t>Примеры отчетности по журналу проверок и таблице утечек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82777"/>
              </p:ext>
            </p:extLst>
          </p:nvPr>
        </p:nvGraphicFramePr>
        <p:xfrm>
          <a:off x="685800" y="1691640"/>
          <a:ext cx="6949440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Показатель</a:t>
                      </a:r>
                      <a:endParaRPr sz="2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</a:rPr>
                        <a:t>Источник данных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Пример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</a:rPr>
                        <a:t> </a:t>
                      </a:r>
                      <a:r>
                        <a:rPr sz="2000" b="1" dirty="0" err="1">
                          <a:solidFill>
                            <a:srgbClr val="FFFFFF"/>
                          </a:solidFill>
                          <a:latin typeface="Arial"/>
                        </a:rPr>
                        <a:t>результата</a:t>
                      </a:r>
                      <a:endParaRPr sz="2000" b="1" dirty="0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Проверки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за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месяц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RequestLog.created_at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124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проверки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Доля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совпадений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RequestLog.hits_count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31 %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Частые источники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Breach.source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ForumLeak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RU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Активность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User + AuthSession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входы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по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дням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Загрузка данных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F2937"/>
                          </a:solidFill>
                          <a:latin typeface="Arial"/>
                        </a:rPr>
                        <a:t>Breach.leak_file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CSV/JSON-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файлы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с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записями</a:t>
                      </a:r>
                      <a:r>
                        <a:rPr sz="1800" b="0" dirty="0">
                          <a:solidFill>
                            <a:srgbClr val="1F2937"/>
                          </a:solidFill>
                          <a:latin typeface="Arial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1F2937"/>
                          </a:solidFill>
                          <a:latin typeface="Arial"/>
                        </a:rPr>
                        <a:t>утечек</a:t>
                      </a:r>
                      <a:endParaRPr sz="1800" b="0" dirty="0">
                        <a:solidFill>
                          <a:srgbClr val="1F2937"/>
                        </a:solidFill>
                        <a:latin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909560" y="1691640"/>
            <a:ext cx="3383280" cy="31089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920240"/>
            <a:ext cx="28346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Arial"/>
              </a:rPr>
              <a:t>Пример SQL-запроса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514600"/>
            <a:ext cx="2834640" cy="12801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onsolas"/>
              </a:rPr>
              <a:t>SELECT date(created_at),</a:t>
            </a:r>
            <a:br/>
            <a:r>
              <a:t>       count(*),</a:t>
            </a:r>
            <a:br/>
            <a:r>
              <a:t>       sum(hits_count &gt; 0)</a:t>
            </a:r>
            <a:br/>
            <a:r>
              <a:t>FROM requestlog</a:t>
            </a:r>
            <a:br/>
            <a:r>
              <a:t>GROUP BY date(created_at);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5502114"/>
            <a:ext cx="10607040" cy="685800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588982"/>
            <a:ext cx="101498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600" b="0" dirty="0" err="1">
                <a:solidFill>
                  <a:srgbClr val="1F2937"/>
                </a:solidFill>
                <a:latin typeface="Arial"/>
              </a:rPr>
              <a:t>Реализована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статистика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и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отчетность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по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данным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сервиса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;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расширенные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функции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анализа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относятся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к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направлениям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1F2937"/>
                </a:solidFill>
                <a:latin typeface="Arial"/>
              </a:rPr>
              <a:t>развития</a:t>
            </a:r>
            <a:r>
              <a:rPr sz="16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287640E0-80DC-48F0-BAB2-78C46BD2DCAC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A21BFC07-496A-4C70-A821-C16664EEC880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2D0680E6-E01F-4FE8-9DE1-B2ECC4620645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8167F4BF-911F-4316-BABA-4420D7F7A3C2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Оценка результата и ограничения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18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5303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4023360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7160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8076"/>
                </a:solidFill>
                <a:latin typeface="Arial"/>
              </a:rPr>
              <a:t>Полученный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984354"/>
            <a:ext cx="5029200" cy="227139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b="0" dirty="0">
                <a:solidFill>
                  <a:srgbClr val="1F2937"/>
                </a:solidFill>
                <a:latin typeface="Arial"/>
              </a:rPr>
              <a:t>Р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аботающий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lang="ru-RU" b="0" dirty="0">
                <a:solidFill>
                  <a:srgbClr val="1F2937"/>
                </a:solidFill>
                <a:latin typeface="Arial"/>
              </a:rPr>
              <a:t>веб</a:t>
            </a:r>
            <a:r>
              <a:rPr lang="ru-RU" dirty="0">
                <a:solidFill>
                  <a:srgbClr val="1F2937"/>
                </a:solidFill>
                <a:latin typeface="Arial"/>
              </a:rPr>
              <a:t>-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сервис</a:t>
            </a:r>
            <a:r>
              <a:rPr b="0" dirty="0">
                <a:solidFill>
                  <a:srgbClr val="1F2937"/>
                </a:solidFill>
                <a:latin typeface="Arial"/>
              </a:rPr>
              <a:t> reestr-utechek.ru;</a:t>
            </a:r>
            <a:br>
              <a:rPr dirty="0"/>
            </a:br>
            <a:r>
              <a:rPr dirty="0"/>
              <a:t>2. </a:t>
            </a:r>
            <a:r>
              <a:rPr lang="ru-RU" dirty="0"/>
              <a:t>П</a:t>
            </a:r>
            <a:r>
              <a:rPr dirty="0" err="1"/>
              <a:t>роверка</a:t>
            </a:r>
            <a:r>
              <a:rPr dirty="0"/>
              <a:t> </a:t>
            </a:r>
            <a:r>
              <a:rPr dirty="0" err="1"/>
              <a:t>электронной</a:t>
            </a:r>
            <a:r>
              <a:rPr dirty="0"/>
              <a:t> </a:t>
            </a:r>
            <a:r>
              <a:rPr dirty="0" err="1"/>
              <a:t>почты</a:t>
            </a:r>
            <a:r>
              <a:rPr dirty="0"/>
              <a:t> и </a:t>
            </a:r>
            <a:r>
              <a:rPr dirty="0" err="1"/>
              <a:t>телефона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хеш-значениям</a:t>
            </a:r>
            <a:r>
              <a:rPr dirty="0"/>
              <a:t>;</a:t>
            </a:r>
            <a:br>
              <a:rPr dirty="0"/>
            </a:br>
            <a:r>
              <a:rPr dirty="0"/>
              <a:t>3. </a:t>
            </a:r>
            <a:r>
              <a:rPr lang="ru-RU" dirty="0"/>
              <a:t>И</a:t>
            </a:r>
            <a:r>
              <a:rPr dirty="0" err="1"/>
              <a:t>стория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 и </a:t>
            </a:r>
            <a:r>
              <a:rPr dirty="0" err="1"/>
              <a:t>уведомления</a:t>
            </a:r>
            <a:r>
              <a:rPr dirty="0"/>
              <a:t>;</a:t>
            </a:r>
            <a:br>
              <a:rPr dirty="0"/>
            </a:br>
            <a:r>
              <a:rPr dirty="0"/>
              <a:t>4. </a:t>
            </a:r>
            <a:r>
              <a:rPr lang="ru-RU" dirty="0"/>
              <a:t>А</a:t>
            </a:r>
            <a:r>
              <a:rPr dirty="0" err="1"/>
              <a:t>дминистративная</a:t>
            </a:r>
            <a:r>
              <a:rPr dirty="0"/>
              <a:t> </a:t>
            </a:r>
            <a:r>
              <a:rPr dirty="0" err="1"/>
              <a:t>панель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утечек</a:t>
            </a:r>
            <a:r>
              <a:rPr dirty="0"/>
              <a:t>;</a:t>
            </a:r>
            <a:br>
              <a:rPr dirty="0"/>
            </a:br>
            <a:r>
              <a:rPr dirty="0"/>
              <a:t>5. </a:t>
            </a:r>
            <a:r>
              <a:rPr lang="ru-RU" dirty="0"/>
              <a:t>П</a:t>
            </a:r>
            <a:r>
              <a:rPr dirty="0" err="1"/>
              <a:t>рограммный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и </a:t>
            </a:r>
            <a:r>
              <a:rPr dirty="0" err="1"/>
              <a:t>структура</a:t>
            </a:r>
            <a:r>
              <a:rPr dirty="0"/>
              <a:t> БД </a:t>
            </a:r>
            <a:r>
              <a:rPr dirty="0" err="1"/>
              <a:t>подтверждаются</a:t>
            </a:r>
            <a:r>
              <a:rPr dirty="0"/>
              <a:t> </a:t>
            </a:r>
            <a:r>
              <a:rPr dirty="0" err="1"/>
              <a:t>кодом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5303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73152" cy="4023360"/>
          </a:xfrm>
          <a:prstGeom prst="rect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371600"/>
            <a:ext cx="50292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C25C00"/>
                </a:solidFill>
                <a:latin typeface="Arial"/>
              </a:rPr>
              <a:t>Ограничение демонстрационной версии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984354"/>
            <a:ext cx="5029200" cy="282538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b="0" dirty="0">
                <a:solidFill>
                  <a:srgbClr val="1F2937"/>
                </a:solidFill>
                <a:latin typeface="Arial"/>
              </a:rPr>
              <a:t>Д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емонстрационная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база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не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равна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полному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реестру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утечек</a:t>
            </a:r>
            <a:r>
              <a:rPr b="0" dirty="0">
                <a:solidFill>
                  <a:srgbClr val="1F2937"/>
                </a:solidFill>
                <a:latin typeface="Arial"/>
              </a:rPr>
              <a:t>;</a:t>
            </a:r>
            <a:br>
              <a:rPr dirty="0"/>
            </a:br>
            <a:r>
              <a:rPr dirty="0"/>
              <a:t>2. HIBP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наличии</a:t>
            </a:r>
            <a:r>
              <a:rPr dirty="0"/>
              <a:t> </a:t>
            </a:r>
            <a:r>
              <a:rPr dirty="0" err="1"/>
              <a:t>ключа</a:t>
            </a:r>
            <a:r>
              <a:rPr dirty="0"/>
              <a:t> </a:t>
            </a:r>
            <a:r>
              <a:rPr dirty="0" err="1"/>
              <a:t>доступа</a:t>
            </a:r>
            <a:r>
              <a:rPr dirty="0"/>
              <a:t>;</a:t>
            </a:r>
            <a:br>
              <a:rPr dirty="0"/>
            </a:br>
            <a:r>
              <a:rPr dirty="0"/>
              <a:t>3. </a:t>
            </a:r>
            <a:r>
              <a:rPr lang="ru-RU" dirty="0"/>
              <a:t>О</a:t>
            </a:r>
            <a:r>
              <a:rPr dirty="0" err="1"/>
              <a:t>тправка</a:t>
            </a:r>
            <a:r>
              <a:rPr dirty="0"/>
              <a:t> СМС и </a:t>
            </a:r>
            <a:r>
              <a:rPr dirty="0" err="1"/>
              <a:t>писем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подключения</a:t>
            </a:r>
            <a:r>
              <a:rPr dirty="0"/>
              <a:t> </a:t>
            </a:r>
            <a:r>
              <a:rPr dirty="0" err="1"/>
              <a:t>внешних</a:t>
            </a:r>
            <a:r>
              <a:rPr dirty="0"/>
              <a:t> </a:t>
            </a:r>
            <a:r>
              <a:rPr dirty="0" err="1"/>
              <a:t>сервисов</a:t>
            </a:r>
            <a:r>
              <a:rPr dirty="0"/>
              <a:t>;</a:t>
            </a:r>
            <a:br>
              <a:rPr dirty="0"/>
            </a:br>
            <a:r>
              <a:rPr dirty="0"/>
              <a:t>4. </a:t>
            </a:r>
            <a:r>
              <a:rPr lang="ru-RU" dirty="0"/>
              <a:t>П</a:t>
            </a:r>
            <a:r>
              <a:rPr dirty="0" err="1"/>
              <a:t>оказатель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информационной</a:t>
            </a:r>
            <a:r>
              <a:rPr dirty="0"/>
              <a:t> </a:t>
            </a:r>
            <a:r>
              <a:rPr dirty="0" err="1"/>
              <a:t>оценкой</a:t>
            </a:r>
            <a:r>
              <a:rPr dirty="0"/>
              <a:t>;</a:t>
            </a:r>
            <a:br>
              <a:rPr dirty="0"/>
            </a:br>
            <a:r>
              <a:rPr dirty="0"/>
              <a:t>5. </a:t>
            </a:r>
            <a:r>
              <a:rPr lang="ru-RU" dirty="0"/>
              <a:t>Д</a:t>
            </a:r>
            <a:r>
              <a:rPr dirty="0" err="1"/>
              <a:t>ля</a:t>
            </a:r>
            <a:r>
              <a:rPr dirty="0"/>
              <a:t> </a:t>
            </a:r>
            <a:r>
              <a:rPr dirty="0" err="1"/>
              <a:t>промышленной</a:t>
            </a:r>
            <a:r>
              <a:rPr dirty="0"/>
              <a:t> </a:t>
            </a:r>
            <a:r>
              <a:rPr dirty="0" err="1"/>
              <a:t>эксплуатации</a:t>
            </a:r>
            <a:r>
              <a:rPr dirty="0"/>
              <a:t>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нагрузочные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и </a:t>
            </a:r>
            <a:r>
              <a:rPr dirty="0" err="1"/>
              <a:t>расширение</a:t>
            </a:r>
            <a:r>
              <a:rPr dirty="0"/>
              <a:t> </a:t>
            </a:r>
            <a:r>
              <a:rPr dirty="0" err="1"/>
              <a:t>ролей</a:t>
            </a:r>
            <a:r>
              <a:rPr dirty="0"/>
              <a:t>.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0E67A393-AEF9-44EE-A5E3-DA87FCCC4E0D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B0BE5FB1-8214-43DE-BA95-87E6170E34C7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A004D02A-07C6-4703-A220-2F24A7EE7BDC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DB2D654-F1AE-4CE4-8394-85DC9D7424B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Направления развития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19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78992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10223A"/>
                </a:solidFill>
                <a:latin typeface="Arial"/>
              </a:rPr>
              <a:t>Развитие проекта после текущего прототипа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514600" cy="230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60120" y="2240280"/>
            <a:ext cx="411480" cy="41148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322576"/>
            <a:ext cx="18288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67712"/>
            <a:ext cx="1600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0223A"/>
                </a:solidFill>
                <a:latin typeface="Arial"/>
              </a:rPr>
              <a:t>Источники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880360"/>
            <a:ext cx="2057400" cy="13480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 err="1">
                <a:latin typeface="Arial"/>
              </a:rPr>
              <a:t>подключение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дополнительных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легальных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источников</a:t>
            </a:r>
            <a:r>
              <a:rPr sz="1400" b="0" dirty="0">
                <a:latin typeface="Arial"/>
              </a:rPr>
              <a:t> и </a:t>
            </a:r>
            <a:r>
              <a:rPr sz="1400" b="0" dirty="0" err="1">
                <a:latin typeface="Arial"/>
              </a:rPr>
              <a:t>проверка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качества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загружаемых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наборов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данных</a:t>
            </a:r>
            <a:endParaRPr sz="1400" b="0" dirty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66160" y="2011680"/>
            <a:ext cx="2514600" cy="230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94760" y="2240280"/>
            <a:ext cx="411480" cy="411480"/>
          </a:xfrm>
          <a:prstGeom prst="ellipse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04488" y="2322576"/>
            <a:ext cx="18288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267712"/>
            <a:ext cx="1600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0223A"/>
                </a:solidFill>
                <a:latin typeface="Arial"/>
              </a:rPr>
              <a:t>Безопасность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880360"/>
            <a:ext cx="2057400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 err="1">
                <a:latin typeface="Arial"/>
              </a:rPr>
              <a:t>роли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пользователей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аудит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действий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администратора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защита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от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перебора</a:t>
            </a:r>
            <a:endParaRPr sz="1400" b="0" dirty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2514600" cy="230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629400" y="2240280"/>
            <a:ext cx="411480" cy="411480"/>
          </a:xfrm>
          <a:prstGeom prst="ellipse">
            <a:avLst/>
          </a:prstGeom>
          <a:solidFill>
            <a:srgbClr val="C2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39128" y="2322576"/>
            <a:ext cx="18288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267712"/>
            <a:ext cx="1600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0223A"/>
                </a:solidFill>
                <a:latin typeface="Arial"/>
              </a:rPr>
              <a:t>Инфраструктура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880360"/>
            <a:ext cx="2057400" cy="113261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latin typeface="Arial"/>
              </a:rPr>
              <a:t>PostgreSQL, </a:t>
            </a:r>
            <a:r>
              <a:rPr sz="1400" b="0" dirty="0" err="1">
                <a:latin typeface="Arial"/>
              </a:rPr>
              <a:t>изолированный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запуск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сервисов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резервное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копирование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контроль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состояния</a:t>
            </a:r>
            <a:endParaRPr sz="1400" b="0" dirty="0"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235440" y="2011680"/>
            <a:ext cx="2514600" cy="230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64040" y="2240280"/>
            <a:ext cx="411480" cy="411480"/>
          </a:xfrm>
          <a:prstGeom prst="ellipse">
            <a:avLst/>
          </a:prstGeom>
          <a:solidFill>
            <a:srgbClr val="2D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73768" y="2322576"/>
            <a:ext cx="182880" cy="182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267712"/>
            <a:ext cx="1600200" cy="228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10223A"/>
                </a:solidFill>
                <a:latin typeface="Arial"/>
              </a:rPr>
              <a:t>Отчетность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880360"/>
            <a:ext cx="2057400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 err="1">
                <a:latin typeface="Arial"/>
              </a:rPr>
              <a:t>экспорт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статистики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фильтры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по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периодам</a:t>
            </a:r>
            <a:r>
              <a:rPr sz="1400" b="0" dirty="0">
                <a:latin typeface="Arial"/>
              </a:rPr>
              <a:t>, </a:t>
            </a:r>
            <a:r>
              <a:rPr sz="1400" b="0" dirty="0" err="1">
                <a:latin typeface="Arial"/>
              </a:rPr>
              <a:t>отчеты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для</a:t>
            </a:r>
            <a:r>
              <a:rPr sz="1400" b="0" dirty="0">
                <a:latin typeface="Arial"/>
              </a:rPr>
              <a:t> </a:t>
            </a:r>
            <a:r>
              <a:rPr sz="1400" b="0" dirty="0" err="1">
                <a:latin typeface="Arial"/>
              </a:rPr>
              <a:t>организаций</a:t>
            </a:r>
            <a:endParaRPr sz="1400" b="0" dirty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88720" y="5166360"/>
            <a:ext cx="9829800" cy="68580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394460" y="5278967"/>
            <a:ext cx="937260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700" b="0" dirty="0" err="1">
                <a:solidFill>
                  <a:srgbClr val="1F2937"/>
                </a:solidFill>
                <a:latin typeface="Arial"/>
              </a:rPr>
              <a:t>Пункты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показаны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как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развитие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прототипа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, а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не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как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уже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выполненное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rial"/>
              </a:rPr>
              <a:t>внедрение</a:t>
            </a:r>
            <a:r>
              <a:rPr sz="1700" b="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C807D4D2-1ACE-4D24-93FB-39046F8C0D82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1" name="Shape 3">
            <a:extLst>
              <a:ext uri="{FF2B5EF4-FFF2-40B4-BE49-F238E27FC236}">
                <a16:creationId xmlns:a16="http://schemas.microsoft.com/office/drawing/2014/main" id="{88718733-89DB-47A3-AEF8-87E34CBCEF58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B3E58A3D-56AE-4F79-9BEC-42E253193269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57E4465B-AD23-4D54-9A39-D0278DE035D1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32004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>
                <a:solidFill>
                  <a:srgbClr val="10223A"/>
                </a:solidFill>
                <a:latin typeface="Arial"/>
              </a:rPr>
              <a:t>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20 / 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4023360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463039"/>
            <a:ext cx="4937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0F8076"/>
                </a:solidFill>
                <a:latin typeface="Arial"/>
              </a:rPr>
              <a:t>В ходе работы разработано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92807"/>
            <a:ext cx="4937760" cy="254839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b="0" dirty="0">
                <a:solidFill>
                  <a:srgbClr val="1F2937"/>
                </a:solidFill>
                <a:latin typeface="Arial"/>
              </a:rPr>
              <a:t>В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еб-приложение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для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мониторинга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утечек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персональных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данных</a:t>
            </a:r>
            <a:r>
              <a:rPr b="0" dirty="0">
                <a:solidFill>
                  <a:srgbClr val="1F2937"/>
                </a:solidFill>
                <a:latin typeface="Arial"/>
              </a:rPr>
              <a:t>;</a:t>
            </a:r>
            <a:br>
              <a:rPr dirty="0"/>
            </a:br>
            <a:r>
              <a:rPr dirty="0"/>
              <a:t>2. </a:t>
            </a:r>
            <a:r>
              <a:rPr lang="ru-RU" dirty="0"/>
              <a:t>С</a:t>
            </a:r>
            <a:r>
              <a:rPr dirty="0" err="1"/>
              <a:t>ерверная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FastAPI</a:t>
            </a:r>
            <a:r>
              <a:rPr dirty="0"/>
              <a:t> с </a:t>
            </a:r>
            <a:r>
              <a:rPr dirty="0" err="1"/>
              <a:t>интерфейсом</a:t>
            </a:r>
            <a:r>
              <a:rPr dirty="0"/>
              <a:t> REST;</a:t>
            </a:r>
            <a:br>
              <a:rPr dirty="0"/>
            </a:br>
            <a:r>
              <a:rPr dirty="0"/>
              <a:t>3. </a:t>
            </a:r>
            <a:r>
              <a:rPr lang="ru-RU" dirty="0"/>
              <a:t>К</a:t>
            </a:r>
            <a:r>
              <a:rPr dirty="0" err="1"/>
              <a:t>лиентская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React и TypeScript;</a:t>
            </a:r>
            <a:br>
              <a:rPr dirty="0"/>
            </a:br>
            <a:r>
              <a:rPr dirty="0"/>
              <a:t>4. </a:t>
            </a:r>
            <a:r>
              <a:rPr lang="ru-RU" dirty="0"/>
              <a:t>М</a:t>
            </a:r>
            <a:r>
              <a:rPr dirty="0" err="1"/>
              <a:t>одель</a:t>
            </a:r>
            <a:r>
              <a:rPr dirty="0"/>
              <a:t> БД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, </a:t>
            </a:r>
            <a:r>
              <a:rPr dirty="0" err="1"/>
              <a:t>утечек</a:t>
            </a:r>
            <a:r>
              <a:rPr dirty="0"/>
              <a:t>, </a:t>
            </a:r>
            <a:r>
              <a:rPr dirty="0" err="1"/>
              <a:t>сессий</a:t>
            </a:r>
            <a:r>
              <a:rPr dirty="0"/>
              <a:t> и </a:t>
            </a:r>
            <a:r>
              <a:rPr dirty="0" err="1"/>
              <a:t>журнала</a:t>
            </a:r>
            <a:r>
              <a:rPr dirty="0"/>
              <a:t> </a:t>
            </a:r>
            <a:r>
              <a:rPr dirty="0" err="1"/>
              <a:t>проверок</a:t>
            </a:r>
            <a:r>
              <a:rPr dirty="0"/>
              <a:t>;</a:t>
            </a:r>
            <a:br>
              <a:rPr dirty="0"/>
            </a:br>
            <a:r>
              <a:rPr dirty="0"/>
              <a:t>5. </a:t>
            </a:r>
            <a:r>
              <a:rPr lang="ru-RU" dirty="0"/>
              <a:t>А</a:t>
            </a:r>
            <a:r>
              <a:rPr dirty="0" err="1"/>
              <a:t>дминистративная</a:t>
            </a:r>
            <a:r>
              <a:rPr dirty="0"/>
              <a:t> </a:t>
            </a:r>
            <a:r>
              <a:rPr dirty="0" err="1"/>
              <a:t>панель</a:t>
            </a:r>
            <a:r>
              <a:rPr dirty="0"/>
              <a:t>, </a:t>
            </a:r>
            <a:r>
              <a:rPr dirty="0" err="1"/>
              <a:t>загрузка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и </a:t>
            </a:r>
            <a:r>
              <a:rPr dirty="0" err="1"/>
              <a:t>уведомления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25880"/>
            <a:ext cx="5212080" cy="4023360"/>
          </a:xfrm>
          <a:prstGeom prst="roundRect">
            <a:avLst/>
          </a:prstGeom>
          <a:solidFill>
            <a:srgbClr val="E7F8F1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73152" cy="4023360"/>
          </a:xfrm>
          <a:prstGeom prst="rect">
            <a:avLst/>
          </a:prstGeom>
          <a:solidFill>
            <a:srgbClr val="0F8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463039"/>
            <a:ext cx="4937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200" b="1">
                <a:solidFill>
                  <a:srgbClr val="0F8076"/>
                </a:solidFill>
                <a:latin typeface="Arial"/>
              </a:rPr>
              <a:t>Практическая ценность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92807"/>
            <a:ext cx="4937760" cy="282538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0" dirty="0">
                <a:solidFill>
                  <a:srgbClr val="1F2937"/>
                </a:solidFill>
                <a:latin typeface="Arial"/>
              </a:rPr>
              <a:t>1. </a:t>
            </a:r>
            <a:r>
              <a:rPr lang="ru-RU" b="0" dirty="0">
                <a:solidFill>
                  <a:srgbClr val="1F2937"/>
                </a:solidFill>
                <a:latin typeface="Arial"/>
              </a:rPr>
              <a:t>П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ользователь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быстро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проверяет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цифровой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след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контактных</a:t>
            </a:r>
            <a:r>
              <a:rPr b="0" dirty="0">
                <a:solidFill>
                  <a:srgbClr val="1F2937"/>
                </a:solidFill>
                <a:latin typeface="Arial"/>
              </a:rPr>
              <a:t> </a:t>
            </a:r>
            <a:r>
              <a:rPr b="0" dirty="0" err="1">
                <a:solidFill>
                  <a:srgbClr val="1F2937"/>
                </a:solidFill>
                <a:latin typeface="Arial"/>
              </a:rPr>
              <a:t>данных</a:t>
            </a:r>
            <a:r>
              <a:rPr b="0" dirty="0">
                <a:solidFill>
                  <a:srgbClr val="1F2937"/>
                </a:solidFill>
                <a:latin typeface="Arial"/>
              </a:rPr>
              <a:t>;</a:t>
            </a:r>
            <a:br>
              <a:rPr dirty="0"/>
            </a:br>
            <a:r>
              <a:rPr dirty="0"/>
              <a:t>2. </a:t>
            </a:r>
            <a:r>
              <a:rPr lang="ru-RU" dirty="0"/>
              <a:t>Р</a:t>
            </a:r>
            <a:r>
              <a:rPr dirty="0" err="1"/>
              <a:t>езультат</a:t>
            </a:r>
            <a:r>
              <a:rPr dirty="0"/>
              <a:t> </a:t>
            </a:r>
            <a:r>
              <a:rPr dirty="0" err="1"/>
              <a:t>сопровождается</a:t>
            </a:r>
            <a:r>
              <a:rPr dirty="0"/>
              <a:t> </a:t>
            </a:r>
            <a:r>
              <a:rPr dirty="0" err="1"/>
              <a:t>понятными</a:t>
            </a:r>
            <a:r>
              <a:rPr dirty="0"/>
              <a:t> </a:t>
            </a:r>
            <a:r>
              <a:rPr dirty="0" err="1"/>
              <a:t>рекомендациями</a:t>
            </a:r>
            <a:r>
              <a:rPr dirty="0"/>
              <a:t>;</a:t>
            </a:r>
            <a:br>
              <a:rPr dirty="0"/>
            </a:br>
            <a:r>
              <a:rPr dirty="0"/>
              <a:t>3. </a:t>
            </a:r>
            <a:r>
              <a:rPr lang="ru-RU" dirty="0"/>
              <a:t>А</a:t>
            </a:r>
            <a:r>
              <a:rPr dirty="0" err="1"/>
              <a:t>дминистратор</a:t>
            </a:r>
            <a:r>
              <a:rPr dirty="0"/>
              <a:t> </a:t>
            </a:r>
            <a:r>
              <a:rPr dirty="0" err="1"/>
              <a:t>управляет</a:t>
            </a:r>
            <a:r>
              <a:rPr dirty="0"/>
              <a:t> </a:t>
            </a:r>
            <a:r>
              <a:rPr dirty="0" err="1"/>
              <a:t>набором</a:t>
            </a:r>
            <a:r>
              <a:rPr dirty="0"/>
              <a:t> </a:t>
            </a:r>
            <a:r>
              <a:rPr dirty="0" err="1"/>
              <a:t>записей</a:t>
            </a:r>
            <a:r>
              <a:rPr dirty="0"/>
              <a:t> и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статистику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сервиса</a:t>
            </a:r>
            <a:r>
              <a:rPr dirty="0"/>
              <a:t>;</a:t>
            </a:r>
            <a:br>
              <a:rPr dirty="0"/>
            </a:br>
            <a:r>
              <a:rPr dirty="0"/>
              <a:t>4. </a:t>
            </a:r>
            <a:r>
              <a:rPr lang="ru-RU" dirty="0"/>
              <a:t>Р</a:t>
            </a:r>
            <a:r>
              <a:rPr dirty="0" err="1"/>
              <a:t>азработанный</a:t>
            </a:r>
            <a:r>
              <a:rPr dirty="0"/>
              <a:t> </a:t>
            </a:r>
            <a:r>
              <a:rPr dirty="0" err="1"/>
              <a:t>прототип</a:t>
            </a:r>
            <a:r>
              <a:rPr dirty="0"/>
              <a:t> </a:t>
            </a:r>
            <a:r>
              <a:rPr dirty="0" err="1"/>
              <a:t>подтверждает</a:t>
            </a:r>
            <a:r>
              <a:rPr dirty="0"/>
              <a:t> </a:t>
            </a:r>
            <a:r>
              <a:rPr dirty="0" err="1"/>
              <a:t>реализуемость</a:t>
            </a:r>
            <a:r>
              <a:rPr dirty="0"/>
              <a:t> </a:t>
            </a:r>
            <a:r>
              <a:rPr dirty="0" err="1"/>
              <a:t>подхода</a:t>
            </a:r>
            <a:r>
              <a:rPr dirty="0"/>
              <a:t> и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использован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дальнейшего</a:t>
            </a:r>
            <a:r>
              <a:rPr dirty="0"/>
              <a:t> </a:t>
            </a:r>
            <a:r>
              <a:rPr dirty="0" err="1"/>
              <a:t>развития</a:t>
            </a:r>
            <a:r>
              <a:rPr dirty="0"/>
              <a:t>.</a:t>
            </a:r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7FECEBAE-738B-4BBB-8B24-F0E207A186C4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87EAB5D2-DD38-468C-9E7B-53B4691D855A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875F5104-3841-4A17-A795-8C327CA23102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DA5F28A6-524E-48B2-B82F-6AA0E0727DF6}"/>
              </a:ext>
            </a:extLst>
          </p:cNvPr>
          <p:cNvSpPr/>
          <p:nvPr/>
        </p:nvSpPr>
        <p:spPr>
          <a:xfrm>
            <a:off x="723053" y="953229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1024128" y="1920240"/>
            <a:ext cx="1014984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240">
            <a:solidFill>
              <a:srgbClr val="C7D6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834640"/>
            <a:ext cx="9464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3600" b="1" dirty="0">
                <a:solidFill>
                  <a:srgbClr val="0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r>
              <a:rPr lang="en-US" sz="3600" b="1" dirty="0">
                <a:solidFill>
                  <a:srgbClr val="0B1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ru-RU" sz="3600" b="1" dirty="0">
              <a:solidFill>
                <a:srgbClr val="0B1A2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6928" y="6400800"/>
            <a:ext cx="1101852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566C31D3-DEDD-485B-B6C8-8E9452F37B98}"/>
              </a:ext>
            </a:extLst>
          </p:cNvPr>
          <p:cNvSpPr/>
          <p:nvPr/>
        </p:nvSpPr>
        <p:spPr>
          <a:xfrm>
            <a:off x="0" y="-106"/>
            <a:ext cx="4480560" cy="7315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4595A698-D658-40C1-BE5B-0B2D575EA639}"/>
              </a:ext>
            </a:extLst>
          </p:cNvPr>
          <p:cNvSpPr/>
          <p:nvPr/>
        </p:nvSpPr>
        <p:spPr>
          <a:xfrm>
            <a:off x="4483608" y="-106"/>
            <a:ext cx="2926080" cy="73152"/>
          </a:xfrm>
          <a:prstGeom prst="rect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AFE23AE3-54E8-4FD6-84BB-B9E0BE405C81}"/>
              </a:ext>
            </a:extLst>
          </p:cNvPr>
          <p:cNvSpPr/>
          <p:nvPr/>
        </p:nvSpPr>
        <p:spPr>
          <a:xfrm>
            <a:off x="7409688" y="-106"/>
            <a:ext cx="4782312" cy="73152"/>
          </a:xfrm>
          <a:prstGeom prst="rect">
            <a:avLst/>
          </a:prstGeom>
          <a:solidFill>
            <a:srgbClr val="D99A22"/>
          </a:solidFill>
          <a:ln w="12700">
            <a:solidFill>
              <a:srgbClr val="D99A22"/>
            </a:solidFill>
            <a:prstDash val="solid"/>
          </a:ln>
        </p:spPr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673CD0DA-012E-406E-86E1-8F1B0A318F51}"/>
              </a:ext>
            </a:extLst>
          </p:cNvPr>
          <p:cNvSpPr/>
          <p:nvPr/>
        </p:nvSpPr>
        <p:spPr>
          <a:xfrm>
            <a:off x="723053" y="5025696"/>
            <a:ext cx="10652760" cy="0"/>
          </a:xfrm>
          <a:prstGeom prst="line">
            <a:avLst/>
          </a:prstGeom>
          <a:noFill/>
          <a:ln w="76200">
            <a:solidFill>
              <a:srgbClr val="D6E0EA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F8A097-966F-477A-A925-9802B7AAD920}"/>
              </a:ext>
            </a:extLst>
          </p:cNvPr>
          <p:cNvSpPr txBox="1"/>
          <p:nvPr/>
        </p:nvSpPr>
        <p:spPr>
          <a:xfrm>
            <a:off x="10515600" y="347472"/>
            <a:ext cx="109728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600" b="0" dirty="0">
                <a:solidFill>
                  <a:srgbClr val="5B697C"/>
                </a:solidFill>
                <a:latin typeface="Arial"/>
              </a:rPr>
              <a:t>2</a:t>
            </a:r>
            <a:r>
              <a:rPr lang="ru-RU" sz="1600" b="0" dirty="0">
                <a:solidFill>
                  <a:srgbClr val="5B697C"/>
                </a:solidFill>
                <a:latin typeface="Arial"/>
              </a:rPr>
              <a:t>1</a:t>
            </a:r>
            <a:r>
              <a:rPr sz="1600" b="0" dirty="0">
                <a:solidFill>
                  <a:srgbClr val="5B697C"/>
                </a:solidFill>
                <a:latin typeface="Arial"/>
              </a:rPr>
              <a:t> / </a:t>
            </a:r>
            <a:r>
              <a:rPr lang="ru-RU" sz="1600" dirty="0">
                <a:solidFill>
                  <a:srgbClr val="5B697C"/>
                </a:solidFill>
                <a:latin typeface="Arial"/>
              </a:rPr>
              <a:t>21</a:t>
            </a:r>
            <a:endParaRPr sz="1600" b="0" dirty="0">
              <a:solidFill>
                <a:srgbClr val="5B697C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2010</Words>
  <Application>Microsoft Office PowerPoint</Application>
  <PresentationFormat>Широкоэкранный</PresentationFormat>
  <Paragraphs>351</Paragraphs>
  <Slides>21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МФ МГТУ им. Н.Э. Баумана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веб-сервиса мониторинга утечек персональных данных пользователей</dc:title>
  <dc:subject>Реестр утечек — презентация</dc:subject>
  <dc:creator>Adriel</dc:creator>
  <cp:lastModifiedBy>flake31@mail.ru</cp:lastModifiedBy>
  <cp:revision>54</cp:revision>
  <dcterms:created xsi:type="dcterms:W3CDTF">2026-05-11T20:30:11Z</dcterms:created>
  <dcterms:modified xsi:type="dcterms:W3CDTF">2026-05-18T21:06:54Z</dcterms:modified>
</cp:coreProperties>
</file>
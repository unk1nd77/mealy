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7" r:id="rId6"/>
    <p:sldId id="278" r:id="rId7"/>
    <p:sldId id="279" r:id="rId8"/>
    <p:sldId id="280" r:id="rId9"/>
    <p:sldId id="289" r:id="rId10"/>
    <p:sldId id="282" r:id="rId11"/>
    <p:sldId id="283" r:id="rId12"/>
    <p:sldId id="284" r:id="rId13"/>
    <p:sldId id="294" r:id="rId14"/>
    <p:sldId id="285" r:id="rId15"/>
    <p:sldId id="286" r:id="rId16"/>
    <p:sldId id="287" r:id="rId17"/>
    <p:sldId id="290" r:id="rId18"/>
    <p:sldId id="291" r:id="rId19"/>
    <p:sldId id="292" r:id="rId20"/>
    <p:sldId id="275" r:id="rId21"/>
    <p:sldId id="29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03"/>
    <p:restoredTop sz="86485"/>
  </p:normalViewPr>
  <p:slideViewPr>
    <p:cSldViewPr snapToGrid="0" snapToObjects="1">
      <p:cViewPr varScale="1">
        <p:scale>
          <a:sx n="128" d="100"/>
          <a:sy n="128" d="100"/>
        </p:scale>
        <p:origin x="200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21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7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12188952" cy="660196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0" y="-3387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4480560" y="-3387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Shape 4"/>
          <p:cNvSpPr/>
          <p:nvPr/>
        </p:nvSpPr>
        <p:spPr>
          <a:xfrm>
            <a:off x="7406640" y="-3387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10744200" y="256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01 / 2</a:t>
            </a:r>
            <a:r>
              <a:rPr lang="ru-RU" dirty="0"/>
              <a:t>0</a:t>
            </a:r>
            <a:endParaRPr dirty="0"/>
          </a:p>
        </p:txBody>
      </p:sp>
      <p:sp>
        <p:nvSpPr>
          <p:cNvPr id="12" name="Text 10"/>
          <p:cNvSpPr/>
          <p:nvPr/>
        </p:nvSpPr>
        <p:spPr>
          <a:xfrm>
            <a:off x="3139813" y="3630168"/>
            <a:ext cx="6217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ru-RU" sz="2300" b="1" dirty="0"/>
              <a:t>Разработка </a:t>
            </a:r>
            <a:r>
              <a:rPr lang="ru-RU" sz="2300" b="1" dirty="0" err="1"/>
              <a:t>A</a:t>
            </a:r>
            <a:r>
              <a:rPr lang="en-US" sz="2300" b="1"/>
              <a:t>I-</a:t>
            </a:r>
            <a:r>
              <a:rPr lang="ru-RU" sz="2300" b="1"/>
              <a:t>агента для составления сбалансированного рациона питания</a:t>
            </a:r>
            <a:endParaRPr sz="2300" b="1"/>
          </a:p>
        </p:txBody>
      </p:sp>
      <p:sp>
        <p:nvSpPr>
          <p:cNvPr id="13" name="Shape 11"/>
          <p:cNvSpPr/>
          <p:nvPr/>
        </p:nvSpPr>
        <p:spPr>
          <a:xfrm>
            <a:off x="7010400" y="5532120"/>
            <a:ext cx="4282440" cy="0"/>
          </a:xfrm>
          <a:prstGeom prst="line">
            <a:avLst/>
          </a:prstGeom>
          <a:noFill/>
          <a:ln w="38100">
            <a:solidFill>
              <a:srgbClr val="B9C6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178040" y="572414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dirty="0" err="1"/>
              <a:t>Выполнил</a:t>
            </a:r>
            <a:r>
              <a:rPr dirty="0"/>
              <a:t>: </a:t>
            </a:r>
            <a:r>
              <a:rPr lang="ru-RU" u="sng" dirty="0"/>
              <a:t>Шахов Д.А.</a:t>
            </a:r>
            <a:r>
              <a:rPr dirty="0"/>
              <a:t>, </a:t>
            </a:r>
            <a:r>
              <a:rPr dirty="0" err="1"/>
              <a:t>группа</a:t>
            </a:r>
            <a:r>
              <a:rPr dirty="0"/>
              <a:t> </a:t>
            </a:r>
            <a:r>
              <a:rPr lang="ru-RU" u="sng" dirty="0"/>
              <a:t>К3-84Б</a:t>
            </a:r>
            <a:endParaRPr u="sng" dirty="0"/>
          </a:p>
          <a:p>
            <a:r>
              <a:rPr dirty="0" err="1"/>
              <a:t>Руководитель</a:t>
            </a:r>
            <a:r>
              <a:rPr dirty="0"/>
              <a:t>: </a:t>
            </a:r>
            <a:r>
              <a:rPr lang="ru-RU" dirty="0"/>
              <a:t>Афанасьева В.В.</a:t>
            </a:r>
            <a:endParaRPr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A5258703-70D5-3FCE-7C21-71DF608F884A}"/>
              </a:ext>
            </a:extLst>
          </p:cNvPr>
          <p:cNvSpPr/>
          <p:nvPr/>
        </p:nvSpPr>
        <p:spPr>
          <a:xfrm>
            <a:off x="2103120" y="411480"/>
            <a:ext cx="8046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Министерство науки и высшего образования Российской Федерации</a:t>
            </a:r>
            <a:endParaRPr lang="en-US" sz="1540"/>
          </a:p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Федеральное государственное автономное образовательное учреждение</a:t>
            </a:r>
            <a:endParaRPr lang="en-US" sz="1540"/>
          </a:p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высшего образования</a:t>
            </a:r>
            <a:endParaRPr lang="en-US" sz="1540"/>
          </a:p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«Московский государственный технический университет имени Н.Э. Баумана</a:t>
            </a:r>
            <a:endParaRPr lang="en-US" sz="1540"/>
          </a:p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(национальный исследовательский университет)»</a:t>
            </a:r>
            <a:endParaRPr lang="en-US" sz="1540"/>
          </a:p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(МГТУ им. Н.Э. Баумана)</a:t>
            </a:r>
            <a:endParaRPr lang="en-US" sz="1540"/>
          </a:p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Мытищинский филиал</a:t>
            </a:r>
            <a:endParaRPr lang="en-US" sz="1540"/>
          </a:p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Факультет “Космический”</a:t>
            </a:r>
            <a:endParaRPr lang="en-US" sz="1540"/>
          </a:p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Кафедра “Прикладная математика, информатика и вычислительная техника”</a:t>
            </a:r>
            <a:endParaRPr lang="en-US" sz="1540"/>
          </a:p>
          <a:p>
            <a:pPr marL="0" indent="0" algn="ctr">
              <a:buNone/>
            </a:pPr>
            <a:r>
              <a:rPr lang="en-US" sz="1540">
                <a:solidFill>
                  <a:srgbClr val="172033"/>
                </a:solidFill>
              </a:rPr>
              <a:t>Специальность 09.03.01 “Информатика и вычислительная техника”</a:t>
            </a:r>
            <a:endParaRPr lang="en-US" sz="154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CF1D1B93-4B20-BF75-01B7-707FD123A56A}"/>
              </a:ext>
            </a:extLst>
          </p:cNvPr>
          <p:cNvSpPr/>
          <p:nvPr/>
        </p:nvSpPr>
        <p:spPr>
          <a:xfrm>
            <a:off x="2743200" y="33101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>
                <a:solidFill>
                  <a:srgbClr val="172033"/>
                </a:solidFill>
              </a:rPr>
              <a:t>Выпускная квалификационная работа на тему:</a:t>
            </a:r>
            <a:endParaRPr lang="en-US" sz="1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2371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480560" y="2371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06640" y="2371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68096" y="43654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200" err="1"/>
              <a:t>Актуальность</a:t>
            </a:r>
            <a:r>
              <a:rPr sz="2200"/>
              <a:t> </a:t>
            </a:r>
            <a:r>
              <a:rPr sz="2200" err="1"/>
              <a:t>и</a:t>
            </a:r>
            <a:r>
              <a:rPr sz="2200"/>
              <a:t> </a:t>
            </a:r>
            <a:r>
              <a:rPr sz="2200" err="1"/>
              <a:t>цель</a:t>
            </a:r>
            <a:r>
              <a:rPr sz="2200"/>
              <a:t> </a:t>
            </a:r>
            <a:r>
              <a:rPr sz="2200" err="1"/>
              <a:t>работы</a:t>
            </a:r>
            <a:endParaRPr sz="220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0652760" cy="0"/>
          </a:xfrm>
          <a:prstGeom prst="line">
            <a:avLst/>
          </a:prstGeom>
          <a:noFill/>
          <a:ln w="889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9808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Актуальность</a:t>
            </a:r>
          </a:p>
        </p:txBody>
      </p:sp>
      <p:sp>
        <p:nvSpPr>
          <p:cNvPr id="15" name="Text 13"/>
          <p:cNvSpPr/>
          <p:nvPr/>
        </p:nvSpPr>
        <p:spPr>
          <a:xfrm>
            <a:off x="768096" y="1719072"/>
            <a:ext cx="5257800" cy="354770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t>Пользователю </a:t>
            </a:r>
            <a:r>
              <a:rPr err="1"/>
              <a:t>сложно</a:t>
            </a:r>
            <a:r>
              <a:t> </a:t>
            </a:r>
            <a:r>
              <a:rPr err="1"/>
              <a:t>каждый</a:t>
            </a:r>
            <a:r>
              <a:t> </a:t>
            </a:r>
            <a:r>
              <a:rPr err="1"/>
              <a:t>день</a:t>
            </a:r>
            <a:r>
              <a:t> </a:t>
            </a:r>
            <a:r>
              <a:rPr err="1"/>
              <a:t>вручную</a:t>
            </a:r>
            <a:r>
              <a:t> </a:t>
            </a:r>
            <a:r>
              <a:rPr err="1"/>
              <a:t>собирать</a:t>
            </a:r>
            <a:r>
              <a:t> </a:t>
            </a:r>
            <a:r>
              <a:rPr err="1"/>
              <a:t>рацион</a:t>
            </a:r>
            <a:r>
              <a:t>, </a:t>
            </a:r>
            <a:r>
              <a:rPr err="1"/>
              <a:t>считать</a:t>
            </a:r>
            <a:r>
              <a:t> КБЖУ </a:t>
            </a:r>
            <a:r>
              <a:rPr err="1"/>
              <a:t>и</a:t>
            </a:r>
            <a:r>
              <a:t> </a:t>
            </a:r>
            <a:r>
              <a:rPr err="1"/>
              <a:t>планировать</a:t>
            </a:r>
            <a:r>
              <a:t> </a:t>
            </a:r>
            <a:r>
              <a:rPr err="1"/>
              <a:t>покупки</a:t>
            </a:r>
            <a:r>
              <a:t>.</a:t>
            </a:r>
          </a:p>
          <a:p>
            <a:endParaRPr/>
          </a:p>
          <a:p>
            <a:r>
              <a:rPr err="1"/>
              <a:t>Существующие</a:t>
            </a:r>
            <a:r>
              <a:t> </a:t>
            </a:r>
            <a:r>
              <a:rPr err="1"/>
              <a:t>калькуляторы</a:t>
            </a:r>
            <a:r>
              <a:t> </a:t>
            </a:r>
            <a:r>
              <a:rPr err="1"/>
              <a:t>калорий</a:t>
            </a:r>
            <a:r>
              <a:t> </a:t>
            </a:r>
            <a:r>
              <a:rPr err="1"/>
              <a:t>перегружают</a:t>
            </a:r>
            <a:r>
              <a:t> </a:t>
            </a:r>
            <a:r>
              <a:rPr err="1"/>
              <a:t>таблицами</a:t>
            </a:r>
            <a:r>
              <a:t>, </a:t>
            </a:r>
            <a:r>
              <a:rPr err="1"/>
              <a:t>а</a:t>
            </a:r>
            <a:r>
              <a:t> </a:t>
            </a:r>
            <a:r>
              <a:rPr err="1"/>
              <a:t>чат‑боты</a:t>
            </a:r>
            <a:r>
              <a:t> </a:t>
            </a:r>
            <a:r>
              <a:rPr err="1"/>
              <a:t>не</a:t>
            </a:r>
            <a:r>
              <a:t> </a:t>
            </a:r>
            <a:r>
              <a:rPr err="1"/>
              <a:t>дают</a:t>
            </a:r>
            <a:r>
              <a:t> </a:t>
            </a:r>
            <a:r>
              <a:rPr err="1"/>
              <a:t>стабильного</a:t>
            </a:r>
            <a:r>
              <a:t> </a:t>
            </a:r>
            <a:r>
              <a:rPr err="1"/>
              <a:t>недельного</a:t>
            </a:r>
            <a:r>
              <a:t> </a:t>
            </a:r>
            <a:r>
              <a:rPr err="1"/>
              <a:t>плана</a:t>
            </a:r>
            <a:r>
              <a:t>.</a:t>
            </a:r>
          </a:p>
          <a:p>
            <a:endParaRPr/>
          </a:p>
          <a:p>
            <a:r>
              <a:rPr err="1"/>
              <a:t>Нужен</a:t>
            </a:r>
            <a:r>
              <a:t> </a:t>
            </a:r>
            <a:r>
              <a:rPr err="1"/>
              <a:t>понятный</a:t>
            </a:r>
            <a:r>
              <a:t> </a:t>
            </a:r>
            <a:r>
              <a:rPr err="1"/>
              <a:t>веб‑сервис</a:t>
            </a:r>
            <a:r>
              <a:t>, </a:t>
            </a:r>
            <a:r>
              <a:rPr err="1"/>
              <a:t>который</a:t>
            </a:r>
            <a:r>
              <a:t> </a:t>
            </a:r>
            <a:r>
              <a:rPr err="1"/>
              <a:t>превращает</a:t>
            </a:r>
            <a:r>
              <a:t> </a:t>
            </a:r>
            <a:r>
              <a:rPr err="1"/>
              <a:t>цель</a:t>
            </a:r>
            <a:r>
              <a:t>, </a:t>
            </a:r>
            <a:r>
              <a:rPr err="1"/>
              <a:t>ограничения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привычки</a:t>
            </a:r>
            <a:r>
              <a:t> </a:t>
            </a:r>
            <a:r>
              <a:rPr err="1"/>
              <a:t>в</a:t>
            </a:r>
            <a:r>
              <a:t> </a:t>
            </a:r>
            <a:r>
              <a:rPr err="1"/>
              <a:t>готовый</a:t>
            </a:r>
            <a:r>
              <a:t> </a:t>
            </a:r>
            <a:r>
              <a:rPr err="1"/>
              <a:t>план</a:t>
            </a:r>
            <a:r>
              <a:t>: </a:t>
            </a:r>
            <a:r>
              <a:rPr err="1"/>
              <a:t>что</a:t>
            </a:r>
            <a:r>
              <a:t> </a:t>
            </a:r>
            <a:r>
              <a:rPr err="1"/>
              <a:t>есть</a:t>
            </a:r>
            <a:r>
              <a:t> </a:t>
            </a:r>
            <a:r>
              <a:rPr err="1"/>
              <a:t>сегодня</a:t>
            </a:r>
            <a:r>
              <a:t>, </a:t>
            </a:r>
            <a:r>
              <a:rPr err="1"/>
              <a:t>что</a:t>
            </a:r>
            <a:r>
              <a:t> </a:t>
            </a:r>
            <a:r>
              <a:rPr err="1"/>
              <a:t>готовить</a:t>
            </a:r>
            <a:r>
              <a:t> </a:t>
            </a:r>
            <a:r>
              <a:rPr err="1"/>
              <a:t>на</a:t>
            </a:r>
            <a:r>
              <a:t> </a:t>
            </a:r>
            <a:r>
              <a:rPr err="1"/>
              <a:t>неделю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что</a:t>
            </a:r>
            <a:r>
              <a:t> </a:t>
            </a:r>
            <a:r>
              <a:rPr lang="ru-RU"/>
              <a:t>по</a:t>
            </a:r>
            <a:r>
              <a:rPr err="1"/>
              <a:t>куп</a:t>
            </a:r>
            <a:r>
              <a:rPr lang="ru-RU"/>
              <a:t>а</a:t>
            </a:r>
            <a:r>
              <a:rPr err="1"/>
              <a:t>ть</a:t>
            </a:r>
            <a:r>
              <a:t>.</a:t>
            </a:r>
          </a:p>
        </p:txBody>
      </p:sp>
      <p:sp>
        <p:nvSpPr>
          <p:cNvPr id="16" name="Shape 14"/>
          <p:cNvSpPr/>
          <p:nvPr/>
        </p:nvSpPr>
        <p:spPr>
          <a:xfrm>
            <a:off x="6446520" y="1261871"/>
            <a:ext cx="4983480" cy="4864607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720840" y="1536192"/>
            <a:ext cx="2743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Цель работы</a:t>
            </a:r>
          </a:p>
        </p:txBody>
      </p:sp>
      <p:sp>
        <p:nvSpPr>
          <p:cNvPr id="18" name="Text 16"/>
          <p:cNvSpPr/>
          <p:nvPr/>
        </p:nvSpPr>
        <p:spPr>
          <a:xfrm>
            <a:off x="6720840" y="1993391"/>
            <a:ext cx="4343400" cy="2125811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r>
              <a:rPr err="1"/>
              <a:t>Разработать</a:t>
            </a:r>
            <a:r>
              <a:t> </a:t>
            </a:r>
            <a:r>
              <a:rPr err="1"/>
              <a:t>веб‑приложение</a:t>
            </a:r>
            <a:r>
              <a:t> Mealy </a:t>
            </a:r>
            <a:r>
              <a:rPr err="1"/>
              <a:t>для</a:t>
            </a:r>
            <a:r>
              <a:t> </a:t>
            </a:r>
            <a:r>
              <a:rPr err="1"/>
              <a:t>персонального</a:t>
            </a:r>
            <a:r>
              <a:t> </a:t>
            </a:r>
            <a:r>
              <a:rPr err="1"/>
              <a:t>планирования</a:t>
            </a:r>
            <a:r>
              <a:t> </a:t>
            </a:r>
            <a:r>
              <a:rPr err="1"/>
              <a:t>питания</a:t>
            </a:r>
            <a:r>
              <a:t>: </a:t>
            </a:r>
            <a:r>
              <a:rPr err="1"/>
              <a:t>сбор</a:t>
            </a:r>
            <a:r>
              <a:t> </a:t>
            </a:r>
            <a:r>
              <a:rPr err="1"/>
              <a:t>профиля</a:t>
            </a:r>
            <a:r>
              <a:t> </a:t>
            </a:r>
            <a:r>
              <a:rPr err="1"/>
              <a:t>пользователя</a:t>
            </a:r>
            <a:r>
              <a:t>, </a:t>
            </a:r>
            <a:r>
              <a:rPr err="1"/>
              <a:t>генерацию</a:t>
            </a:r>
            <a:r>
              <a:t> 7‑дневного </a:t>
            </a:r>
            <a:r>
              <a:rPr err="1"/>
              <a:t>плана</a:t>
            </a:r>
            <a:r>
              <a:t> </a:t>
            </a:r>
            <a:r>
              <a:rPr err="1"/>
              <a:t>из</a:t>
            </a:r>
            <a:r>
              <a:t> </a:t>
            </a:r>
            <a:r>
              <a:rPr err="1"/>
              <a:t>каталога</a:t>
            </a:r>
            <a:r>
              <a:t> </a:t>
            </a:r>
            <a:r>
              <a:rPr err="1"/>
              <a:t>рецептов</a:t>
            </a:r>
            <a:r>
              <a:t>, </a:t>
            </a:r>
            <a:r>
              <a:rPr err="1"/>
              <a:t>проверк</a:t>
            </a:r>
            <a:r>
              <a:rPr lang="ru-RU"/>
              <a:t>а</a:t>
            </a:r>
            <a:r>
              <a:t> </a:t>
            </a:r>
            <a:r>
              <a:rPr err="1"/>
              <a:t>калорий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макронутриентов</a:t>
            </a:r>
            <a:r>
              <a:t>, </a:t>
            </a:r>
            <a:r>
              <a:rPr lang="ru-RU"/>
              <a:t>создание </a:t>
            </a:r>
            <a:r>
              <a:rPr err="1"/>
              <a:t>списк</a:t>
            </a:r>
            <a:r>
              <a:rPr lang="ru-RU"/>
              <a:t>а</a:t>
            </a:r>
            <a:r>
              <a:t> </a:t>
            </a:r>
            <a:r>
              <a:rPr err="1"/>
              <a:t>покупок</a:t>
            </a:r>
            <a:r>
              <a:t>.</a:t>
            </a:r>
          </a:p>
        </p:txBody>
      </p:sp>
      <p:sp>
        <p:nvSpPr>
          <p:cNvPr id="19" name="Shape 17"/>
          <p:cNvSpPr/>
          <p:nvPr/>
        </p:nvSpPr>
        <p:spPr>
          <a:xfrm>
            <a:off x="6589718" y="4784464"/>
            <a:ext cx="1633844" cy="726998"/>
          </a:xfrm>
          <a:prstGeom prst="roundRect">
            <a:avLst>
              <a:gd name="adj" fmla="val 14286"/>
            </a:avLst>
          </a:prstGeom>
          <a:solidFill>
            <a:srgbClr val="FFF6ED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946372" y="4941038"/>
            <a:ext cx="920535" cy="41385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ru-RU"/>
              <a:t>Ремарка</a:t>
            </a:r>
            <a:endParaRPr/>
          </a:p>
        </p:txBody>
      </p:sp>
      <p:sp>
        <p:nvSpPr>
          <p:cNvPr id="21" name="Text 19"/>
          <p:cNvSpPr/>
          <p:nvPr/>
        </p:nvSpPr>
        <p:spPr>
          <a:xfrm>
            <a:off x="8321039" y="4548970"/>
            <a:ext cx="3041227" cy="1435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t>Mealy </a:t>
            </a:r>
            <a:r>
              <a:rPr err="1"/>
              <a:t>не</a:t>
            </a:r>
            <a:r>
              <a:t> </a:t>
            </a:r>
            <a:r>
              <a:rPr err="1"/>
              <a:t>заменяет</a:t>
            </a:r>
            <a:r>
              <a:t> </a:t>
            </a:r>
            <a:r>
              <a:rPr err="1"/>
              <a:t>врача</a:t>
            </a:r>
            <a:r>
              <a:t> </a:t>
            </a:r>
            <a:r>
              <a:rPr err="1"/>
              <a:t>или</a:t>
            </a:r>
            <a:r>
              <a:t> </a:t>
            </a:r>
            <a:r>
              <a:rPr err="1"/>
              <a:t>диетолога</a:t>
            </a:r>
            <a:r>
              <a:t>. Сервис </a:t>
            </a:r>
            <a:r>
              <a:rPr err="1"/>
              <a:t>формирует</a:t>
            </a:r>
            <a:r>
              <a:t> </a:t>
            </a:r>
            <a:r>
              <a:rPr err="1"/>
              <a:t>бытовой</a:t>
            </a:r>
            <a:r>
              <a:t> </a:t>
            </a:r>
            <a:r>
              <a:rPr err="1"/>
              <a:t>план</a:t>
            </a:r>
            <a:r>
              <a:t> </a:t>
            </a:r>
            <a:r>
              <a:rPr err="1"/>
              <a:t>питания</a:t>
            </a:r>
            <a:r>
              <a:t>, </a:t>
            </a:r>
            <a:r>
              <a:rPr err="1"/>
              <a:t>а</a:t>
            </a:r>
            <a:r>
              <a:t> </a:t>
            </a:r>
            <a:r>
              <a:rPr err="1"/>
              <a:t>не</a:t>
            </a:r>
            <a:r>
              <a:t> </a:t>
            </a:r>
            <a:r>
              <a:rPr err="1"/>
              <a:t>медицинское</a:t>
            </a:r>
            <a:r>
              <a:t> </a:t>
            </a:r>
            <a:r>
              <a:rPr err="1"/>
              <a:t>заключение</a:t>
            </a:r>
            <a:r>
              <a:t>.</a:t>
            </a: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2ED45D8F-3FDC-4E65-92B4-ECD22C06C4E9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52FF01-D573-4259-A191-71BF749005B9}"/>
              </a:ext>
            </a:extLst>
          </p:cNvPr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02 / 2</a:t>
            </a:r>
            <a:r>
              <a:rPr lang="ru-RU"/>
              <a:t>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048" y="-2490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483608" y="-2490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09688" y="-2490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20005" y="370053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200" err="1"/>
              <a:t>Объект</a:t>
            </a:r>
            <a:r>
              <a:rPr sz="2200"/>
              <a:t>, </a:t>
            </a:r>
            <a:r>
              <a:rPr sz="2200" err="1"/>
              <a:t>предмет</a:t>
            </a:r>
            <a:r>
              <a:rPr sz="2200"/>
              <a:t> </a:t>
            </a:r>
            <a:r>
              <a:rPr sz="2200" err="1"/>
              <a:t>и</a:t>
            </a:r>
            <a:r>
              <a:rPr sz="2200"/>
              <a:t> </a:t>
            </a:r>
            <a:r>
              <a:rPr sz="2200" err="1"/>
              <a:t>задачи</a:t>
            </a:r>
            <a:endParaRPr sz="220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0652760" cy="0"/>
          </a:xfrm>
          <a:prstGeom prst="line">
            <a:avLst/>
          </a:prstGeom>
          <a:noFill/>
          <a:ln w="889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85800" y="1261871"/>
            <a:ext cx="5138928" cy="1438993"/>
          </a:xfrm>
          <a:prstGeom prst="roundRect">
            <a:avLst>
              <a:gd name="adj" fmla="val 3478"/>
            </a:avLst>
          </a:prstGeom>
          <a:solidFill>
            <a:srgbClr val="EAF4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41832" y="1419353"/>
            <a:ext cx="1463040" cy="3959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t>Объект</a:t>
            </a:r>
          </a:p>
        </p:txBody>
      </p:sp>
      <p:sp>
        <p:nvSpPr>
          <p:cNvPr id="16" name="Text 14"/>
          <p:cNvSpPr/>
          <p:nvPr/>
        </p:nvSpPr>
        <p:spPr>
          <a:xfrm>
            <a:off x="941832" y="1849120"/>
            <a:ext cx="443484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r>
              <a:t>Веб‑приложение для персонального планирования питания и сопровождения пользователя в течение недели.</a:t>
            </a:r>
          </a:p>
        </p:txBody>
      </p:sp>
      <p:sp>
        <p:nvSpPr>
          <p:cNvPr id="17" name="Shape 15"/>
          <p:cNvSpPr/>
          <p:nvPr/>
        </p:nvSpPr>
        <p:spPr>
          <a:xfrm>
            <a:off x="589788" y="3729903"/>
            <a:ext cx="5138928" cy="1635589"/>
          </a:xfrm>
          <a:prstGeom prst="roundRect">
            <a:avLst>
              <a:gd name="adj" fmla="val 3030"/>
            </a:avLst>
          </a:prstGeom>
          <a:solidFill>
            <a:srgbClr val="E7F7F1"/>
          </a:solidFill>
          <a:ln w="12700">
            <a:solidFill>
              <a:srgbClr val="BFE8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08305" y="3776301"/>
            <a:ext cx="2105828" cy="4389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Предмет</a:t>
            </a:r>
          </a:p>
        </p:txBody>
      </p:sp>
      <p:sp>
        <p:nvSpPr>
          <p:cNvPr id="19" name="Text 17"/>
          <p:cNvSpPr/>
          <p:nvPr/>
        </p:nvSpPr>
        <p:spPr>
          <a:xfrm>
            <a:off x="908304" y="4223680"/>
            <a:ext cx="4552695" cy="109321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r>
              <a:rPr err="1"/>
              <a:t>Модели</a:t>
            </a:r>
            <a:r>
              <a:t> </a:t>
            </a:r>
            <a:r>
              <a:rPr err="1"/>
              <a:t>профиля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ограничений</a:t>
            </a:r>
            <a:r>
              <a:t>, </a:t>
            </a:r>
            <a:r>
              <a:rPr err="1"/>
              <a:t>подбор</a:t>
            </a:r>
            <a:r>
              <a:t> </a:t>
            </a:r>
            <a:r>
              <a:rPr err="1"/>
              <a:t>рецептов</a:t>
            </a:r>
            <a:r>
              <a:t>, </a:t>
            </a:r>
            <a:r>
              <a:rPr err="1"/>
              <a:t>генерация</a:t>
            </a:r>
            <a:r>
              <a:t> </a:t>
            </a:r>
            <a:r>
              <a:rPr err="1"/>
              <a:t>недельного</a:t>
            </a:r>
            <a:r>
              <a:t> </a:t>
            </a:r>
            <a:r>
              <a:rPr err="1"/>
              <a:t>плана</a:t>
            </a:r>
            <a:r>
              <a:t>, </a:t>
            </a:r>
            <a:r>
              <a:rPr err="1"/>
              <a:t>проверка</a:t>
            </a:r>
            <a:r>
              <a:t> </a:t>
            </a:r>
            <a:r>
              <a:rPr err="1"/>
              <a:t>нутриентов</a:t>
            </a:r>
            <a:r>
              <a:t>, </a:t>
            </a:r>
            <a:r>
              <a:rPr err="1"/>
              <a:t>пользовательский</a:t>
            </a:r>
            <a:r>
              <a:t> </a:t>
            </a:r>
            <a:r>
              <a:rPr err="1"/>
              <a:t>интерфейс</a:t>
            </a:r>
            <a:r>
              <a:t> </a:t>
            </a:r>
            <a:r>
              <a:rPr err="1"/>
              <a:t>и</a:t>
            </a:r>
            <a:r>
              <a:t> API.</a:t>
            </a:r>
          </a:p>
        </p:txBody>
      </p:sp>
      <p:sp>
        <p:nvSpPr>
          <p:cNvPr id="20" name="Text 18"/>
          <p:cNvSpPr/>
          <p:nvPr/>
        </p:nvSpPr>
        <p:spPr>
          <a:xfrm>
            <a:off x="640080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Задачи разработки</a:t>
            </a:r>
          </a:p>
        </p:txBody>
      </p:sp>
      <p:sp>
        <p:nvSpPr>
          <p:cNvPr id="21" name="Text 19"/>
          <p:cNvSpPr/>
          <p:nvPr/>
        </p:nvSpPr>
        <p:spPr>
          <a:xfrm>
            <a:off x="6400801" y="1700784"/>
            <a:ext cx="47548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/>
          </a:bodyPr>
          <a:lstStyle/>
          <a:p>
            <a:r>
              <a:rPr err="1"/>
              <a:t>Проанализировать</a:t>
            </a:r>
            <a:r>
              <a:t> </a:t>
            </a:r>
            <a:r>
              <a:rPr err="1"/>
              <a:t>предметную</a:t>
            </a:r>
            <a:r>
              <a:t> </a:t>
            </a:r>
            <a:r>
              <a:rPr err="1"/>
              <a:t>область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типовые</a:t>
            </a:r>
            <a:r>
              <a:t> </a:t>
            </a:r>
            <a:r>
              <a:rPr err="1"/>
              <a:t>сценарии</a:t>
            </a:r>
            <a:r>
              <a:t> </a:t>
            </a:r>
            <a:r>
              <a:rPr err="1"/>
              <a:t>планирования</a:t>
            </a:r>
            <a:r>
              <a:t> </a:t>
            </a:r>
            <a:r>
              <a:rPr err="1"/>
              <a:t>питания</a:t>
            </a:r>
            <a:r>
              <a:t>;</a:t>
            </a:r>
          </a:p>
          <a:p>
            <a:endParaRPr/>
          </a:p>
          <a:p>
            <a:r>
              <a:rPr err="1"/>
              <a:t>Спроектировать</a:t>
            </a:r>
            <a:r>
              <a:t> </a:t>
            </a:r>
            <a:r>
              <a:rPr err="1"/>
              <a:t>архитектуру</a:t>
            </a:r>
            <a:r>
              <a:rPr lang="ru-RU"/>
              <a:t>.</a:t>
            </a:r>
            <a:endParaRPr/>
          </a:p>
          <a:p>
            <a:endParaRPr/>
          </a:p>
          <a:p>
            <a:r>
              <a:rPr err="1"/>
              <a:t>Разработать</a:t>
            </a:r>
            <a:r>
              <a:t> </a:t>
            </a:r>
            <a:r>
              <a:rPr err="1"/>
              <a:t>структуру</a:t>
            </a:r>
            <a:r>
              <a:t> БД </a:t>
            </a:r>
            <a:r>
              <a:rPr err="1"/>
              <a:t>для</a:t>
            </a:r>
            <a:r>
              <a:t> </a:t>
            </a:r>
            <a:r>
              <a:rPr err="1"/>
              <a:t>пользователей</a:t>
            </a:r>
            <a:r>
              <a:t>, </a:t>
            </a:r>
            <a:r>
              <a:rPr err="1"/>
              <a:t>рецептов</a:t>
            </a:r>
            <a:r>
              <a:t>, </a:t>
            </a:r>
            <a:r>
              <a:rPr err="1"/>
              <a:t>планов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истории</a:t>
            </a:r>
            <a:r>
              <a:t> </a:t>
            </a:r>
            <a:r>
              <a:rPr err="1"/>
              <a:t>генераций</a:t>
            </a:r>
            <a:r>
              <a:t>;</a:t>
            </a:r>
          </a:p>
          <a:p>
            <a:endParaRPr/>
          </a:p>
          <a:p>
            <a:r>
              <a:rPr err="1"/>
              <a:t>Реализовать</a:t>
            </a:r>
            <a:r>
              <a:t> анкетирование, </a:t>
            </a:r>
            <a:r>
              <a:rPr err="1"/>
              <a:t>генерацию</a:t>
            </a:r>
            <a:r>
              <a:t> </a:t>
            </a:r>
            <a:r>
              <a:rPr err="1"/>
              <a:t>недели</a:t>
            </a:r>
            <a:r>
              <a:t>, </a:t>
            </a:r>
            <a:r>
              <a:rPr err="1"/>
              <a:t>экраны</a:t>
            </a:r>
            <a:r>
              <a:t> «Сегодня» / «Неделя» / «Рецепты» / «Покупки»;</a:t>
            </a:r>
          </a:p>
          <a:p>
            <a:endParaRPr/>
          </a:p>
          <a:p>
            <a:r>
              <a:t>Реализовать </a:t>
            </a:r>
            <a:r>
              <a:rPr err="1"/>
              <a:t>замену</a:t>
            </a:r>
            <a:r>
              <a:t> </a:t>
            </a:r>
            <a:r>
              <a:rPr err="1"/>
              <a:t>блюда</a:t>
            </a:r>
            <a:r>
              <a:t>, </a:t>
            </a:r>
            <a:r>
              <a:rPr err="1"/>
              <a:t>список</a:t>
            </a:r>
            <a:r>
              <a:t> </a:t>
            </a:r>
            <a:r>
              <a:rPr err="1"/>
              <a:t>покупок</a:t>
            </a:r>
            <a:r>
              <a:t>;</a:t>
            </a:r>
          </a:p>
          <a:p>
            <a:endParaRPr/>
          </a:p>
          <a:p>
            <a:r>
              <a:rPr err="1"/>
              <a:t>Показать</a:t>
            </a:r>
            <a:r>
              <a:t> </a:t>
            </a:r>
            <a:r>
              <a:rPr err="1"/>
              <a:t>результаты</a:t>
            </a:r>
            <a:r>
              <a:t> </a:t>
            </a:r>
            <a:r>
              <a:rPr err="1"/>
              <a:t>работы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направления</a:t>
            </a:r>
            <a:r>
              <a:t> </a:t>
            </a:r>
            <a:r>
              <a:rPr err="1"/>
              <a:t>развития</a:t>
            </a:r>
            <a:r>
              <a:t> </a:t>
            </a:r>
            <a:r>
              <a:rPr err="1"/>
              <a:t>системы</a:t>
            </a:r>
            <a:r>
              <a:t>.</a:t>
            </a: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865949E5-D245-4E80-850B-BE6FB3D65A46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739C1-70EE-4FF6-B00F-2EBB5F313B23}"/>
              </a:ext>
            </a:extLst>
          </p:cNvPr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03 / 2</a:t>
            </a:r>
            <a:r>
              <a:rPr lang="ru-RU"/>
              <a:t>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72"/>
            <a:ext cx="12191695" cy="652882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-9144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480560" y="-9144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06640" y="-9144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97145" y="433349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200" err="1"/>
              <a:t>Постановка</a:t>
            </a:r>
            <a:r>
              <a:rPr sz="2200"/>
              <a:t> </a:t>
            </a:r>
            <a:r>
              <a:rPr sz="2200" err="1"/>
              <a:t>задачи</a:t>
            </a:r>
            <a:r>
              <a:rPr sz="2200"/>
              <a:t> </a:t>
            </a:r>
            <a:r>
              <a:rPr sz="2200" err="1"/>
              <a:t>и</a:t>
            </a:r>
            <a:r>
              <a:rPr sz="2200"/>
              <a:t> </a:t>
            </a:r>
            <a:r>
              <a:rPr sz="2200" err="1"/>
              <a:t>границы</a:t>
            </a:r>
            <a:r>
              <a:rPr sz="2200"/>
              <a:t> </a:t>
            </a:r>
            <a:r>
              <a:rPr lang="ru-RU" sz="2200" err="1"/>
              <a:t>M</a:t>
            </a:r>
            <a:r>
              <a:rPr lang="en-US" sz="2200"/>
              <a:t>VP</a:t>
            </a:r>
            <a:endParaRPr sz="2200"/>
          </a:p>
        </p:txBody>
      </p:sp>
      <p:sp>
        <p:nvSpPr>
          <p:cNvPr id="12" name="Shape 10"/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86968" y="1067810"/>
            <a:ext cx="43891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Пользовательский сценарий</a:t>
            </a:r>
          </a:p>
        </p:txBody>
      </p:sp>
      <p:sp>
        <p:nvSpPr>
          <p:cNvPr id="15" name="Shape 13"/>
          <p:cNvSpPr/>
          <p:nvPr/>
        </p:nvSpPr>
        <p:spPr>
          <a:xfrm>
            <a:off x="768096" y="1579873"/>
            <a:ext cx="3383280" cy="1100027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14400" y="1726178"/>
            <a:ext cx="329184" cy="32918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1753610"/>
            <a:ext cx="3291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algn="ctr"/>
            <a:r>
              <a:t>1</a:t>
            </a:r>
          </a:p>
        </p:txBody>
      </p:sp>
      <p:sp>
        <p:nvSpPr>
          <p:cNvPr id="18" name="Text 16"/>
          <p:cNvSpPr/>
          <p:nvPr/>
        </p:nvSpPr>
        <p:spPr>
          <a:xfrm>
            <a:off x="1335024" y="1689602"/>
            <a:ext cx="26883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Анкета</a:t>
            </a:r>
          </a:p>
        </p:txBody>
      </p:sp>
      <p:sp>
        <p:nvSpPr>
          <p:cNvPr id="19" name="Text 17"/>
          <p:cNvSpPr/>
          <p:nvPr/>
        </p:nvSpPr>
        <p:spPr>
          <a:xfrm>
            <a:off x="932688" y="2110225"/>
            <a:ext cx="3054096" cy="516809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sz="1600" err="1"/>
              <a:t>цель</a:t>
            </a:r>
            <a:r>
              <a:rPr sz="1600"/>
              <a:t>, </a:t>
            </a:r>
            <a:r>
              <a:rPr sz="1600" err="1"/>
              <a:t>активность</a:t>
            </a:r>
            <a:r>
              <a:rPr sz="1600"/>
              <a:t>, </a:t>
            </a:r>
            <a:r>
              <a:rPr sz="1600" err="1"/>
              <a:t>аллергии</a:t>
            </a:r>
            <a:r>
              <a:rPr sz="1600"/>
              <a:t>, </a:t>
            </a:r>
            <a:r>
              <a:rPr sz="1600" err="1"/>
              <a:t>предпочтения</a:t>
            </a:r>
            <a:endParaRPr sz="1600"/>
          </a:p>
        </p:txBody>
      </p:sp>
      <p:sp>
        <p:nvSpPr>
          <p:cNvPr id="20" name="Shape 18"/>
          <p:cNvSpPr/>
          <p:nvPr/>
        </p:nvSpPr>
        <p:spPr>
          <a:xfrm>
            <a:off x="4425696" y="1579873"/>
            <a:ext cx="3383280" cy="1074829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0" y="1726178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0" y="1753610"/>
            <a:ext cx="3291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algn="ctr"/>
            <a:r>
              <a:t>2</a:t>
            </a:r>
          </a:p>
        </p:txBody>
      </p:sp>
      <p:sp>
        <p:nvSpPr>
          <p:cNvPr id="23" name="Text 21"/>
          <p:cNvSpPr/>
          <p:nvPr/>
        </p:nvSpPr>
        <p:spPr>
          <a:xfrm>
            <a:off x="4992624" y="1689602"/>
            <a:ext cx="26883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Генерация</a:t>
            </a:r>
          </a:p>
        </p:txBody>
      </p:sp>
      <p:sp>
        <p:nvSpPr>
          <p:cNvPr id="24" name="Text 22"/>
          <p:cNvSpPr/>
          <p:nvPr/>
        </p:nvSpPr>
        <p:spPr>
          <a:xfrm>
            <a:off x="4586815" y="2097922"/>
            <a:ext cx="3218688" cy="489377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r>
              <a:rPr sz="1600" dirty="0" err="1"/>
              <a:t>подбор</a:t>
            </a:r>
            <a:r>
              <a:rPr sz="1600" dirty="0"/>
              <a:t> </a:t>
            </a:r>
            <a:r>
              <a:rPr sz="1600" dirty="0" err="1"/>
              <a:t>рецептов</a:t>
            </a:r>
            <a:r>
              <a:rPr sz="1600" dirty="0"/>
              <a:t> </a:t>
            </a:r>
            <a:r>
              <a:rPr sz="1600" dirty="0" err="1"/>
              <a:t>и</a:t>
            </a:r>
            <a:r>
              <a:rPr sz="1600" dirty="0"/>
              <a:t> </a:t>
            </a:r>
            <a:r>
              <a:rPr sz="1600" dirty="0" err="1"/>
              <a:t>баланс</a:t>
            </a:r>
            <a:r>
              <a:rPr sz="1600" dirty="0"/>
              <a:t> </a:t>
            </a:r>
            <a:r>
              <a:rPr sz="1600" dirty="0" err="1"/>
              <a:t>недели</a:t>
            </a:r>
            <a:endParaRPr sz="1600" dirty="0"/>
          </a:p>
        </p:txBody>
      </p:sp>
      <p:sp>
        <p:nvSpPr>
          <p:cNvPr id="25" name="Shape 23"/>
          <p:cNvSpPr/>
          <p:nvPr/>
        </p:nvSpPr>
        <p:spPr>
          <a:xfrm>
            <a:off x="8083295" y="1579874"/>
            <a:ext cx="3449489" cy="10748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229600" y="1726178"/>
            <a:ext cx="329184" cy="3291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229600" y="1753610"/>
            <a:ext cx="3291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algn="ctr"/>
            <a:r>
              <a:t>3</a:t>
            </a:r>
          </a:p>
        </p:txBody>
      </p:sp>
      <p:sp>
        <p:nvSpPr>
          <p:cNvPr id="28" name="Text 26"/>
          <p:cNvSpPr/>
          <p:nvPr/>
        </p:nvSpPr>
        <p:spPr>
          <a:xfrm>
            <a:off x="8650224" y="1689602"/>
            <a:ext cx="26883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Использование</a:t>
            </a:r>
          </a:p>
        </p:txBody>
      </p:sp>
      <p:sp>
        <p:nvSpPr>
          <p:cNvPr id="29" name="Text 27"/>
          <p:cNvSpPr/>
          <p:nvPr/>
        </p:nvSpPr>
        <p:spPr>
          <a:xfrm>
            <a:off x="8229600" y="2110225"/>
            <a:ext cx="3054096" cy="477073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r>
              <a:rPr sz="1600"/>
              <a:t>«</a:t>
            </a:r>
            <a:r>
              <a:rPr sz="1600" err="1"/>
              <a:t>Сегодня</a:t>
            </a:r>
            <a:r>
              <a:rPr sz="1600"/>
              <a:t>», </a:t>
            </a:r>
            <a:r>
              <a:rPr sz="1600" err="1"/>
              <a:t>рецепты</a:t>
            </a:r>
            <a:r>
              <a:rPr sz="1600"/>
              <a:t>, </a:t>
            </a:r>
            <a:r>
              <a:rPr sz="1600" err="1"/>
              <a:t>покупки</a:t>
            </a:r>
            <a:r>
              <a:rPr sz="1600"/>
              <a:t>, </a:t>
            </a:r>
            <a:r>
              <a:rPr sz="1600" err="1"/>
              <a:t>календарь</a:t>
            </a:r>
            <a:endParaRPr sz="1600"/>
          </a:p>
        </p:txBody>
      </p:sp>
      <p:sp>
        <p:nvSpPr>
          <p:cNvPr id="30" name="Shape 28"/>
          <p:cNvSpPr/>
          <p:nvPr/>
        </p:nvSpPr>
        <p:spPr>
          <a:xfrm>
            <a:off x="4151376" y="2073650"/>
            <a:ext cx="274320" cy="0"/>
          </a:xfrm>
          <a:prstGeom prst="line">
            <a:avLst/>
          </a:prstGeom>
          <a:noFill/>
          <a:ln w="19050">
            <a:solidFill>
              <a:srgbClr val="5F68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808976" y="2073650"/>
            <a:ext cx="274320" cy="0"/>
          </a:xfrm>
          <a:prstGeom prst="line">
            <a:avLst/>
          </a:prstGeom>
          <a:noFill/>
          <a:ln w="19050">
            <a:solidFill>
              <a:srgbClr val="5F68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68096" y="2780485"/>
            <a:ext cx="5074920" cy="290281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24127" y="2813312"/>
            <a:ext cx="2011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Реализовано</a:t>
            </a:r>
          </a:p>
        </p:txBody>
      </p:sp>
      <p:sp>
        <p:nvSpPr>
          <p:cNvPr id="34" name="Text 32"/>
          <p:cNvSpPr/>
          <p:nvPr/>
        </p:nvSpPr>
        <p:spPr>
          <a:xfrm>
            <a:off x="1024127" y="3206503"/>
            <a:ext cx="4624122" cy="243229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dirty="0" err="1"/>
              <a:t>Профиль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анкетирование</a:t>
            </a:r>
            <a:r>
              <a:rPr dirty="0"/>
              <a:t>;</a:t>
            </a:r>
          </a:p>
          <a:p>
            <a:r>
              <a:rPr dirty="0" err="1"/>
              <a:t>Генерация</a:t>
            </a:r>
            <a:r>
              <a:rPr dirty="0"/>
              <a:t> 7‑дневного </a:t>
            </a:r>
            <a:r>
              <a:rPr dirty="0" err="1"/>
              <a:t>плана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рецептов</a:t>
            </a:r>
            <a:r>
              <a:rPr dirty="0"/>
              <a:t>;</a:t>
            </a:r>
          </a:p>
          <a:p>
            <a:r>
              <a:rPr dirty="0" err="1"/>
              <a:t>Экран</a:t>
            </a:r>
            <a:r>
              <a:rPr dirty="0"/>
              <a:t> </a:t>
            </a:r>
            <a:r>
              <a:rPr lang="ru-RU" dirty="0"/>
              <a:t>Сегодня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прогрессом</a:t>
            </a:r>
            <a:r>
              <a:rPr dirty="0"/>
              <a:t> </a:t>
            </a:r>
            <a:r>
              <a:rPr dirty="0" err="1"/>
              <a:t>дня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ближайшим</a:t>
            </a:r>
            <a:r>
              <a:rPr dirty="0"/>
              <a:t> </a:t>
            </a:r>
            <a:r>
              <a:rPr dirty="0" err="1"/>
              <a:t>приёмом</a:t>
            </a:r>
            <a:r>
              <a:rPr dirty="0"/>
              <a:t> </a:t>
            </a:r>
            <a:r>
              <a:rPr dirty="0" err="1"/>
              <a:t>пищи</a:t>
            </a:r>
            <a:r>
              <a:rPr dirty="0"/>
              <a:t>;</a:t>
            </a:r>
            <a:endParaRPr lang="ru-RU" dirty="0"/>
          </a:p>
          <a:p>
            <a:r>
              <a:rPr lang="ru-RU" dirty="0"/>
              <a:t>Экраны «Неделя», «Покупки», «Профиль».</a:t>
            </a:r>
            <a:endParaRPr lang="en-US" dirty="0"/>
          </a:p>
          <a:p>
            <a:endParaRPr dirty="0"/>
          </a:p>
        </p:txBody>
      </p:sp>
      <p:sp>
        <p:nvSpPr>
          <p:cNvPr id="35" name="Shape 33"/>
          <p:cNvSpPr/>
          <p:nvPr/>
        </p:nvSpPr>
        <p:spPr>
          <a:xfrm>
            <a:off x="6373368" y="2785881"/>
            <a:ext cx="5093208" cy="289741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629400" y="2793669"/>
            <a:ext cx="2103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t>Не заявляется</a:t>
            </a:r>
          </a:p>
        </p:txBody>
      </p:sp>
      <p:sp>
        <p:nvSpPr>
          <p:cNvPr id="37" name="Text 35"/>
          <p:cNvSpPr/>
          <p:nvPr/>
        </p:nvSpPr>
        <p:spPr>
          <a:xfrm>
            <a:off x="6629400" y="3206504"/>
            <a:ext cx="434340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err="1"/>
              <a:t>Медицинская</a:t>
            </a:r>
            <a:r>
              <a:t> </a:t>
            </a:r>
            <a:r>
              <a:rPr err="1"/>
              <a:t>диагностика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назначение</a:t>
            </a:r>
            <a:r>
              <a:t> </a:t>
            </a:r>
            <a:r>
              <a:rPr err="1"/>
              <a:t>лечебных</a:t>
            </a:r>
            <a:r>
              <a:t> </a:t>
            </a:r>
            <a:r>
              <a:rPr err="1"/>
              <a:t>диет</a:t>
            </a:r>
            <a:r>
              <a:t>;</a:t>
            </a:r>
          </a:p>
          <a:p>
            <a:r>
              <a:rPr err="1"/>
              <a:t>Полная</a:t>
            </a:r>
            <a:r>
              <a:t> </a:t>
            </a:r>
            <a:r>
              <a:rPr err="1"/>
              <a:t>замена</a:t>
            </a:r>
            <a:r>
              <a:t> </a:t>
            </a:r>
            <a:r>
              <a:rPr err="1"/>
              <a:t>профессионального</a:t>
            </a:r>
            <a:r>
              <a:t> </a:t>
            </a:r>
            <a:r>
              <a:rPr err="1"/>
              <a:t>нутрициолога</a:t>
            </a:r>
            <a:r>
              <a:t>;</a:t>
            </a:r>
          </a:p>
          <a:p>
            <a:r>
              <a:rPr err="1"/>
              <a:t>Гарантия</a:t>
            </a:r>
            <a:r>
              <a:t> </a:t>
            </a:r>
            <a:r>
              <a:rPr err="1"/>
              <a:t>идеального</a:t>
            </a:r>
            <a:r>
              <a:t> </a:t>
            </a:r>
            <a:r>
              <a:rPr err="1"/>
              <a:t>совпадения</a:t>
            </a:r>
            <a:r>
              <a:t> </a:t>
            </a:r>
            <a:r>
              <a:rPr err="1"/>
              <a:t>плана</a:t>
            </a:r>
            <a:r>
              <a:t> </a:t>
            </a:r>
            <a:r>
              <a:rPr err="1"/>
              <a:t>с</a:t>
            </a:r>
            <a:r>
              <a:t> </a:t>
            </a:r>
            <a:r>
              <a:rPr err="1"/>
              <a:t>индивидуальной</a:t>
            </a:r>
            <a:r>
              <a:t> </a:t>
            </a:r>
            <a:r>
              <a:rPr err="1"/>
              <a:t>биологией</a:t>
            </a:r>
            <a:r>
              <a:t> </a:t>
            </a:r>
            <a:r>
              <a:rPr err="1"/>
              <a:t>пользователя</a:t>
            </a:r>
            <a:r>
              <a:t>.</a:t>
            </a:r>
          </a:p>
        </p:txBody>
      </p:sp>
      <p:sp>
        <p:nvSpPr>
          <p:cNvPr id="38" name="Rectangle 23">
            <a:extLst>
              <a:ext uri="{FF2B5EF4-FFF2-40B4-BE49-F238E27FC236}">
                <a16:creationId xmlns:a16="http://schemas.microsoft.com/office/drawing/2014/main" id="{23BA6B9C-3897-4F23-A603-7BA6139CDF97}"/>
              </a:ext>
            </a:extLst>
          </p:cNvPr>
          <p:cNvSpPr/>
          <p:nvPr/>
        </p:nvSpPr>
        <p:spPr>
          <a:xfrm>
            <a:off x="816864" y="2785881"/>
            <a:ext cx="73152" cy="2771642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7E431172-7744-44C5-92DF-ADD2DE7EEAA1}"/>
              </a:ext>
            </a:extLst>
          </p:cNvPr>
          <p:cNvSpPr/>
          <p:nvPr/>
        </p:nvSpPr>
        <p:spPr>
          <a:xfrm>
            <a:off x="6428232" y="2785881"/>
            <a:ext cx="73152" cy="2771640"/>
          </a:xfrm>
          <a:prstGeom prst="rect">
            <a:avLst/>
          </a:prstGeom>
          <a:solidFill>
            <a:srgbClr val="C2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0">
            <a:extLst>
              <a:ext uri="{FF2B5EF4-FFF2-40B4-BE49-F238E27FC236}">
                <a16:creationId xmlns:a16="http://schemas.microsoft.com/office/drawing/2014/main" id="{20287E8B-EF18-4D12-9B29-79CAE4857FE8}"/>
              </a:ext>
            </a:extLst>
          </p:cNvPr>
          <p:cNvSpPr/>
          <p:nvPr/>
        </p:nvSpPr>
        <p:spPr>
          <a:xfrm>
            <a:off x="697145" y="5774737"/>
            <a:ext cx="1083564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825195-BB81-4606-83E0-2FF50566B09A}"/>
              </a:ext>
            </a:extLst>
          </p:cNvPr>
          <p:cNvSpPr txBox="1"/>
          <p:nvPr/>
        </p:nvSpPr>
        <p:spPr>
          <a:xfrm>
            <a:off x="948605" y="5739383"/>
            <a:ext cx="103327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err="1"/>
              <a:t>Рабочее</a:t>
            </a:r>
            <a:r>
              <a:t> </a:t>
            </a:r>
            <a:r>
              <a:rPr err="1"/>
              <a:t>определение</a:t>
            </a:r>
            <a:r>
              <a:t> </a:t>
            </a:r>
            <a:r>
              <a:rPr err="1"/>
              <a:t>плана</a:t>
            </a:r>
            <a:r>
              <a:t>: </a:t>
            </a:r>
            <a:r>
              <a:rPr err="1"/>
              <a:t>набор</a:t>
            </a:r>
            <a:r>
              <a:t> </a:t>
            </a:r>
            <a:r>
              <a:rPr err="1"/>
              <a:t>проверенных</a:t>
            </a:r>
            <a:r>
              <a:t> </a:t>
            </a:r>
            <a:r>
              <a:rPr err="1"/>
              <a:t>рецептов</a:t>
            </a:r>
            <a:r>
              <a:t> </a:t>
            </a:r>
            <a:r>
              <a:rPr err="1"/>
              <a:t>на</a:t>
            </a:r>
            <a:r>
              <a:t> 7 </a:t>
            </a:r>
            <a:r>
              <a:rPr err="1"/>
              <a:t>дней</a:t>
            </a:r>
            <a:r>
              <a:t> </a:t>
            </a:r>
            <a:r>
              <a:rPr err="1"/>
              <a:t>с</a:t>
            </a:r>
            <a:r>
              <a:t> </a:t>
            </a:r>
            <a:r>
              <a:rPr err="1"/>
              <a:t>контролем</a:t>
            </a:r>
            <a:r>
              <a:t> </a:t>
            </a:r>
            <a:r>
              <a:rPr err="1"/>
              <a:t>калорий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макронутриентов</a:t>
            </a:r>
            <a:r>
              <a:t> </a:t>
            </a:r>
            <a:r>
              <a:rPr err="1"/>
              <a:t>в</a:t>
            </a:r>
            <a:r>
              <a:t> </a:t>
            </a:r>
            <a:r>
              <a:rPr err="1"/>
              <a:t>допустимых</a:t>
            </a:r>
            <a:r>
              <a:t> </a:t>
            </a:r>
            <a:r>
              <a:rPr err="1"/>
              <a:t>пределах</a:t>
            </a:r>
            <a: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B37E79-5FC2-458B-B6AA-F4297FED3E3E}"/>
              </a:ext>
            </a:extLst>
          </p:cNvPr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04 / 2</a:t>
            </a:r>
            <a:r>
              <a:rPr lang="ru-RU"/>
              <a:t>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F4544FB0-6265-4897-9B29-740F699B632A}"/>
              </a:ext>
            </a:extLst>
          </p:cNvPr>
          <p:cNvSpPr/>
          <p:nvPr/>
        </p:nvSpPr>
        <p:spPr>
          <a:xfrm>
            <a:off x="0" y="61649"/>
            <a:ext cx="12191695" cy="6796351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22874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dirty="0" err="1"/>
              <a:t>Данные</a:t>
            </a:r>
            <a:r>
              <a:rPr sz="2200" dirty="0"/>
              <a:t> </a:t>
            </a:r>
            <a:r>
              <a:rPr sz="2200" dirty="0" err="1"/>
              <a:t>профиля</a:t>
            </a:r>
            <a:r>
              <a:rPr sz="2200" dirty="0"/>
              <a:t> </a:t>
            </a:r>
            <a:r>
              <a:rPr sz="2200" dirty="0" err="1"/>
              <a:t>и</a:t>
            </a:r>
            <a:r>
              <a:rPr sz="2200" dirty="0"/>
              <a:t> </a:t>
            </a:r>
            <a:r>
              <a:rPr sz="2200" dirty="0" err="1"/>
              <a:t>плана</a:t>
            </a:r>
            <a:r>
              <a:rPr sz="2200" dirty="0"/>
              <a:t> </a:t>
            </a:r>
            <a:r>
              <a:rPr sz="2200" dirty="0" err="1"/>
              <a:t>питания</a:t>
            </a:r>
            <a:endParaRPr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05 / 2</a:t>
            </a:r>
            <a:r>
              <a:rPr lang="ru-RU"/>
              <a:t>0</a:t>
            </a:r>
            <a:endParaRPr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0212939-BC5F-444F-BADE-FE3C7F3B3CE0}"/>
              </a:ext>
            </a:extLst>
          </p:cNvPr>
          <p:cNvSpPr/>
          <p:nvPr/>
        </p:nvSpPr>
        <p:spPr>
          <a:xfrm>
            <a:off x="0" y="-11503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40285753-7AB9-4581-ADA7-23FE436FE9FD}"/>
              </a:ext>
            </a:extLst>
          </p:cNvPr>
          <p:cNvSpPr/>
          <p:nvPr/>
        </p:nvSpPr>
        <p:spPr>
          <a:xfrm>
            <a:off x="4480560" y="-11503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B8CF0044-E14D-459F-B0A5-979845A3C497}"/>
              </a:ext>
            </a:extLst>
          </p:cNvPr>
          <p:cNvSpPr/>
          <p:nvPr/>
        </p:nvSpPr>
        <p:spPr>
          <a:xfrm>
            <a:off x="7406640" y="-11503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B3656BF-C6A6-4665-95BF-392727A5A71D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127588"/>
            <a:ext cx="10789920" cy="350865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 dirty="0" err="1">
                <a:solidFill>
                  <a:srgbClr val="000000"/>
                </a:solidFill>
                <a:latin typeface="Arial"/>
              </a:rPr>
              <a:t>Таблица</a:t>
            </a:r>
            <a:r>
              <a:rPr b="0" dirty="0">
                <a:solidFill>
                  <a:srgbClr val="000000"/>
                </a:solidFill>
                <a:latin typeface="Arial"/>
              </a:rPr>
              <a:t> 1 — </a:t>
            </a:r>
            <a:r>
              <a:rPr b="0" dirty="0" err="1">
                <a:solidFill>
                  <a:srgbClr val="000000"/>
                </a:solidFill>
                <a:latin typeface="Arial"/>
              </a:rPr>
              <a:t>цели</a:t>
            </a:r>
            <a:r>
              <a:rPr b="0" dirty="0">
                <a:solidFill>
                  <a:srgbClr val="000000"/>
                </a:solidFill>
                <a:latin typeface="Arial"/>
              </a:rPr>
              <a:t>, </a:t>
            </a:r>
            <a:r>
              <a:rPr b="0" dirty="0" err="1">
                <a:solidFill>
                  <a:srgbClr val="000000"/>
                </a:solidFill>
                <a:latin typeface="Arial"/>
              </a:rPr>
              <a:t>ограничения</a:t>
            </a:r>
            <a:r>
              <a:rPr b="0" dirty="0">
                <a:solidFill>
                  <a:srgbClr val="00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000000"/>
                </a:solidFill>
                <a:latin typeface="Arial"/>
              </a:rPr>
              <a:t>и</a:t>
            </a:r>
            <a:r>
              <a:rPr b="0" dirty="0">
                <a:solidFill>
                  <a:srgbClr val="00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000000"/>
                </a:solidFill>
                <a:latin typeface="Arial"/>
              </a:rPr>
              <a:t>роль</a:t>
            </a:r>
            <a:r>
              <a:rPr b="0" dirty="0">
                <a:solidFill>
                  <a:srgbClr val="00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000000"/>
                </a:solidFill>
                <a:latin typeface="Arial"/>
              </a:rPr>
              <a:t>данных</a:t>
            </a:r>
            <a:r>
              <a:rPr b="0" dirty="0">
                <a:solidFill>
                  <a:srgbClr val="00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000000"/>
                </a:solidFill>
                <a:latin typeface="Arial"/>
              </a:rPr>
              <a:t>в</a:t>
            </a:r>
            <a:r>
              <a:rPr b="0" dirty="0">
                <a:solidFill>
                  <a:srgbClr val="00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000000"/>
                </a:solidFill>
                <a:latin typeface="Arial"/>
              </a:rPr>
              <a:t>генерации</a:t>
            </a:r>
            <a:r>
              <a:rPr b="0" dirty="0">
                <a:solidFill>
                  <a:srgbClr val="00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000000"/>
                </a:solidFill>
                <a:latin typeface="Arial"/>
              </a:rPr>
              <a:t>плана</a:t>
            </a:r>
            <a:endParaRPr b="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91D1FD5C-CE8F-4FD2-5AE8-15D967F7E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553199"/>
              </p:ext>
            </p:extLst>
          </p:nvPr>
        </p:nvGraphicFramePr>
        <p:xfrm>
          <a:off x="640080" y="1645920"/>
          <a:ext cx="11043920" cy="4069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0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7564">
                <a:tc>
                  <a:txBody>
                    <a:bodyPr/>
                    <a:lstStyle/>
                    <a:p>
                      <a:r>
                        <a:t>Категория</a:t>
                      </a:r>
                    </a:p>
                  </a:txBody>
                  <a:tcPr marL="73152" marR="73152" marT="36576" marB="3657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Примеры</a:t>
                      </a:r>
                    </a:p>
                  </a:txBody>
                  <a:tcPr marL="73152" marR="73152" marT="36576" marB="3657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Роль в системе</a:t>
                      </a:r>
                    </a:p>
                  </a:txBody>
                  <a:tcPr marL="73152" marR="73152" marT="36576" marB="3657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564">
                <a:tc>
                  <a:txBody>
                    <a:bodyPr/>
                    <a:lstStyle/>
                    <a:p>
                      <a:r>
                        <a:t>Профиль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err="1"/>
                        <a:t>возраст</a:t>
                      </a:r>
                      <a:r>
                        <a:t>, </a:t>
                      </a:r>
                      <a:r>
                        <a:rPr err="1"/>
                        <a:t>вес</a:t>
                      </a:r>
                      <a:r>
                        <a:t>, </a:t>
                      </a:r>
                      <a:r>
                        <a:rPr err="1"/>
                        <a:t>рост</a:t>
                      </a:r>
                      <a:r>
                        <a:t>, </a:t>
                      </a:r>
                      <a:r>
                        <a:rPr err="1"/>
                        <a:t>пол</a:t>
                      </a:r>
                      <a:r>
                        <a:t>, </a:t>
                      </a:r>
                      <a:r>
                        <a:rPr err="1"/>
                        <a:t>активность</a:t>
                      </a:r>
                      <a:endParaRPr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расчёт целевых калорий и ритма дня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825">
                <a:tc>
                  <a:txBody>
                    <a:bodyPr/>
                    <a:lstStyle/>
                    <a:p>
                      <a:r>
                        <a:rPr err="1"/>
                        <a:t>Цели</a:t>
                      </a:r>
                      <a:r>
                        <a:t> </a:t>
                      </a:r>
                      <a:r>
                        <a:rPr err="1"/>
                        <a:t>и</a:t>
                      </a:r>
                      <a:r>
                        <a:t> </a:t>
                      </a:r>
                      <a:r>
                        <a:rPr err="1"/>
                        <a:t>ограничения</a:t>
                      </a:r>
                      <a:endParaRPr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lang="ru-RU" sz="1800"/>
                        <a:t>снижение массы, поддержание формы, набор массы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фильтрация каталога рецептов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564">
                <a:tc>
                  <a:txBody>
                    <a:bodyPr/>
                    <a:lstStyle/>
                    <a:p>
                      <a:r>
                        <a:t>Расписание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err="1"/>
                        <a:t>завтрак</a:t>
                      </a:r>
                      <a:r>
                        <a:t>, </a:t>
                      </a:r>
                      <a:r>
                        <a:rPr err="1"/>
                        <a:t>обед</a:t>
                      </a:r>
                      <a:r>
                        <a:t>, </a:t>
                      </a:r>
                      <a:r>
                        <a:rPr err="1"/>
                        <a:t>ужин</a:t>
                      </a:r>
                      <a:r>
                        <a:t>, </a:t>
                      </a:r>
                      <a:r>
                        <a:rPr err="1"/>
                        <a:t>перекус</a:t>
                      </a:r>
                      <a:endParaRPr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распределение калорий по дню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564">
                <a:tc>
                  <a:txBody>
                    <a:bodyPr/>
                    <a:lstStyle/>
                    <a:p>
                      <a:r>
                        <a:t>План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блюда, КБЖУ, ингредиенты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основа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экранов</a:t>
                      </a:r>
                      <a:r>
                        <a:rPr dirty="0"/>
                        <a:t> </a:t>
                      </a:r>
                      <a:r>
                        <a:rPr lang="ru-RU" dirty="0"/>
                        <a:t>Сегодня</a:t>
                      </a:r>
                      <a:r>
                        <a:rPr dirty="0"/>
                        <a:t>, </a:t>
                      </a:r>
                      <a:r>
                        <a:rPr lang="ru-RU" dirty="0"/>
                        <a:t>Неделя</a:t>
                      </a:r>
                      <a:r>
                        <a:rPr dirty="0"/>
                        <a:t>, </a:t>
                      </a:r>
                      <a:r>
                        <a:rPr lang="ru-RU" dirty="0"/>
                        <a:t>Покупки</a:t>
                      </a:r>
                      <a:endParaRPr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186AE67A-B27C-4133-B899-17738BCE5AE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71178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dirty="0" err="1"/>
              <a:t>Сравнение</a:t>
            </a:r>
            <a:r>
              <a:rPr sz="2200" dirty="0"/>
              <a:t> </a:t>
            </a:r>
            <a:r>
              <a:rPr sz="2200" dirty="0" err="1"/>
              <a:t>подходов</a:t>
            </a:r>
            <a:r>
              <a:rPr sz="2200" dirty="0"/>
              <a:t> </a:t>
            </a:r>
            <a:r>
              <a:rPr sz="2200" dirty="0" err="1"/>
              <a:t>к</a:t>
            </a:r>
            <a:r>
              <a:rPr sz="2200" dirty="0"/>
              <a:t> </a:t>
            </a:r>
            <a:r>
              <a:rPr sz="2200" dirty="0" err="1"/>
              <a:t>планированию</a:t>
            </a:r>
            <a:r>
              <a:rPr sz="2200" dirty="0"/>
              <a:t> </a:t>
            </a:r>
            <a:r>
              <a:rPr sz="2200" dirty="0" err="1"/>
              <a:t>питания</a:t>
            </a:r>
            <a:endParaRPr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06 / 2</a:t>
            </a:r>
            <a:r>
              <a:rPr lang="ru-RU"/>
              <a:t>0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7899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dirty="0" err="1"/>
              <a:t>Таблица</a:t>
            </a:r>
            <a:r>
              <a:rPr dirty="0"/>
              <a:t> 2 —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выбран</a:t>
            </a:r>
            <a:r>
              <a:rPr lang="ru-RU" dirty="0"/>
              <a:t>а разработка</a:t>
            </a:r>
            <a:r>
              <a:rPr dirty="0"/>
              <a:t> </a:t>
            </a:r>
            <a:r>
              <a:rPr dirty="0" err="1"/>
              <a:t>собственн</a:t>
            </a:r>
            <a:r>
              <a:rPr lang="ru-RU" dirty="0"/>
              <a:t>ого веб-сервиса </a:t>
            </a:r>
            <a:r>
              <a:rPr dirty="0"/>
              <a:t>Mealy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20960"/>
              </p:ext>
            </p:extLst>
          </p:nvPr>
        </p:nvGraphicFramePr>
        <p:xfrm>
          <a:off x="640080" y="1645921"/>
          <a:ext cx="10972800" cy="4249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2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9663">
                <a:tc>
                  <a:txBody>
                    <a:bodyPr/>
                    <a:lstStyle/>
                    <a:p>
                      <a:r>
                        <a:t>Подход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Преимущества</a:t>
                      </a:r>
                      <a:endParaRPr dirty="0"/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err="1"/>
                        <a:t>Ограничения</a:t>
                      </a:r>
                      <a:endParaRPr/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947">
                <a:tc>
                  <a:txBody>
                    <a:bodyPr/>
                    <a:lstStyle/>
                    <a:p>
                      <a:r>
                        <a:t>Табличный калькулятор калорий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точный ручной контроль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высокая нагрузка на пользователя, нет готового плана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663">
                <a:tc>
                  <a:txBody>
                    <a:bodyPr/>
                    <a:lstStyle/>
                    <a:p>
                      <a:r>
                        <a:t>Чат с LLM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гибкие ответы и советы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err="1"/>
                        <a:t>нестабильная</a:t>
                      </a:r>
                      <a:r>
                        <a:t> </a:t>
                      </a:r>
                      <a:r>
                        <a:rPr err="1"/>
                        <a:t>структура</a:t>
                      </a:r>
                      <a:r>
                        <a:t>, </a:t>
                      </a:r>
                      <a:r>
                        <a:rPr err="1"/>
                        <a:t>сложно</a:t>
                      </a:r>
                      <a:r>
                        <a:t> </a:t>
                      </a:r>
                      <a:r>
                        <a:rPr err="1"/>
                        <a:t>хранить</a:t>
                      </a:r>
                      <a:r>
                        <a:t> </a:t>
                      </a:r>
                      <a:r>
                        <a:rPr err="1"/>
                        <a:t>неделю</a:t>
                      </a:r>
                      <a:r>
                        <a:t> </a:t>
                      </a:r>
                      <a:r>
                        <a:rPr err="1"/>
                        <a:t>как</a:t>
                      </a:r>
                      <a:r>
                        <a:t> </a:t>
                      </a:r>
                      <a:r>
                        <a:rPr err="1"/>
                        <a:t>единый</a:t>
                      </a:r>
                      <a:r>
                        <a:t> </a:t>
                      </a:r>
                      <a:r>
                        <a:rPr err="1"/>
                        <a:t>план</a:t>
                      </a:r>
                      <a:endParaRPr/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663">
                <a:tc>
                  <a:txBody>
                    <a:bodyPr/>
                    <a:lstStyle/>
                    <a:p>
                      <a:r>
                        <a:rPr err="1"/>
                        <a:t>Готовое</a:t>
                      </a:r>
                      <a:r>
                        <a:t> </a:t>
                      </a:r>
                      <a:r>
                        <a:rPr err="1"/>
                        <a:t>мобильное</a:t>
                      </a:r>
                      <a:r>
                        <a:t> </a:t>
                      </a:r>
                      <a:r>
                        <a:rPr err="1"/>
                        <a:t>приложение</a:t>
                      </a:r>
                      <a:endParaRPr/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err="1"/>
                        <a:t>удобный</a:t>
                      </a:r>
                      <a:r>
                        <a:t> UX, </a:t>
                      </a:r>
                      <a:r>
                        <a:rPr err="1"/>
                        <a:t>большой</a:t>
                      </a:r>
                      <a:r>
                        <a:t> </a:t>
                      </a:r>
                      <a:r>
                        <a:rPr err="1"/>
                        <a:t>каталог</a:t>
                      </a:r>
                      <a:endParaRPr/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закрытая логика, нет полного аналога по функционалу и возможностям</a:t>
                      </a:r>
                      <a:endParaRPr/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663">
                <a:tc>
                  <a:txBody>
                    <a:bodyPr/>
                    <a:lstStyle/>
                    <a:p>
                      <a:r>
                        <a:t>Собственный веб‑сервис Mealy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err="1"/>
                        <a:t>контроль</a:t>
                      </a:r>
                      <a:r>
                        <a:t> </a:t>
                      </a:r>
                      <a:r>
                        <a:rPr err="1"/>
                        <a:t>архитектуры</a:t>
                      </a:r>
                      <a:r>
                        <a:t>, БД, UI </a:t>
                      </a:r>
                      <a:r>
                        <a:rPr err="1"/>
                        <a:t>и</a:t>
                      </a:r>
                      <a:r>
                        <a:t> </a:t>
                      </a:r>
                      <a:r>
                        <a:rPr err="1"/>
                        <a:t>сценария</a:t>
                      </a:r>
                      <a:r>
                        <a:t> </a:t>
                      </a:r>
                      <a:r>
                        <a:rPr err="1"/>
                        <a:t>демонстрации</a:t>
                      </a:r>
                      <a:endParaRPr/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требует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расширения</a:t>
                      </a:r>
                      <a:r>
                        <a:rPr dirty="0"/>
                        <a:t> </a:t>
                      </a:r>
                      <a:r>
                        <a:rPr lang="ru-RU" dirty="0"/>
                        <a:t>функционала и поддержки</a:t>
                      </a:r>
                      <a:endParaRPr dirty="0"/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2">
            <a:extLst>
              <a:ext uri="{FF2B5EF4-FFF2-40B4-BE49-F238E27FC236}">
                <a16:creationId xmlns:a16="http://schemas.microsoft.com/office/drawing/2014/main" id="{5972E149-403D-4B5F-B86E-FD70CC9E6FD1}"/>
              </a:ext>
            </a:extLst>
          </p:cNvPr>
          <p:cNvSpPr/>
          <p:nvPr/>
        </p:nvSpPr>
        <p:spPr>
          <a:xfrm>
            <a:off x="0" y="-20647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5D25E65B-BC10-48D0-B032-CA86EA21D45B}"/>
              </a:ext>
            </a:extLst>
          </p:cNvPr>
          <p:cNvSpPr/>
          <p:nvPr/>
        </p:nvSpPr>
        <p:spPr>
          <a:xfrm>
            <a:off x="4480560" y="-20647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E1B543B8-E690-4DDA-895F-011577985D19}"/>
              </a:ext>
            </a:extLst>
          </p:cNvPr>
          <p:cNvSpPr/>
          <p:nvPr/>
        </p:nvSpPr>
        <p:spPr>
          <a:xfrm>
            <a:off x="7406640" y="-20647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381A0BF-6201-4ABF-AB7A-22A1D3438776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6FED3BAF-576E-401F-AA05-FCCDFF02E202}"/>
              </a:ext>
            </a:extLst>
          </p:cNvPr>
          <p:cNvSpPr/>
          <p:nvPr/>
        </p:nvSpPr>
        <p:spPr>
          <a:xfrm>
            <a:off x="0" y="54099"/>
            <a:ext cx="12191695" cy="6803901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5" y="35171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Архитектура</a:t>
            </a:r>
            <a:r>
              <a:rPr sz="2200"/>
              <a:t> </a:t>
            </a:r>
            <a:r>
              <a:rPr sz="2200" err="1"/>
              <a:t>веб‑приложения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07 / 2</a:t>
            </a:r>
            <a:r>
              <a:rPr lang="ru-RU"/>
              <a:t>0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4389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83688"/>
            <a:ext cx="4114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t>Пользовательский браузер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1947672"/>
            <a:ext cx="0" cy="502919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450591"/>
            <a:ext cx="4389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4114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err="1"/>
              <a:t>Клиентская</a:t>
            </a:r>
            <a:r>
              <a:t> </a:t>
            </a:r>
            <a:r>
              <a:rPr err="1"/>
              <a:t>часть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770632"/>
            <a:ext cx="4114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t>Astro + React + TypeScript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3072384"/>
            <a:ext cx="0" cy="50292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575304"/>
            <a:ext cx="4389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648456"/>
            <a:ext cx="4114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err="1"/>
              <a:t>Серверный</a:t>
            </a:r>
            <a:r>
              <a:t> </a:t>
            </a:r>
            <a:r>
              <a:rPr err="1"/>
              <a:t>интерфейс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895344"/>
            <a:ext cx="4114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err="1"/>
              <a:t>FastAPI</a:t>
            </a:r>
            <a:r>
              <a:t>, REST / HTTP / 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4197096"/>
            <a:ext cx="0" cy="50292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4700016"/>
            <a:ext cx="4389116" cy="9255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744381"/>
            <a:ext cx="4114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err="1"/>
              <a:t>Данные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991268"/>
            <a:ext cx="411480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t>PostgreSQL + </a:t>
            </a:r>
            <a:r>
              <a:rPr err="1"/>
              <a:t>pgvector</a:t>
            </a:r>
            <a:endParaRPr/>
          </a:p>
          <a:p>
            <a:pPr algn="ctr"/>
            <a:r>
              <a:t>Redis + Celery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549283"/>
            <a:ext cx="4114800" cy="153857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399" y="2624327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Пояснение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399" y="2869296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err="1"/>
              <a:t>Генерация</a:t>
            </a:r>
            <a:r>
              <a:t> </a:t>
            </a:r>
            <a:r>
              <a:rPr err="1"/>
              <a:t>плана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проверка</a:t>
            </a:r>
            <a:r>
              <a:t> </a:t>
            </a:r>
            <a:r>
              <a:rPr err="1"/>
              <a:t>ограничений</a:t>
            </a:r>
            <a:r>
              <a:t> </a:t>
            </a:r>
            <a:r>
              <a:rPr err="1"/>
              <a:t>выполняются</a:t>
            </a:r>
            <a:r>
              <a:t> </a:t>
            </a:r>
            <a:r>
              <a:rPr err="1"/>
              <a:t>на</a:t>
            </a:r>
            <a:r>
              <a:t> </a:t>
            </a:r>
            <a:r>
              <a:rPr err="1"/>
              <a:t>сервере</a:t>
            </a:r>
            <a:r>
              <a:t>; </a:t>
            </a:r>
            <a:r>
              <a:rPr err="1"/>
              <a:t>клиент</a:t>
            </a:r>
            <a:r>
              <a:t> </a:t>
            </a:r>
            <a:r>
              <a:rPr err="1"/>
              <a:t>показывает</a:t>
            </a:r>
            <a:r>
              <a:t> </a:t>
            </a:r>
            <a:r>
              <a:rPr err="1"/>
              <a:t>готовый</a:t>
            </a:r>
            <a:r>
              <a:t> </a:t>
            </a:r>
            <a:r>
              <a:rPr err="1"/>
              <a:t>день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неделю</a:t>
            </a:r>
            <a:r>
              <a:t>.</a:t>
            </a: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4C0F0185-C2EC-484B-92FD-0BE0468AA40E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39959B83-04EC-4399-897B-01783884B666}"/>
              </a:ext>
            </a:extLst>
          </p:cNvPr>
          <p:cNvSpPr/>
          <p:nvPr/>
        </p:nvSpPr>
        <p:spPr>
          <a:xfrm>
            <a:off x="3048" y="-19053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CD059A3A-D61E-4F9B-AC50-A0AA1ABD91FD}"/>
              </a:ext>
            </a:extLst>
          </p:cNvPr>
          <p:cNvSpPr/>
          <p:nvPr/>
        </p:nvSpPr>
        <p:spPr>
          <a:xfrm>
            <a:off x="4483608" y="-19053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EB6B46FB-19CA-4846-B55D-7DD4B73AD48D}"/>
              </a:ext>
            </a:extLst>
          </p:cNvPr>
          <p:cNvSpPr/>
          <p:nvPr/>
        </p:nvSpPr>
        <p:spPr>
          <a:xfrm>
            <a:off x="7409688" y="-19053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5DC4E72C-746C-4BD6-8902-DDDFF18192BE}"/>
              </a:ext>
            </a:extLst>
          </p:cNvPr>
          <p:cNvSpPr/>
          <p:nvPr/>
        </p:nvSpPr>
        <p:spPr>
          <a:xfrm>
            <a:off x="1" y="52955"/>
            <a:ext cx="12192000" cy="6805045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720005" y="354361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Используемые</a:t>
            </a:r>
            <a:r>
              <a:rPr sz="2200"/>
              <a:t> </a:t>
            </a:r>
            <a:r>
              <a:rPr sz="2200" err="1"/>
              <a:t>технологии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08 / 2</a:t>
            </a:r>
            <a:r>
              <a:rPr lang="ru-RU"/>
              <a:t>0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029200" cy="1453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44063"/>
            <a:ext cx="73152" cy="139361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54480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Клиентская часть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4754880" cy="5943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Astro 6, React 19, TypeScript</a:t>
            </a:r>
          </a:p>
          <a:p>
            <a:r>
              <a:rPr err="1"/>
              <a:t>экраны</a:t>
            </a:r>
            <a:r>
              <a:t> Today, Week, Recipes, Shopping,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19"/>
            <a:ext cx="5029200" cy="14538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464899"/>
            <a:ext cx="73152" cy="1372778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554480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Серверная часть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984248"/>
            <a:ext cx="475488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Python, </a:t>
            </a:r>
            <a:r>
              <a:rPr err="1"/>
              <a:t>FastAPI</a:t>
            </a:r>
            <a:r>
              <a:t>, </a:t>
            </a:r>
            <a:r>
              <a:rPr err="1"/>
              <a:t>Uvicorn</a:t>
            </a:r>
            <a:endParaRPr/>
          </a:p>
          <a:p>
            <a:r>
              <a:rPr err="1"/>
              <a:t>авторизация</a:t>
            </a:r>
            <a:r>
              <a:t>, </a:t>
            </a:r>
            <a:r>
              <a:rPr err="1"/>
              <a:t>планы</a:t>
            </a:r>
            <a:r>
              <a:t>, </a:t>
            </a:r>
            <a:r>
              <a:rPr err="1"/>
              <a:t>рецепты</a:t>
            </a:r>
            <a:r>
              <a:t>, </a:t>
            </a:r>
            <a:r>
              <a:rPr err="1"/>
              <a:t>генерация</a:t>
            </a: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73152" cy="1453896"/>
          </a:xfrm>
          <a:prstGeom prst="rect">
            <a:avLst/>
          </a:prstGeom>
          <a:solidFill>
            <a:srgbClr val="C2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250166"/>
            <a:ext cx="47548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err="1"/>
              <a:t>Данные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622271"/>
            <a:ext cx="4754880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PostgreSQL, Redis</a:t>
            </a:r>
          </a:p>
          <a:p>
            <a:r>
              <a:rPr err="1"/>
              <a:t>нормализованные</a:t>
            </a:r>
            <a:r>
              <a:t> </a:t>
            </a:r>
            <a:r>
              <a:rPr err="1"/>
              <a:t>таблицы</a:t>
            </a:r>
            <a:r>
              <a:t> </a:t>
            </a:r>
            <a:r>
              <a:rPr err="1"/>
              <a:t>пользователей</a:t>
            </a:r>
            <a:r>
              <a:t>, </a:t>
            </a:r>
            <a:r>
              <a:rPr err="1"/>
              <a:t>рецептов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планов</a:t>
            </a:r>
            <a:r>
              <a:rPr lang="ru-RU"/>
              <a:t>, а также кэширование ответов</a:t>
            </a: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0" y="3246120"/>
            <a:ext cx="5029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246119"/>
            <a:ext cx="73152" cy="1453893"/>
          </a:xfrm>
          <a:prstGeom prst="rect">
            <a:avLst/>
          </a:prstGeom>
          <a:solidFill>
            <a:srgbClr val="2D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383279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Фоновые задачи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813048"/>
            <a:ext cx="4754880" cy="5943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Celery + Redis</a:t>
            </a:r>
          </a:p>
          <a:p>
            <a:r>
              <a:rPr err="1"/>
              <a:t>асинхронная</a:t>
            </a:r>
            <a:r>
              <a:t> </a:t>
            </a:r>
            <a:r>
              <a:rPr err="1"/>
              <a:t>генерация</a:t>
            </a:r>
            <a:r>
              <a:t> </a:t>
            </a:r>
            <a:r>
              <a:rPr err="1"/>
              <a:t>недельного</a:t>
            </a:r>
            <a:r>
              <a:t> </a:t>
            </a:r>
            <a:r>
              <a:rPr err="1"/>
              <a:t>плана</a:t>
            </a: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5486399"/>
            <a:ext cx="10698480" cy="675853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5207" y="5571748"/>
            <a:ext cx="10241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Стек </a:t>
            </a:r>
            <a:r>
              <a:rPr err="1"/>
              <a:t>выбран</a:t>
            </a:r>
            <a:r>
              <a:t> </a:t>
            </a:r>
            <a:r>
              <a:rPr err="1"/>
              <a:t>для</a:t>
            </a:r>
            <a:r>
              <a:t> </a:t>
            </a:r>
            <a:r>
              <a:rPr err="1"/>
              <a:t>разделения</a:t>
            </a:r>
            <a:r>
              <a:t> UI </a:t>
            </a:r>
            <a:r>
              <a:rPr err="1"/>
              <a:t>и</a:t>
            </a:r>
            <a:r>
              <a:t> </a:t>
            </a:r>
            <a:r>
              <a:rPr err="1"/>
              <a:t>бизнес‑логики</a:t>
            </a:r>
            <a:r>
              <a:t>, </a:t>
            </a:r>
            <a:r>
              <a:rPr err="1"/>
              <a:t>воспроизводимой</a:t>
            </a:r>
            <a:r>
              <a:t> </a:t>
            </a:r>
            <a:r>
              <a:rPr err="1"/>
              <a:t>генерации</a:t>
            </a:r>
            <a:r>
              <a:t> </a:t>
            </a:r>
            <a:r>
              <a:rPr err="1"/>
              <a:t>плана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последующего</a:t>
            </a:r>
            <a:r>
              <a:t> </a:t>
            </a:r>
            <a:r>
              <a:rPr err="1"/>
              <a:t>масштабирования</a:t>
            </a:r>
            <a:r>
              <a:t>.</a:t>
            </a: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9FA87FFC-5C95-4A63-990D-F5D522674A4C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94396DC2-0245-48A3-87FD-EA803205489E}"/>
              </a:ext>
            </a:extLst>
          </p:cNvPr>
          <p:cNvSpPr/>
          <p:nvPr/>
        </p:nvSpPr>
        <p:spPr>
          <a:xfrm>
            <a:off x="0" y="-20197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F77E8C5C-EE3B-4A5C-9F67-AA75137922B6}"/>
              </a:ext>
            </a:extLst>
          </p:cNvPr>
          <p:cNvSpPr/>
          <p:nvPr/>
        </p:nvSpPr>
        <p:spPr>
          <a:xfrm>
            <a:off x="4480560" y="-20197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07067D85-2B95-4AFB-8E4B-81282FC704A5}"/>
              </a:ext>
            </a:extLst>
          </p:cNvPr>
          <p:cNvSpPr/>
          <p:nvPr/>
        </p:nvSpPr>
        <p:spPr>
          <a:xfrm>
            <a:off x="7406640" y="-20197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>
            <a:extLst>
              <a:ext uri="{FF2B5EF4-FFF2-40B4-BE49-F238E27FC236}">
                <a16:creationId xmlns:a16="http://schemas.microsoft.com/office/drawing/2014/main" id="{0842130E-4FE8-BAD7-81FE-02AD76835C3D}"/>
              </a:ext>
            </a:extLst>
          </p:cNvPr>
          <p:cNvSpPr/>
          <p:nvPr/>
        </p:nvSpPr>
        <p:spPr>
          <a:xfrm>
            <a:off x="1" y="67133"/>
            <a:ext cx="12192000" cy="6790867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434840" cy="67133"/>
          </a:xfrm>
          <a:prstGeom prst="rect">
            <a:avLst/>
          </a:prstGeom>
          <a:solidFill>
            <a:srgbClr val="2FD0BE"/>
          </a:solidFill>
          <a:ln w="12700">
            <a:solidFill>
              <a:srgbClr val="2FD0B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434840" y="0"/>
            <a:ext cx="2788920" cy="67133"/>
          </a:xfrm>
          <a:prstGeom prst="rect">
            <a:avLst/>
          </a:prstGeom>
          <a:solidFill>
            <a:srgbClr val="0E726F"/>
          </a:solidFill>
          <a:ln w="12700">
            <a:solidFill>
              <a:srgbClr val="0E726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223760" y="0"/>
            <a:ext cx="4965192" cy="67133"/>
          </a:xfrm>
          <a:prstGeom prst="rect">
            <a:avLst/>
          </a:prstGeom>
          <a:solidFill>
            <a:srgbClr val="D8951C"/>
          </a:solidFill>
          <a:ln w="12700">
            <a:solidFill>
              <a:srgbClr val="D8951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2984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200" err="1"/>
              <a:t>Структура</a:t>
            </a:r>
            <a:r>
              <a:rPr sz="2200"/>
              <a:t> </a:t>
            </a:r>
            <a:r>
              <a:rPr sz="2200" err="1"/>
              <a:t>базы</a:t>
            </a:r>
            <a:r>
              <a:rPr sz="2200"/>
              <a:t> </a:t>
            </a:r>
            <a:r>
              <a:rPr sz="2200" err="1"/>
              <a:t>данных</a:t>
            </a:r>
            <a:endParaRPr sz="2200"/>
          </a:p>
        </p:txBody>
      </p:sp>
      <p:sp>
        <p:nvSpPr>
          <p:cNvPr id="7" name="Text 5"/>
          <p:cNvSpPr/>
          <p:nvPr/>
        </p:nvSpPr>
        <p:spPr>
          <a:xfrm>
            <a:off x="10195560" y="393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t>09 / 2</a:t>
            </a:r>
            <a:r>
              <a:rPr lang="ru-RU"/>
              <a:t>0</a:t>
            </a:r>
            <a:endParaRPr/>
          </a:p>
        </p:txBody>
      </p:sp>
      <p:sp>
        <p:nvSpPr>
          <p:cNvPr id="200" name="Native heading"/>
          <p:cNvSpPr txBox="1"/>
          <p:nvPr/>
        </p:nvSpPr>
        <p:spPr>
          <a:xfrm>
            <a:off x="685985" y="1091841"/>
            <a:ext cx="1081972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Arial"/>
              </a:rPr>
              <a:t>4 </a:t>
            </a:r>
            <a:r>
              <a:rPr sz="2200" b="1" err="1">
                <a:solidFill>
                  <a:srgbClr val="0F172A"/>
                </a:solidFill>
                <a:latin typeface="Arial"/>
              </a:rPr>
              <a:t>зоны</a:t>
            </a:r>
            <a:r>
              <a:rPr sz="2200" b="1">
                <a:solidFill>
                  <a:srgbClr val="0F172A"/>
                </a:solidFill>
                <a:latin typeface="Arial"/>
              </a:rPr>
              <a:t> </a:t>
            </a:r>
            <a:r>
              <a:rPr sz="2200" b="1" err="1">
                <a:solidFill>
                  <a:srgbClr val="0F172A"/>
                </a:solidFill>
                <a:latin typeface="Arial"/>
              </a:rPr>
              <a:t>данных</a:t>
            </a:r>
            <a:r>
              <a:rPr lang="ru-RU" sz="2200" b="1">
                <a:solidFill>
                  <a:srgbClr val="0F172A"/>
                </a:solidFill>
                <a:latin typeface="Arial"/>
              </a:rPr>
              <a:t>: профиль, каталог, план, аудит генерации.</a:t>
            </a:r>
            <a:endParaRPr sz="2200" b="1">
              <a:solidFill>
                <a:srgbClr val="0F172A"/>
              </a:solidFill>
              <a:latin typeface="Arial"/>
            </a:endParaRPr>
          </a:p>
        </p:txBody>
      </p:sp>
      <p:sp>
        <p:nvSpPr>
          <p:cNvPr id="202" name="Profile zone"/>
          <p:cNvSpPr/>
          <p:nvPr/>
        </p:nvSpPr>
        <p:spPr>
          <a:xfrm>
            <a:off x="384048" y="1874520"/>
            <a:ext cx="2423160" cy="2011680"/>
          </a:xfrm>
          <a:prstGeom prst="roundRect">
            <a:avLst/>
          </a:prstGeom>
          <a:solidFill>
            <a:srgbClr val="EAF4FF"/>
          </a:solidFill>
          <a:ln w="25400">
            <a:solidFill>
              <a:srgbClr val="2F7DBC"/>
            </a:solidFill>
            <a:prstDash val="solid"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7DBC"/>
                </a:solidFill>
                <a:latin typeface="Arial"/>
              </a:rPr>
              <a:t>Профиль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users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allergies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preferences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meal_schedule</a:t>
            </a:r>
          </a:p>
        </p:txBody>
      </p:sp>
      <p:sp>
        <p:nvSpPr>
          <p:cNvPr id="203" name="Catalog zone"/>
          <p:cNvSpPr/>
          <p:nvPr/>
        </p:nvSpPr>
        <p:spPr>
          <a:xfrm>
            <a:off x="3273552" y="1874520"/>
            <a:ext cx="2423160" cy="2011680"/>
          </a:xfrm>
          <a:prstGeom prst="roundRect">
            <a:avLst/>
          </a:prstGeom>
          <a:solidFill>
            <a:srgbClr val="EAF7EE"/>
          </a:solidFill>
          <a:ln w="25400">
            <a:solidFill>
              <a:srgbClr val="4B9B5F"/>
            </a:solidFill>
            <a:prstDash val="solid"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B9B5F"/>
                </a:solidFill>
                <a:latin typeface="Arial"/>
              </a:rPr>
              <a:t>Каталог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recipes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ingredients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tags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embeddings</a:t>
            </a:r>
          </a:p>
        </p:txBody>
      </p:sp>
      <p:sp>
        <p:nvSpPr>
          <p:cNvPr id="204" name="Plan zone"/>
          <p:cNvSpPr/>
          <p:nvPr/>
        </p:nvSpPr>
        <p:spPr>
          <a:xfrm>
            <a:off x="6163056" y="1874520"/>
            <a:ext cx="2423160" cy="2011680"/>
          </a:xfrm>
          <a:prstGeom prst="roundRect">
            <a:avLst/>
          </a:prstGeom>
          <a:solidFill>
            <a:srgbClr val="FFF1DF"/>
          </a:solidFill>
          <a:ln w="25400">
            <a:solidFill>
              <a:srgbClr val="E48332"/>
            </a:solidFill>
            <a:prstDash val="solid"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48332"/>
                </a:solidFill>
                <a:latin typeface="Arial"/>
              </a:rPr>
              <a:t>План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meal_plans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days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meals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shopping</a:t>
            </a:r>
          </a:p>
        </p:txBody>
      </p:sp>
      <p:sp>
        <p:nvSpPr>
          <p:cNvPr id="205" name="Audit zone"/>
          <p:cNvSpPr/>
          <p:nvPr/>
        </p:nvSpPr>
        <p:spPr>
          <a:xfrm>
            <a:off x="9052560" y="1874520"/>
            <a:ext cx="2423160" cy="2011680"/>
          </a:xfrm>
          <a:prstGeom prst="roundRect">
            <a:avLst/>
          </a:prstGeom>
          <a:solidFill>
            <a:srgbClr val="F1ECFF"/>
          </a:solidFill>
          <a:ln w="25400">
            <a:solidFill>
              <a:srgbClr val="8067B7"/>
            </a:solidFill>
            <a:prstDash val="solid"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067B7"/>
                </a:solidFill>
                <a:latin typeface="Arial"/>
              </a:rPr>
              <a:t>Аудит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generation_runs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steps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status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diagnostics</a:t>
            </a:r>
          </a:p>
        </p:txBody>
      </p:sp>
      <p:sp>
        <p:nvSpPr>
          <p:cNvPr id="206" name="Profile to catalog"/>
          <p:cNvSpPr/>
          <p:nvPr/>
        </p:nvSpPr>
        <p:spPr>
          <a:xfrm>
            <a:off x="2807208" y="2880360"/>
            <a:ext cx="466344" cy="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7" name="Catalog to plan"/>
          <p:cNvSpPr/>
          <p:nvPr/>
        </p:nvSpPr>
        <p:spPr>
          <a:xfrm>
            <a:off x="5696712" y="2880360"/>
            <a:ext cx="466344" cy="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8" name="Plan to audit"/>
          <p:cNvSpPr/>
          <p:nvPr/>
        </p:nvSpPr>
        <p:spPr>
          <a:xfrm>
            <a:off x="8586216" y="2880360"/>
            <a:ext cx="466344" cy="0"/>
          </a:xfrm>
          <a:prstGeom prst="line">
            <a:avLst/>
          </a:prstGeom>
          <a:noFill/>
          <a:ln w="30480">
            <a:solidFill>
              <a:srgbClr val="8067B7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9" name="Legend 1"/>
          <p:cNvSpPr txBox="1"/>
          <p:nvPr/>
        </p:nvSpPr>
        <p:spPr>
          <a:xfrm>
            <a:off x="685800" y="416052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7DBC"/>
                </a:solidFill>
                <a:latin typeface="Arial"/>
              </a:rPr>
              <a:t>1:N профиль</a:t>
            </a:r>
          </a:p>
        </p:txBody>
      </p:sp>
      <p:sp>
        <p:nvSpPr>
          <p:cNvPr id="210" name="Legend 2"/>
          <p:cNvSpPr txBox="1"/>
          <p:nvPr/>
        </p:nvSpPr>
        <p:spPr>
          <a:xfrm>
            <a:off x="3520440" y="416052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B9B5F"/>
                </a:solidFill>
                <a:latin typeface="Arial"/>
              </a:rPr>
              <a:t>RAG-фильтры</a:t>
            </a:r>
          </a:p>
        </p:txBody>
      </p:sp>
      <p:sp>
        <p:nvSpPr>
          <p:cNvPr id="211" name="Legend 3"/>
          <p:cNvSpPr txBox="1"/>
          <p:nvPr/>
        </p:nvSpPr>
        <p:spPr>
          <a:xfrm>
            <a:off x="6355080" y="416052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48332"/>
                </a:solidFill>
                <a:latin typeface="Arial"/>
              </a:rPr>
              <a:t>нормализация</a:t>
            </a:r>
          </a:p>
        </p:txBody>
      </p:sp>
      <p:sp>
        <p:nvSpPr>
          <p:cNvPr id="212" name="Legend 4"/>
          <p:cNvSpPr txBox="1"/>
          <p:nvPr/>
        </p:nvSpPr>
        <p:spPr>
          <a:xfrm>
            <a:off x="9308592" y="416052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067B7"/>
                </a:solidFill>
                <a:latin typeface="Arial"/>
              </a:rPr>
              <a:t>наблюдаемость</a:t>
            </a: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ABFBF70F-42B7-0676-A525-D47695D8C202}"/>
              </a:ext>
            </a:extLst>
          </p:cNvPr>
          <p:cNvSpPr/>
          <p:nvPr/>
        </p:nvSpPr>
        <p:spPr>
          <a:xfrm>
            <a:off x="685800" y="885160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10 / 2</a:t>
            </a:r>
            <a:r>
              <a:rPr lang="ru-RU"/>
              <a:t>0</a:t>
            </a:r>
            <a:endParaRPr/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67944E20-7E78-4FAA-B3FD-071DD37277C0}"/>
              </a:ext>
            </a:extLst>
          </p:cNvPr>
          <p:cNvSpPr/>
          <p:nvPr/>
        </p:nvSpPr>
        <p:spPr>
          <a:xfrm>
            <a:off x="0" y="-18207"/>
            <a:ext cx="4480560" cy="80691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D7AD4185-2382-4C20-841B-C7A785D2B332}"/>
              </a:ext>
            </a:extLst>
          </p:cNvPr>
          <p:cNvSpPr/>
          <p:nvPr/>
        </p:nvSpPr>
        <p:spPr>
          <a:xfrm>
            <a:off x="4480560" y="-10668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4B5FE78D-9243-4FB8-889B-452A3F52E76A}"/>
              </a:ext>
            </a:extLst>
          </p:cNvPr>
          <p:cNvSpPr/>
          <p:nvPr/>
        </p:nvSpPr>
        <p:spPr>
          <a:xfrm>
            <a:off x="7406640" y="-10668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0A5C9144-CAC1-4887-B18D-3B7AAB8DA517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0" name="Native heading"/>
          <p:cNvSpPr txBox="1"/>
          <p:nvPr/>
        </p:nvSpPr>
        <p:spPr>
          <a:xfrm>
            <a:off x="548640" y="374192"/>
            <a:ext cx="10287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err="1">
                <a:solidFill>
                  <a:srgbClr val="0F172A"/>
                </a:solidFill>
                <a:latin typeface="Arial"/>
              </a:rPr>
              <a:t>Поток</a:t>
            </a:r>
            <a:r>
              <a:rPr sz="2200">
                <a:solidFill>
                  <a:srgbClr val="0F172A"/>
                </a:solidFill>
                <a:latin typeface="Arial"/>
              </a:rPr>
              <a:t> </a:t>
            </a:r>
            <a:r>
              <a:rPr sz="2200" err="1">
                <a:solidFill>
                  <a:srgbClr val="0F172A"/>
                </a:solidFill>
                <a:latin typeface="Arial"/>
              </a:rPr>
              <a:t>генерации</a:t>
            </a:r>
            <a:r>
              <a:rPr sz="2200">
                <a:solidFill>
                  <a:srgbClr val="0F172A"/>
                </a:solidFill>
                <a:latin typeface="Arial"/>
              </a:rPr>
              <a:t> </a:t>
            </a:r>
            <a:r>
              <a:rPr sz="2200" err="1">
                <a:solidFill>
                  <a:srgbClr val="0F172A"/>
                </a:solidFill>
                <a:latin typeface="Arial"/>
              </a:rPr>
              <a:t>недельного</a:t>
            </a:r>
            <a:r>
              <a:rPr sz="2200">
                <a:solidFill>
                  <a:srgbClr val="0F172A"/>
                </a:solidFill>
                <a:latin typeface="Arial"/>
              </a:rPr>
              <a:t> </a:t>
            </a:r>
            <a:r>
              <a:rPr sz="2200" err="1">
                <a:solidFill>
                  <a:srgbClr val="0F172A"/>
                </a:solidFill>
                <a:latin typeface="Arial"/>
              </a:rPr>
              <a:t>плана</a:t>
            </a:r>
            <a:endParaRPr sz="2200">
              <a:solidFill>
                <a:srgbClr val="0F172A"/>
              </a:solidFill>
              <a:latin typeface="Arial"/>
            </a:endParaRPr>
          </a:p>
        </p:txBody>
      </p:sp>
      <p:sp>
        <p:nvSpPr>
          <p:cNvPr id="301" name="Native subheading"/>
          <p:cNvSpPr txBox="1"/>
          <p:nvPr/>
        </p:nvSpPr>
        <p:spPr>
          <a:xfrm>
            <a:off x="548640" y="1100652"/>
            <a:ext cx="10396728" cy="486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ru-RU" sz="1600">
                <a:latin typeface="Arial"/>
              </a:rPr>
              <a:t>З</a:t>
            </a:r>
            <a:r>
              <a:rPr sz="1600" err="1">
                <a:latin typeface="Arial"/>
              </a:rPr>
              <a:t>апрос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попадает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в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очередь</a:t>
            </a:r>
            <a:r>
              <a:rPr sz="1600">
                <a:latin typeface="Arial"/>
              </a:rPr>
              <a:t>, </a:t>
            </a:r>
            <a:r>
              <a:rPr sz="1600" err="1">
                <a:latin typeface="Arial"/>
              </a:rPr>
              <a:t>затем</a:t>
            </a:r>
            <a:r>
              <a:rPr sz="1600">
                <a:latin typeface="Arial"/>
              </a:rPr>
              <a:t> </a:t>
            </a:r>
            <a:r>
              <a:rPr lang="en-US" sz="1600" err="1">
                <a:latin typeface="Arial"/>
              </a:rPr>
              <a:t>о</a:t>
            </a:r>
            <a:r>
              <a:rPr lang="ru-RU" sz="1600" err="1">
                <a:latin typeface="Arial"/>
              </a:rPr>
              <a:t>бработчик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последовательно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собирает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контекст</a:t>
            </a:r>
            <a:r>
              <a:rPr sz="1600">
                <a:latin typeface="Arial"/>
              </a:rPr>
              <a:t>, </a:t>
            </a:r>
            <a:r>
              <a:rPr sz="1600" err="1">
                <a:latin typeface="Arial"/>
              </a:rPr>
              <a:t>вызывает</a:t>
            </a:r>
            <a:r>
              <a:rPr sz="1600">
                <a:latin typeface="Arial"/>
              </a:rPr>
              <a:t> LLM </a:t>
            </a:r>
            <a:r>
              <a:rPr sz="1600" err="1">
                <a:latin typeface="Arial"/>
              </a:rPr>
              <a:t>и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сохраняет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результат</a:t>
            </a:r>
            <a:r>
              <a:rPr lang="ru-RU" sz="1600">
                <a:solidFill>
                  <a:srgbClr val="475569"/>
                </a:solidFill>
                <a:latin typeface="Arial"/>
              </a:rPr>
              <a:t>.</a:t>
            </a:r>
            <a:endParaRPr sz="1600">
              <a:solidFill>
                <a:srgbClr val="475569"/>
              </a:solidFill>
              <a:latin typeface="Arial"/>
            </a:endParaRPr>
          </a:p>
        </p:txBody>
      </p:sp>
      <p:sp>
        <p:nvSpPr>
          <p:cNvPr id="302" name="Step 1"/>
          <p:cNvSpPr/>
          <p:nvPr/>
        </p:nvSpPr>
        <p:spPr>
          <a:xfrm>
            <a:off x="411480" y="1965960"/>
            <a:ext cx="1691640" cy="1051560"/>
          </a:xfrm>
          <a:prstGeom prst="roundRect">
            <a:avLst/>
          </a:prstGeom>
          <a:solidFill>
            <a:srgbClr val="EAF4FF"/>
          </a:solidFill>
          <a:ln w="25400">
            <a:solidFill>
              <a:srgbClr val="2F7DBC"/>
            </a:solidFill>
            <a:prstDash val="solid"/>
          </a:ln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7DBC"/>
                </a:solidFill>
                <a:latin typeface="Arial"/>
              </a:rPr>
              <a:t>1. Анкета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цель,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ограничения</a:t>
            </a:r>
          </a:p>
        </p:txBody>
      </p:sp>
      <p:sp>
        <p:nvSpPr>
          <p:cNvPr id="303" name="Step 2"/>
          <p:cNvSpPr/>
          <p:nvPr/>
        </p:nvSpPr>
        <p:spPr>
          <a:xfrm>
            <a:off x="2487168" y="1965960"/>
            <a:ext cx="1691640" cy="1051560"/>
          </a:xfrm>
          <a:prstGeom prst="roundRect">
            <a:avLst/>
          </a:prstGeom>
          <a:solidFill>
            <a:srgbClr val="EAF4FF"/>
          </a:solidFill>
          <a:ln w="25400">
            <a:solidFill>
              <a:srgbClr val="2F7DBC"/>
            </a:solidFill>
            <a:prstDash val="solid"/>
          </a:ln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7DBC"/>
                </a:solidFill>
                <a:latin typeface="Arial"/>
              </a:rPr>
              <a:t>2. Клиент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POST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polling</a:t>
            </a:r>
          </a:p>
        </p:txBody>
      </p:sp>
      <p:sp>
        <p:nvSpPr>
          <p:cNvPr id="304" name="Step 3"/>
          <p:cNvSpPr/>
          <p:nvPr/>
        </p:nvSpPr>
        <p:spPr>
          <a:xfrm>
            <a:off x="4562856" y="1965960"/>
            <a:ext cx="1691640" cy="1051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3. API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сессия,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валидация</a:t>
            </a:r>
          </a:p>
        </p:txBody>
      </p:sp>
      <p:sp>
        <p:nvSpPr>
          <p:cNvPr id="305" name="Step 4"/>
          <p:cNvSpPr/>
          <p:nvPr/>
        </p:nvSpPr>
        <p:spPr>
          <a:xfrm>
            <a:off x="6638544" y="1965960"/>
            <a:ext cx="1691640" cy="1051560"/>
          </a:xfrm>
          <a:prstGeom prst="roundRect">
            <a:avLst/>
          </a:prstGeom>
          <a:solidFill>
            <a:srgbClr val="FFF1DF"/>
          </a:solidFill>
          <a:ln w="25400">
            <a:solidFill>
              <a:srgbClr val="E48332"/>
            </a:solidFill>
            <a:prstDash val="solid"/>
          </a:ln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48332"/>
                </a:solidFill>
                <a:latin typeface="Arial"/>
              </a:rPr>
              <a:t>4. Очередь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Redis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task_id</a:t>
            </a:r>
          </a:p>
        </p:txBody>
      </p:sp>
      <p:sp>
        <p:nvSpPr>
          <p:cNvPr id="306" name="Step 5"/>
          <p:cNvSpPr/>
          <p:nvPr/>
        </p:nvSpPr>
        <p:spPr>
          <a:xfrm>
            <a:off x="8796528" y="1783080"/>
            <a:ext cx="2148840" cy="777240"/>
          </a:xfrm>
          <a:prstGeom prst="roundRect">
            <a:avLst/>
          </a:prstGeom>
          <a:solidFill>
            <a:srgbClr val="FFF1DF"/>
          </a:solidFill>
          <a:ln w="25400">
            <a:solidFill>
              <a:srgbClr val="E48332"/>
            </a:solidFill>
            <a:prstDash val="solid"/>
          </a:ln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48332"/>
                </a:solidFill>
                <a:latin typeface="Arial"/>
              </a:rPr>
              <a:t>5. </a:t>
            </a:r>
            <a:r>
              <a:rPr lang="ru-RU" sz="1600" b="1">
                <a:solidFill>
                  <a:srgbClr val="E48332"/>
                </a:solidFill>
                <a:latin typeface="Arial"/>
              </a:rPr>
              <a:t>Обработчик</a:t>
            </a:r>
            <a:endParaRPr sz="1600" b="1">
              <a:solidFill>
                <a:srgbClr val="E48332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Celery</a:t>
            </a:r>
          </a:p>
        </p:txBody>
      </p:sp>
      <p:sp>
        <p:nvSpPr>
          <p:cNvPr id="307" name="Step 6"/>
          <p:cNvSpPr/>
          <p:nvPr/>
        </p:nvSpPr>
        <p:spPr>
          <a:xfrm>
            <a:off x="8796528" y="2788920"/>
            <a:ext cx="2148840" cy="777240"/>
          </a:xfrm>
          <a:prstGeom prst="roundRect">
            <a:avLst/>
          </a:prstGeom>
          <a:solidFill>
            <a:srgbClr val="EAF7EE"/>
          </a:solidFill>
          <a:ln w="25400">
            <a:solidFill>
              <a:srgbClr val="4B9B5F"/>
            </a:solidFill>
            <a:prstDash val="solid"/>
          </a:ln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B9B5F"/>
                </a:solidFill>
                <a:latin typeface="Arial"/>
              </a:rPr>
              <a:t>6. Контекст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профиль + рецепты</a:t>
            </a:r>
          </a:p>
        </p:txBody>
      </p:sp>
      <p:sp>
        <p:nvSpPr>
          <p:cNvPr id="308" name="Step 7"/>
          <p:cNvSpPr/>
          <p:nvPr/>
        </p:nvSpPr>
        <p:spPr>
          <a:xfrm>
            <a:off x="8796528" y="3794760"/>
            <a:ext cx="2148840" cy="777240"/>
          </a:xfrm>
          <a:prstGeom prst="roundRect">
            <a:avLst/>
          </a:prstGeom>
          <a:solidFill>
            <a:srgbClr val="F1ECFF"/>
          </a:solidFill>
          <a:ln w="25400">
            <a:solidFill>
              <a:srgbClr val="8067B7"/>
            </a:solidFill>
            <a:prstDash val="solid"/>
          </a:ln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067B7"/>
                </a:solidFill>
                <a:latin typeface="Arial"/>
              </a:rPr>
              <a:t>7. LLM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JSON + проверка</a:t>
            </a:r>
          </a:p>
        </p:txBody>
      </p:sp>
      <p:sp>
        <p:nvSpPr>
          <p:cNvPr id="309" name="Step 8"/>
          <p:cNvSpPr/>
          <p:nvPr/>
        </p:nvSpPr>
        <p:spPr>
          <a:xfrm>
            <a:off x="8796528" y="4800600"/>
            <a:ext cx="2148840" cy="777240"/>
          </a:xfrm>
          <a:prstGeom prst="roundRect">
            <a:avLst/>
          </a:prstGeom>
          <a:solidFill>
            <a:srgbClr val="EAF7EE"/>
          </a:solidFill>
          <a:ln w="25400">
            <a:solidFill>
              <a:srgbClr val="4B9B5F"/>
            </a:solidFill>
            <a:prstDash val="solid"/>
          </a:ln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B9B5F"/>
                </a:solidFill>
                <a:latin typeface="Arial"/>
              </a:rPr>
              <a:t>8. Результат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план, PDF, .ics</a:t>
            </a:r>
          </a:p>
        </p:txBody>
      </p:sp>
      <p:sp>
        <p:nvSpPr>
          <p:cNvPr id="310" name="Status"/>
          <p:cNvSpPr/>
          <p:nvPr/>
        </p:nvSpPr>
        <p:spPr>
          <a:xfrm>
            <a:off x="6560245" y="4057228"/>
            <a:ext cx="1951488" cy="713232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E48332"/>
            </a:solidFill>
            <a:prstDash val="solid"/>
          </a:ln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48332"/>
                </a:solidFill>
                <a:latin typeface="Arial"/>
              </a:rPr>
              <a:t>Статус задачи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0F172A"/>
                </a:solidFill>
                <a:latin typeface="Arial"/>
              </a:rPr>
              <a:t>GET /tasks/{id}</a:t>
            </a:r>
          </a:p>
        </p:txBody>
      </p:sp>
      <p:sp>
        <p:nvSpPr>
          <p:cNvPr id="311" name="1 to 2"/>
          <p:cNvSpPr/>
          <p:nvPr/>
        </p:nvSpPr>
        <p:spPr>
          <a:xfrm>
            <a:off x="2103120" y="2487168"/>
            <a:ext cx="384048" cy="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2" name="2 to 3"/>
          <p:cNvSpPr/>
          <p:nvPr/>
        </p:nvSpPr>
        <p:spPr>
          <a:xfrm>
            <a:off x="4178808" y="2487168"/>
            <a:ext cx="384048" cy="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3" name="3 to 4"/>
          <p:cNvSpPr/>
          <p:nvPr/>
        </p:nvSpPr>
        <p:spPr>
          <a:xfrm>
            <a:off x="6254496" y="2487168"/>
            <a:ext cx="384048" cy="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4" name="4 to 5"/>
          <p:cNvSpPr/>
          <p:nvPr/>
        </p:nvSpPr>
        <p:spPr>
          <a:xfrm flipV="1">
            <a:off x="8330184" y="2176272"/>
            <a:ext cx="466344" cy="310896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5" name="5 to 6"/>
          <p:cNvSpPr/>
          <p:nvPr/>
        </p:nvSpPr>
        <p:spPr>
          <a:xfrm>
            <a:off x="9875520" y="2560320"/>
            <a:ext cx="0" cy="22860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6" name="6 to 7"/>
          <p:cNvSpPr/>
          <p:nvPr/>
        </p:nvSpPr>
        <p:spPr>
          <a:xfrm>
            <a:off x="9875520" y="3566160"/>
            <a:ext cx="0" cy="22860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7" name="7 to 8"/>
          <p:cNvSpPr/>
          <p:nvPr/>
        </p:nvSpPr>
        <p:spPr>
          <a:xfrm>
            <a:off x="9875520" y="4572000"/>
            <a:ext cx="0" cy="22860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8" name="Queue to status"/>
          <p:cNvSpPr/>
          <p:nvPr/>
        </p:nvSpPr>
        <p:spPr>
          <a:xfrm>
            <a:off x="7479792" y="3017520"/>
            <a:ext cx="0" cy="1051560"/>
          </a:xfrm>
          <a:prstGeom prst="line">
            <a:avLst/>
          </a:prstGeom>
          <a:noFill/>
          <a:ln w="30480">
            <a:solidFill>
              <a:srgbClr val="E48332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1" name="Native note"/>
          <p:cNvSpPr txBox="1"/>
          <p:nvPr/>
        </p:nvSpPr>
        <p:spPr>
          <a:xfrm>
            <a:off x="411480" y="5898712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err="1">
                <a:latin typeface="Arial"/>
              </a:rPr>
              <a:t>Ответ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клиенту</a:t>
            </a:r>
            <a:r>
              <a:rPr sz="1600">
                <a:latin typeface="Arial"/>
              </a:rPr>
              <a:t>: </a:t>
            </a:r>
            <a:r>
              <a:rPr sz="1600" err="1">
                <a:latin typeface="Arial"/>
              </a:rPr>
              <a:t>готовый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план</a:t>
            </a:r>
            <a:r>
              <a:rPr sz="1600">
                <a:latin typeface="Arial"/>
              </a:rPr>
              <a:t>, </a:t>
            </a:r>
            <a:r>
              <a:rPr sz="1600" err="1">
                <a:latin typeface="Arial"/>
              </a:rPr>
              <a:t>список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покупок</a:t>
            </a:r>
            <a:r>
              <a:rPr sz="1600">
                <a:latin typeface="Arial"/>
              </a:rPr>
              <a:t>, .</a:t>
            </a:r>
            <a:r>
              <a:rPr sz="1600" err="1">
                <a:latin typeface="Arial"/>
              </a:rPr>
              <a:t>ics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и</a:t>
            </a:r>
            <a:r>
              <a:rPr sz="1600">
                <a:latin typeface="Arial"/>
              </a:rPr>
              <a:t> PDF; </a:t>
            </a:r>
            <a:r>
              <a:rPr sz="1600" err="1">
                <a:latin typeface="Arial"/>
              </a:rPr>
              <a:t>прогресс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берется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из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статуса</a:t>
            </a:r>
            <a:r>
              <a:rPr sz="1600">
                <a:latin typeface="Arial"/>
              </a:rPr>
              <a:t> </a:t>
            </a:r>
            <a:r>
              <a:rPr sz="1600" err="1">
                <a:latin typeface="Arial"/>
              </a:rPr>
              <a:t>задачи</a:t>
            </a:r>
            <a:r>
              <a:rPr sz="1600">
                <a:latin typeface="Arial"/>
              </a:rPr>
              <a:t>.</a:t>
            </a:r>
          </a:p>
        </p:txBody>
      </p:sp>
      <p:sp>
        <p:nvSpPr>
          <p:cNvPr id="2" name="Queue to status">
            <a:extLst>
              <a:ext uri="{FF2B5EF4-FFF2-40B4-BE49-F238E27FC236}">
                <a16:creationId xmlns:a16="http://schemas.microsoft.com/office/drawing/2014/main" id="{8E3D095C-9A0D-493E-5594-92A6CDBC14D6}"/>
              </a:ext>
            </a:extLst>
          </p:cNvPr>
          <p:cNvSpPr/>
          <p:nvPr/>
        </p:nvSpPr>
        <p:spPr>
          <a:xfrm flipV="1">
            <a:off x="7607312" y="3017520"/>
            <a:ext cx="0" cy="1051560"/>
          </a:xfrm>
          <a:prstGeom prst="line">
            <a:avLst/>
          </a:prstGeom>
          <a:noFill/>
          <a:ln w="30480">
            <a:solidFill>
              <a:srgbClr val="E48332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" name="Queue to status">
            <a:extLst>
              <a:ext uri="{FF2B5EF4-FFF2-40B4-BE49-F238E27FC236}">
                <a16:creationId xmlns:a16="http://schemas.microsoft.com/office/drawing/2014/main" id="{5A0D8070-663B-307C-CE21-7CFE33451DE5}"/>
              </a:ext>
            </a:extLst>
          </p:cNvPr>
          <p:cNvSpPr/>
          <p:nvPr/>
        </p:nvSpPr>
        <p:spPr>
          <a:xfrm flipH="1">
            <a:off x="3328416" y="5185297"/>
            <a:ext cx="5468106" cy="144"/>
          </a:xfrm>
          <a:prstGeom prst="line">
            <a:avLst/>
          </a:prstGeom>
          <a:noFill/>
          <a:ln w="30480">
            <a:solidFill>
              <a:srgbClr val="00B0F0"/>
            </a:solidFill>
            <a:prstDash val="dash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Queue to status">
            <a:extLst>
              <a:ext uri="{FF2B5EF4-FFF2-40B4-BE49-F238E27FC236}">
                <a16:creationId xmlns:a16="http://schemas.microsoft.com/office/drawing/2014/main" id="{F55E1E56-1BAB-DBE3-B418-836F09F53EF2}"/>
              </a:ext>
            </a:extLst>
          </p:cNvPr>
          <p:cNvSpPr/>
          <p:nvPr/>
        </p:nvSpPr>
        <p:spPr>
          <a:xfrm flipH="1" flipV="1">
            <a:off x="3313551" y="3032319"/>
            <a:ext cx="1" cy="2152833"/>
          </a:xfrm>
          <a:prstGeom prst="line">
            <a:avLst/>
          </a:prstGeom>
          <a:noFill/>
          <a:ln w="30480">
            <a:solidFill>
              <a:srgbClr val="00B0F0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Проверка</a:t>
            </a:r>
            <a:r>
              <a:rPr sz="2200"/>
              <a:t> </a:t>
            </a:r>
            <a:r>
              <a:rPr sz="2200" err="1"/>
              <a:t>калорий</a:t>
            </a:r>
            <a:r>
              <a:rPr sz="2200"/>
              <a:t> </a:t>
            </a:r>
            <a:r>
              <a:rPr sz="2200" err="1"/>
              <a:t>и</a:t>
            </a:r>
            <a:r>
              <a:rPr sz="2200"/>
              <a:t> </a:t>
            </a:r>
            <a:r>
              <a:rPr sz="2200" err="1"/>
              <a:t>макронутриентов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11 / 2</a:t>
            </a:r>
            <a:r>
              <a:rPr lang="ru-RU"/>
              <a:t>0</a:t>
            </a:r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272260"/>
              </p:ext>
            </p:extLst>
          </p:nvPr>
        </p:nvGraphicFramePr>
        <p:xfrm>
          <a:off x="5801627" y="1234440"/>
          <a:ext cx="553693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r>
                        <a:t>Показатель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Уровень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Смысл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t>≤ 8 %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в норме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день в пределах целевого коридора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t>8–12 %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допустимо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небольшое отклонение, план можно использовать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t>12–20 %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внимание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нужна замена блюда или пересборка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t>&gt; 20 %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пересмотр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день требует повторной генерации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t>нет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ожидание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план ещё не сформирован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20005" y="5710681"/>
            <a:ext cx="10523390" cy="1008170"/>
          </a:xfrm>
          <a:prstGeom prst="roundRect">
            <a:avLst/>
          </a:prstGeom>
          <a:solidFill>
            <a:srgbClr val="FFF4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8605" y="5828538"/>
            <a:ext cx="100584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err="1"/>
              <a:t>Важно</a:t>
            </a:r>
            <a:r>
              <a:t>: </a:t>
            </a:r>
            <a:r>
              <a:rPr err="1"/>
              <a:t>контроль</a:t>
            </a:r>
            <a:r>
              <a:t> </a:t>
            </a:r>
            <a:r>
              <a:rPr err="1"/>
              <a:t>носит</a:t>
            </a:r>
            <a:r>
              <a:t> </a:t>
            </a:r>
            <a:r>
              <a:rPr err="1"/>
              <a:t>планировочный</a:t>
            </a:r>
            <a:r>
              <a:t> </a:t>
            </a:r>
            <a:r>
              <a:rPr err="1"/>
              <a:t>характер</a:t>
            </a:r>
            <a:r>
              <a:t>.</a:t>
            </a:r>
          </a:p>
          <a:p>
            <a:r>
              <a:t>Mealy </a:t>
            </a:r>
            <a:r>
              <a:rPr err="1"/>
              <a:t>проверяет</a:t>
            </a:r>
            <a:r>
              <a:t> </a:t>
            </a:r>
            <a:r>
              <a:rPr err="1"/>
              <a:t>соответствие</a:t>
            </a:r>
            <a:r>
              <a:t> </a:t>
            </a:r>
            <a:r>
              <a:rPr err="1"/>
              <a:t>дня</a:t>
            </a:r>
            <a:r>
              <a:t> </a:t>
            </a:r>
            <a:r>
              <a:rPr err="1"/>
              <a:t>целевым</a:t>
            </a:r>
            <a:r>
              <a:t> </a:t>
            </a:r>
            <a:r>
              <a:rPr err="1"/>
              <a:t>калориям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распределению</a:t>
            </a:r>
            <a:r>
              <a:t> БЖУ, </a:t>
            </a:r>
            <a:r>
              <a:rPr err="1"/>
              <a:t>но</a:t>
            </a:r>
            <a:r>
              <a:t> </a:t>
            </a:r>
            <a:r>
              <a:rPr err="1"/>
              <a:t>не</a:t>
            </a:r>
            <a:r>
              <a:t> </a:t>
            </a:r>
            <a:r>
              <a:rPr err="1"/>
              <a:t>ставит</a:t>
            </a:r>
            <a:r>
              <a:t> </a:t>
            </a:r>
            <a:r>
              <a:rPr err="1"/>
              <a:t>медицинский</a:t>
            </a:r>
            <a:r>
              <a:t> </a:t>
            </a:r>
            <a:r>
              <a:rPr err="1"/>
              <a:t>диагноз</a:t>
            </a:r>
            <a:r>
              <a:t>.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600A3025-B533-4C4B-A5CA-87E293C36EB5}"/>
              </a:ext>
            </a:extLst>
          </p:cNvPr>
          <p:cNvSpPr/>
          <p:nvPr/>
        </p:nvSpPr>
        <p:spPr>
          <a:xfrm>
            <a:off x="0" y="0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421F02A-7C3B-48F9-800E-EB514832BF7D}"/>
              </a:ext>
            </a:extLst>
          </p:cNvPr>
          <p:cNvSpPr/>
          <p:nvPr/>
        </p:nvSpPr>
        <p:spPr>
          <a:xfrm>
            <a:off x="4480560" y="0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76F5091D-5628-4BB9-8813-9693A3A6BDA9}"/>
              </a:ext>
            </a:extLst>
          </p:cNvPr>
          <p:cNvSpPr/>
          <p:nvPr/>
        </p:nvSpPr>
        <p:spPr>
          <a:xfrm>
            <a:off x="7406640" y="0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8C57063-B6F6-4BB3-BE2B-311032075743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40033E80-353F-4F66-9FEE-5EF6F2A1A1D8}"/>
              </a:ext>
            </a:extLst>
          </p:cNvPr>
          <p:cNvSpPr/>
          <p:nvPr/>
        </p:nvSpPr>
        <p:spPr>
          <a:xfrm>
            <a:off x="594360" y="1143000"/>
            <a:ext cx="4892040" cy="416052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CE73D8-4CDE-4E90-8ED0-2A4BAF87A340}"/>
              </a:ext>
            </a:extLst>
          </p:cNvPr>
          <p:cNvSpPr txBox="1"/>
          <p:nvPr/>
        </p:nvSpPr>
        <p:spPr>
          <a:xfrm>
            <a:off x="868680" y="1325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Критерии проверки дня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E5C386-EEAE-4481-817C-7D1845FBE405}"/>
              </a:ext>
            </a:extLst>
          </p:cNvPr>
          <p:cNvSpPr txBox="1"/>
          <p:nvPr/>
        </p:nvSpPr>
        <p:spPr>
          <a:xfrm>
            <a:off x="868680" y="1755648"/>
            <a:ext cx="45415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target — целевые калории профиля, day_total — сумма по дню, deviation_pct — отклонение в процентах.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dirty="0" err="1"/>
              <a:t>Серверный</a:t>
            </a:r>
            <a:r>
              <a:rPr sz="2200" dirty="0"/>
              <a:t> </a:t>
            </a:r>
            <a:r>
              <a:rPr sz="2200" dirty="0" err="1"/>
              <a:t>интерфейс</a:t>
            </a:r>
            <a:r>
              <a:rPr sz="2200" dirty="0"/>
              <a:t> </a:t>
            </a:r>
            <a:r>
              <a:rPr sz="2200" dirty="0" err="1"/>
              <a:t>и</a:t>
            </a:r>
            <a:r>
              <a:rPr sz="2200" dirty="0"/>
              <a:t> </a:t>
            </a:r>
            <a:r>
              <a:rPr sz="2200" dirty="0" err="1"/>
              <a:t>программные</a:t>
            </a:r>
            <a:r>
              <a:rPr sz="2200" dirty="0"/>
              <a:t> </a:t>
            </a:r>
            <a:r>
              <a:rPr sz="2200" dirty="0" err="1"/>
              <a:t>модули</a:t>
            </a:r>
            <a:endParaRPr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dirty="0"/>
              <a:t>12 / 2</a:t>
            </a:r>
            <a:r>
              <a:rPr lang="ru-RU" dirty="0"/>
              <a:t>0</a:t>
            </a:r>
            <a:endParaRPr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6083BE48-3ADE-49AC-86F7-50F503D390E9}"/>
              </a:ext>
            </a:extLst>
          </p:cNvPr>
          <p:cNvSpPr/>
          <p:nvPr/>
        </p:nvSpPr>
        <p:spPr>
          <a:xfrm>
            <a:off x="3048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01118853-38E5-43BA-9511-C0E9694813E7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401765B9-409E-4D79-979E-31B962541E11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D15E16D6-B6FD-4F72-9F4F-591145648136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00" name="Slide 12 heading"/>
          <p:cNvSpPr txBox="1"/>
          <p:nvPr/>
        </p:nvSpPr>
        <p:spPr>
          <a:xfrm>
            <a:off x="723053" y="1176006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0F172A"/>
                </a:solidFill>
                <a:latin typeface="Arial"/>
              </a:rPr>
              <a:t>API-</a:t>
            </a:r>
            <a:r>
              <a:rPr b="1" dirty="0" err="1">
                <a:solidFill>
                  <a:srgbClr val="0F172A"/>
                </a:solidFill>
                <a:latin typeface="Arial"/>
              </a:rPr>
              <a:t>группы</a:t>
            </a:r>
            <a:r>
              <a:rPr b="1" dirty="0">
                <a:solidFill>
                  <a:srgbClr val="0F172A"/>
                </a:solidFill>
                <a:latin typeface="Arial"/>
              </a:rPr>
              <a:t>, backend-</a:t>
            </a:r>
            <a:r>
              <a:rPr b="1" dirty="0" err="1">
                <a:solidFill>
                  <a:srgbClr val="0F172A"/>
                </a:solidFill>
                <a:latin typeface="Arial"/>
              </a:rPr>
              <a:t>модули</a:t>
            </a:r>
            <a:r>
              <a:rPr b="1" dirty="0">
                <a:solidFill>
                  <a:srgbClr val="0F172A"/>
                </a:solidFill>
                <a:latin typeface="Arial"/>
              </a:rPr>
              <a:t> </a:t>
            </a:r>
            <a:r>
              <a:rPr b="1" dirty="0" err="1">
                <a:solidFill>
                  <a:srgbClr val="0F172A"/>
                </a:solidFill>
                <a:latin typeface="Arial"/>
              </a:rPr>
              <a:t>и</a:t>
            </a:r>
            <a:r>
              <a:rPr b="1" dirty="0">
                <a:solidFill>
                  <a:srgbClr val="0F172A"/>
                </a:solidFill>
                <a:latin typeface="Arial"/>
              </a:rPr>
              <a:t> </a:t>
            </a:r>
            <a:r>
              <a:rPr b="1" dirty="0" err="1">
                <a:solidFill>
                  <a:srgbClr val="0F172A"/>
                </a:solidFill>
                <a:latin typeface="Arial"/>
              </a:rPr>
              <a:t>инфраструктура</a:t>
            </a:r>
            <a:endParaRPr b="1" dirty="0">
              <a:solidFill>
                <a:srgbClr val="0F172A"/>
              </a:solidFill>
              <a:latin typeface="Arial"/>
            </a:endParaRPr>
          </a:p>
        </p:txBody>
      </p:sp>
      <p:sp>
        <p:nvSpPr>
          <p:cNvPr id="502" name="Users API"/>
          <p:cNvSpPr/>
          <p:nvPr/>
        </p:nvSpPr>
        <p:spPr>
          <a:xfrm>
            <a:off x="256032" y="1783080"/>
            <a:ext cx="3337560" cy="749808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2F7DBC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 err="1">
                <a:solidFill>
                  <a:srgbClr val="2F7DBC"/>
                </a:solidFill>
                <a:latin typeface="Arial"/>
              </a:rPr>
              <a:t>Пользователи</a:t>
            </a:r>
            <a:endParaRPr sz="1600" b="1" dirty="0">
              <a:solidFill>
                <a:srgbClr val="2F7DBC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 dirty="0">
                <a:solidFill>
                  <a:srgbClr val="475569"/>
                </a:solidFill>
                <a:latin typeface="Arial"/>
              </a:rPr>
              <a:t>register, login, me</a:t>
            </a:r>
          </a:p>
        </p:txBody>
      </p:sp>
      <p:sp>
        <p:nvSpPr>
          <p:cNvPr id="503" name="Plans API"/>
          <p:cNvSpPr/>
          <p:nvPr/>
        </p:nvSpPr>
        <p:spPr>
          <a:xfrm>
            <a:off x="256032" y="2743200"/>
            <a:ext cx="333756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DBC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 err="1">
                <a:solidFill>
                  <a:srgbClr val="2F7DBC"/>
                </a:solidFill>
                <a:latin typeface="Arial"/>
              </a:rPr>
              <a:t>Планы</a:t>
            </a:r>
            <a:r>
              <a:rPr sz="1600" b="1" dirty="0">
                <a:solidFill>
                  <a:srgbClr val="2F7DBC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F7DBC"/>
                </a:solidFill>
                <a:latin typeface="Arial"/>
              </a:rPr>
              <a:t>питания</a:t>
            </a:r>
            <a:endParaRPr sz="1600" b="1" dirty="0">
              <a:solidFill>
                <a:srgbClr val="2F7DBC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 dirty="0">
                <a:solidFill>
                  <a:srgbClr val="475569"/>
                </a:solidFill>
                <a:latin typeface="Arial"/>
              </a:rPr>
              <a:t>generate, tasks, plan</a:t>
            </a:r>
          </a:p>
        </p:txBody>
      </p:sp>
      <p:sp>
        <p:nvSpPr>
          <p:cNvPr id="504" name="Recipes API"/>
          <p:cNvSpPr/>
          <p:nvPr/>
        </p:nvSpPr>
        <p:spPr>
          <a:xfrm>
            <a:off x="256032" y="3794760"/>
            <a:ext cx="333756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DBC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 err="1">
                <a:solidFill>
                  <a:srgbClr val="2F7DBC"/>
                </a:solidFill>
                <a:latin typeface="Arial"/>
              </a:rPr>
              <a:t>Рецепты</a:t>
            </a:r>
            <a:r>
              <a:rPr sz="1600" b="1" dirty="0">
                <a:solidFill>
                  <a:srgbClr val="2F7DBC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F7DBC"/>
                </a:solidFill>
                <a:latin typeface="Arial"/>
              </a:rPr>
              <a:t>и</a:t>
            </a:r>
            <a:r>
              <a:rPr sz="1600" b="1" dirty="0">
                <a:solidFill>
                  <a:srgbClr val="2F7DBC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F7DBC"/>
                </a:solidFill>
                <a:latin typeface="Arial"/>
              </a:rPr>
              <a:t>каталог</a:t>
            </a:r>
            <a:endParaRPr sz="1600" b="1" dirty="0">
              <a:solidFill>
                <a:srgbClr val="2F7DBC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 dirty="0">
                <a:solidFill>
                  <a:srgbClr val="475569"/>
                </a:solidFill>
                <a:latin typeface="Arial"/>
              </a:rPr>
              <a:t>recipes, batch, ingest</a:t>
            </a:r>
          </a:p>
        </p:txBody>
      </p:sp>
      <p:sp>
        <p:nvSpPr>
          <p:cNvPr id="505" name="Export API"/>
          <p:cNvSpPr/>
          <p:nvPr/>
        </p:nvSpPr>
        <p:spPr>
          <a:xfrm>
            <a:off x="256032" y="4846320"/>
            <a:ext cx="33375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DBC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 err="1">
                <a:solidFill>
                  <a:srgbClr val="2F7DBC"/>
                </a:solidFill>
                <a:latin typeface="Arial"/>
              </a:rPr>
              <a:t>Экспорт</a:t>
            </a:r>
            <a:endParaRPr sz="1600" b="1" dirty="0">
              <a:solidFill>
                <a:srgbClr val="2F7DBC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 dirty="0">
                <a:solidFill>
                  <a:srgbClr val="475569"/>
                </a:solidFill>
                <a:latin typeface="Arial"/>
              </a:rPr>
              <a:t>shopping, calendar, PDF</a:t>
            </a:r>
          </a:p>
        </p:txBody>
      </p:sp>
      <p:sp>
        <p:nvSpPr>
          <p:cNvPr id="506" name="Routes"/>
          <p:cNvSpPr/>
          <p:nvPr/>
        </p:nvSpPr>
        <p:spPr>
          <a:xfrm>
            <a:off x="4389120" y="1783080"/>
            <a:ext cx="3063240" cy="7498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 err="1">
                <a:solidFill>
                  <a:srgbClr val="0F172A"/>
                </a:solidFill>
                <a:latin typeface="Arial"/>
              </a:rPr>
              <a:t>api</a:t>
            </a:r>
            <a:r>
              <a:rPr sz="1600" b="1" dirty="0">
                <a:solidFill>
                  <a:srgbClr val="0F172A"/>
                </a:solidFill>
                <a:latin typeface="Arial"/>
              </a:rPr>
              <a:t>/routes</a:t>
            </a:r>
          </a:p>
          <a:p>
            <a:pPr algn="l">
              <a:spcAft>
                <a:spcPts val="0"/>
              </a:spcAft>
            </a:pPr>
            <a:r>
              <a:rPr sz="1600" dirty="0" err="1">
                <a:solidFill>
                  <a:srgbClr val="475569"/>
                </a:solidFill>
                <a:latin typeface="Arial"/>
              </a:rPr>
              <a:t>маршруты</a:t>
            </a:r>
            <a:r>
              <a:rPr sz="1600" dirty="0">
                <a:solidFill>
                  <a:srgbClr val="475569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и</a:t>
            </a:r>
            <a:r>
              <a:rPr sz="1600" dirty="0">
                <a:solidFill>
                  <a:srgbClr val="475569"/>
                </a:solidFill>
                <a:latin typeface="Arial"/>
              </a:rPr>
              <a:t> DTO</a:t>
            </a:r>
            <a:r>
              <a:rPr lang="ru-RU" sz="1600" dirty="0">
                <a:solidFill>
                  <a:srgbClr val="475569"/>
                </a:solidFill>
                <a:latin typeface="Arial"/>
              </a:rPr>
              <a:t>-ответы</a:t>
            </a:r>
            <a:endParaRPr sz="160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507" name="Agent"/>
          <p:cNvSpPr/>
          <p:nvPr/>
        </p:nvSpPr>
        <p:spPr>
          <a:xfrm>
            <a:off x="4389120" y="2743200"/>
            <a:ext cx="3063240" cy="841248"/>
          </a:xfrm>
          <a:prstGeom prst="roundRect">
            <a:avLst/>
          </a:prstGeom>
          <a:solidFill>
            <a:srgbClr val="F1ECFF"/>
          </a:solidFill>
          <a:ln w="19050">
            <a:solidFill>
              <a:srgbClr val="8067B7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8067B7"/>
                </a:solidFill>
                <a:latin typeface="Arial"/>
              </a:rPr>
              <a:t>core/agent + RAG</a:t>
            </a:r>
          </a:p>
          <a:p>
            <a:pPr algn="l">
              <a:spcAft>
                <a:spcPts val="0"/>
              </a:spcAft>
            </a:pPr>
            <a:r>
              <a:rPr sz="1600" dirty="0" err="1">
                <a:solidFill>
                  <a:srgbClr val="475569"/>
                </a:solidFill>
                <a:latin typeface="Arial"/>
              </a:rPr>
              <a:t>подбор</a:t>
            </a:r>
            <a:r>
              <a:rPr sz="1600" dirty="0">
                <a:solidFill>
                  <a:srgbClr val="475569"/>
                </a:solidFill>
                <a:latin typeface="Arial"/>
              </a:rPr>
              <a:t>, LLM, JSON</a:t>
            </a:r>
          </a:p>
        </p:txBody>
      </p:sp>
      <p:sp>
        <p:nvSpPr>
          <p:cNvPr id="508" name="Skills"/>
          <p:cNvSpPr/>
          <p:nvPr/>
        </p:nvSpPr>
        <p:spPr>
          <a:xfrm>
            <a:off x="4389120" y="3794760"/>
            <a:ext cx="3063240" cy="749808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4B9B5F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4B9B5F"/>
                </a:solidFill>
                <a:latin typeface="Arial"/>
              </a:rPr>
              <a:t>core/skills</a:t>
            </a:r>
          </a:p>
          <a:p>
            <a:pPr algn="l">
              <a:spcAft>
                <a:spcPts val="0"/>
              </a:spcAft>
            </a:pPr>
            <a:r>
              <a:rPr sz="1600" dirty="0" err="1">
                <a:solidFill>
                  <a:srgbClr val="475569"/>
                </a:solidFill>
                <a:latin typeface="Arial"/>
              </a:rPr>
              <a:t>расчет</a:t>
            </a:r>
            <a:r>
              <a:rPr sz="1600" dirty="0">
                <a:solidFill>
                  <a:srgbClr val="475569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проверка</a:t>
            </a:r>
            <a:r>
              <a:rPr sz="1600" dirty="0">
                <a:solidFill>
                  <a:srgbClr val="475569"/>
                </a:solidFill>
                <a:latin typeface="Arial"/>
              </a:rPr>
              <a:t>, export</a:t>
            </a:r>
          </a:p>
        </p:txBody>
      </p:sp>
      <p:sp>
        <p:nvSpPr>
          <p:cNvPr id="509" name="Worker"/>
          <p:cNvSpPr/>
          <p:nvPr/>
        </p:nvSpPr>
        <p:spPr>
          <a:xfrm>
            <a:off x="4389120" y="4754880"/>
            <a:ext cx="3063240" cy="841248"/>
          </a:xfrm>
          <a:prstGeom prst="roundRect">
            <a:avLst/>
          </a:prstGeom>
          <a:solidFill>
            <a:srgbClr val="FFF1DF"/>
          </a:solidFill>
          <a:ln w="19050">
            <a:solidFill>
              <a:srgbClr val="E48332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E48332"/>
                </a:solidFill>
                <a:latin typeface="Arial"/>
              </a:rPr>
              <a:t>worker/tasks</a:t>
            </a:r>
          </a:p>
          <a:p>
            <a:pPr algn="l">
              <a:spcAft>
                <a:spcPts val="0"/>
              </a:spcAft>
            </a:pPr>
            <a:r>
              <a:rPr sz="1600" dirty="0" err="1">
                <a:solidFill>
                  <a:srgbClr val="475569"/>
                </a:solidFill>
                <a:latin typeface="Arial"/>
              </a:rPr>
              <a:t>фоновые</a:t>
            </a:r>
            <a:r>
              <a:rPr sz="1600" dirty="0">
                <a:solidFill>
                  <a:srgbClr val="475569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задачи</a:t>
            </a:r>
            <a:endParaRPr sz="160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510" name="Postgres"/>
          <p:cNvSpPr/>
          <p:nvPr/>
        </p:nvSpPr>
        <p:spPr>
          <a:xfrm>
            <a:off x="8458200" y="1783080"/>
            <a:ext cx="3337560" cy="841248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4B9B5F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4B9B5F"/>
                </a:solidFill>
                <a:latin typeface="Arial"/>
              </a:rPr>
              <a:t>PostgreSQL + </a:t>
            </a:r>
            <a:r>
              <a:rPr sz="1600" b="1" dirty="0" err="1">
                <a:solidFill>
                  <a:srgbClr val="4B9B5F"/>
                </a:solidFill>
                <a:latin typeface="Arial"/>
              </a:rPr>
              <a:t>pgvector</a:t>
            </a:r>
            <a:endParaRPr sz="1600" b="1" dirty="0">
              <a:solidFill>
                <a:srgbClr val="4B9B5F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 dirty="0" err="1">
                <a:solidFill>
                  <a:srgbClr val="475569"/>
                </a:solidFill>
                <a:latin typeface="Arial"/>
              </a:rPr>
              <a:t>профили</a:t>
            </a:r>
            <a:r>
              <a:rPr sz="1600" dirty="0">
                <a:solidFill>
                  <a:srgbClr val="475569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рецепты</a:t>
            </a:r>
            <a:r>
              <a:rPr sz="1600" dirty="0">
                <a:solidFill>
                  <a:srgbClr val="475569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планы</a:t>
            </a:r>
            <a:endParaRPr sz="160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511" name="LLM provider"/>
          <p:cNvSpPr/>
          <p:nvPr/>
        </p:nvSpPr>
        <p:spPr>
          <a:xfrm>
            <a:off x="8458200" y="2743200"/>
            <a:ext cx="3337560" cy="841248"/>
          </a:xfrm>
          <a:prstGeom prst="roundRect">
            <a:avLst/>
          </a:prstGeom>
          <a:solidFill>
            <a:srgbClr val="F1ECFF"/>
          </a:solidFill>
          <a:ln w="19050">
            <a:solidFill>
              <a:srgbClr val="8067B7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8067B7"/>
                </a:solidFill>
                <a:latin typeface="Arial"/>
              </a:rPr>
              <a:t>LLM-</a:t>
            </a:r>
            <a:r>
              <a:rPr sz="1600" b="1" dirty="0" err="1">
                <a:solidFill>
                  <a:srgbClr val="8067B7"/>
                </a:solidFill>
                <a:latin typeface="Arial"/>
              </a:rPr>
              <a:t>провайдер</a:t>
            </a:r>
            <a:endParaRPr sz="1600" b="1" dirty="0">
              <a:solidFill>
                <a:srgbClr val="8067B7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 dirty="0" err="1">
                <a:solidFill>
                  <a:srgbClr val="475569"/>
                </a:solidFill>
                <a:latin typeface="Arial"/>
              </a:rPr>
              <a:t>структурированный</a:t>
            </a:r>
            <a:r>
              <a:rPr sz="1600" dirty="0">
                <a:solidFill>
                  <a:srgbClr val="475569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ответ</a:t>
            </a:r>
            <a:endParaRPr sz="160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512" name="Files"/>
          <p:cNvSpPr/>
          <p:nvPr/>
        </p:nvSpPr>
        <p:spPr>
          <a:xfrm>
            <a:off x="8458200" y="3794760"/>
            <a:ext cx="33375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 err="1">
                <a:solidFill>
                  <a:srgbClr val="64748B"/>
                </a:solidFill>
                <a:latin typeface="Arial"/>
              </a:rPr>
              <a:t>Клиентские</a:t>
            </a:r>
            <a:r>
              <a:rPr sz="1600" b="1" dirty="0">
                <a:solidFill>
                  <a:srgbClr val="64748B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64748B"/>
                </a:solidFill>
                <a:latin typeface="Arial"/>
              </a:rPr>
              <a:t>файлы</a:t>
            </a:r>
            <a:endParaRPr sz="1600" b="1" dirty="0">
              <a:solidFill>
                <a:srgbClr val="64748B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 dirty="0">
                <a:solidFill>
                  <a:srgbClr val="475569"/>
                </a:solidFill>
                <a:latin typeface="Arial"/>
              </a:rPr>
              <a:t>.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ics</a:t>
            </a:r>
            <a:r>
              <a:rPr sz="1600" dirty="0">
                <a:solidFill>
                  <a:srgbClr val="475569"/>
                </a:solidFill>
                <a:latin typeface="Arial"/>
              </a:rPr>
              <a:t>, PDF, 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список</a:t>
            </a:r>
            <a:endParaRPr sz="160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513" name="Redis"/>
          <p:cNvSpPr/>
          <p:nvPr/>
        </p:nvSpPr>
        <p:spPr>
          <a:xfrm>
            <a:off x="8458200" y="4754880"/>
            <a:ext cx="3337560" cy="841248"/>
          </a:xfrm>
          <a:prstGeom prst="roundRect">
            <a:avLst/>
          </a:prstGeom>
          <a:solidFill>
            <a:srgbClr val="FFF1DF"/>
          </a:solidFill>
          <a:ln w="19050">
            <a:solidFill>
              <a:srgbClr val="E48332"/>
            </a:solidFill>
            <a:prstDash val="solid"/>
          </a:ln>
        </p:spPr>
        <p:txBody>
          <a:bodyPr wrap="square" lIns="91440" tIns="91440" rIns="91440" bIns="9144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E48332"/>
                </a:solidFill>
                <a:latin typeface="Arial"/>
              </a:rPr>
              <a:t>Redis</a:t>
            </a:r>
          </a:p>
          <a:p>
            <a:pPr algn="l">
              <a:spcAft>
                <a:spcPts val="0"/>
              </a:spcAft>
            </a:pPr>
            <a:r>
              <a:rPr sz="1600" dirty="0" err="1">
                <a:solidFill>
                  <a:srgbClr val="475569"/>
                </a:solidFill>
                <a:latin typeface="Arial"/>
              </a:rPr>
              <a:t>очередь</a:t>
            </a:r>
            <a:r>
              <a:rPr sz="1600" dirty="0">
                <a:solidFill>
                  <a:srgbClr val="475569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и</a:t>
            </a:r>
            <a:r>
              <a:rPr sz="1600" dirty="0">
                <a:solidFill>
                  <a:srgbClr val="475569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475569"/>
                </a:solidFill>
                <a:latin typeface="Arial"/>
              </a:rPr>
              <a:t>статус</a:t>
            </a:r>
            <a:endParaRPr sz="160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514" name="users to routes"/>
          <p:cNvSpPr/>
          <p:nvPr/>
        </p:nvSpPr>
        <p:spPr>
          <a:xfrm>
            <a:off x="3593592" y="2157984"/>
            <a:ext cx="795528" cy="0"/>
          </a:xfrm>
          <a:prstGeom prst="line">
            <a:avLst/>
          </a:prstGeom>
          <a:noFill/>
          <a:ln w="20320">
            <a:solidFill>
              <a:srgbClr val="2F7DB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15" name="plans to agent"/>
          <p:cNvSpPr/>
          <p:nvPr/>
        </p:nvSpPr>
        <p:spPr>
          <a:xfrm>
            <a:off x="3593592" y="3163824"/>
            <a:ext cx="795528" cy="0"/>
          </a:xfrm>
          <a:prstGeom prst="line">
            <a:avLst/>
          </a:prstGeom>
          <a:noFill/>
          <a:ln w="20320">
            <a:solidFill>
              <a:srgbClr val="2F7DB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16" name="recipes to skills"/>
          <p:cNvSpPr/>
          <p:nvPr/>
        </p:nvSpPr>
        <p:spPr>
          <a:xfrm>
            <a:off x="3593592" y="4169664"/>
            <a:ext cx="795528" cy="0"/>
          </a:xfrm>
          <a:prstGeom prst="line">
            <a:avLst/>
          </a:prstGeom>
          <a:noFill/>
          <a:ln w="20320">
            <a:solidFill>
              <a:srgbClr val="2F7DB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17" name="export to worker"/>
          <p:cNvSpPr/>
          <p:nvPr/>
        </p:nvSpPr>
        <p:spPr>
          <a:xfrm flipV="1">
            <a:off x="3593592" y="5175504"/>
            <a:ext cx="795528" cy="54864"/>
          </a:xfrm>
          <a:prstGeom prst="line">
            <a:avLst/>
          </a:prstGeom>
          <a:noFill/>
          <a:ln w="20320">
            <a:solidFill>
              <a:srgbClr val="2F7DB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18" name="routes to postgres"/>
          <p:cNvSpPr/>
          <p:nvPr/>
        </p:nvSpPr>
        <p:spPr>
          <a:xfrm>
            <a:off x="7452360" y="2157984"/>
            <a:ext cx="1005840" cy="45720"/>
          </a:xfrm>
          <a:prstGeom prst="line">
            <a:avLst/>
          </a:prstGeom>
          <a:noFill/>
          <a:ln w="20320">
            <a:solidFill>
              <a:srgbClr val="4B9B5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19" name="agent to llm"/>
          <p:cNvSpPr/>
          <p:nvPr/>
        </p:nvSpPr>
        <p:spPr>
          <a:xfrm>
            <a:off x="7452360" y="3163824"/>
            <a:ext cx="1005840" cy="0"/>
          </a:xfrm>
          <a:prstGeom prst="line">
            <a:avLst/>
          </a:prstGeom>
          <a:noFill/>
          <a:ln w="20320">
            <a:solidFill>
              <a:srgbClr val="8067B7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20" name="skills to files"/>
          <p:cNvSpPr/>
          <p:nvPr/>
        </p:nvSpPr>
        <p:spPr>
          <a:xfrm>
            <a:off x="7452360" y="4169664"/>
            <a:ext cx="10058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21" name="worker to redis"/>
          <p:cNvSpPr/>
          <p:nvPr/>
        </p:nvSpPr>
        <p:spPr>
          <a:xfrm>
            <a:off x="7452360" y="5175504"/>
            <a:ext cx="1005840" cy="0"/>
          </a:xfrm>
          <a:prstGeom prst="line">
            <a:avLst/>
          </a:prstGeom>
          <a:noFill/>
          <a:ln w="20320">
            <a:solidFill>
              <a:srgbClr val="E4833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6">
            <a:extLst>
              <a:ext uri="{FF2B5EF4-FFF2-40B4-BE49-F238E27FC236}">
                <a16:creationId xmlns:a16="http://schemas.microsoft.com/office/drawing/2014/main" id="{EF5B6147-7DEC-1B00-3609-CC50BC09B890}"/>
              </a:ext>
            </a:extLst>
          </p:cNvPr>
          <p:cNvSpPr/>
          <p:nvPr/>
        </p:nvSpPr>
        <p:spPr>
          <a:xfrm>
            <a:off x="566928" y="6400800"/>
            <a:ext cx="1101852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D0421-3C22-5091-E240-97D67D4CED0C}"/>
              </a:ext>
            </a:extLst>
          </p:cNvPr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ru-RU" dirty="0"/>
              <a:t>14</a:t>
            </a:r>
            <a:r>
              <a:rPr dirty="0"/>
              <a:t> / 2</a:t>
            </a:r>
            <a:r>
              <a:rPr lang="ru-RU" dirty="0"/>
              <a:t>0</a:t>
            </a:r>
            <a:endParaRPr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C01A67B-8D93-74D8-F743-6838C476CDAA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9B0BAFE-8C68-084F-A7A7-E9BCDC4B5534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60737F2-C547-F3AC-AC3D-BCB7D86F5509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F89997-E551-1DDD-E5A0-6597D8294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53" y="987769"/>
            <a:ext cx="6559092" cy="54130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FE1EE9-17B9-78EF-E01D-2C2F22573912}"/>
              </a:ext>
            </a:extLst>
          </p:cNvPr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dirty="0" err="1"/>
              <a:t>Пример</a:t>
            </a:r>
            <a:r>
              <a:rPr sz="2200" dirty="0"/>
              <a:t> </a:t>
            </a:r>
            <a:r>
              <a:rPr sz="2200" dirty="0" err="1"/>
              <a:t>работы</a:t>
            </a:r>
            <a:r>
              <a:rPr sz="2200" dirty="0"/>
              <a:t>: </a:t>
            </a:r>
            <a:r>
              <a:rPr lang="ru-RU" sz="2200" dirty="0"/>
              <a:t>Профиль</a:t>
            </a:r>
            <a:endParaRPr sz="22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223D34FF-C9D4-1DBC-DB09-4BA38110834E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CF23442F-089C-0AEC-9D52-BD4B2CC0F2C1}"/>
              </a:ext>
            </a:extLst>
          </p:cNvPr>
          <p:cNvSpPr/>
          <p:nvPr/>
        </p:nvSpPr>
        <p:spPr>
          <a:xfrm>
            <a:off x="7909997" y="3011862"/>
            <a:ext cx="3541159" cy="17798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172EF-C3FE-BFA4-6D25-4AE37C2ECD31}"/>
              </a:ext>
            </a:extLst>
          </p:cNvPr>
          <p:cNvSpPr txBox="1"/>
          <p:nvPr/>
        </p:nvSpPr>
        <p:spPr>
          <a:xfrm>
            <a:off x="7985342" y="3181592"/>
            <a:ext cx="3390471" cy="144039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ru-RU" dirty="0"/>
              <a:t>Здесь хранятся данные пользователя. Индивидуальные параметры, активность, цель, предпочтения, ограничения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6077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dirty="0" err="1"/>
              <a:t>Пример</a:t>
            </a:r>
            <a:r>
              <a:rPr sz="2200" dirty="0"/>
              <a:t> </a:t>
            </a:r>
            <a:r>
              <a:rPr sz="2200" dirty="0" err="1"/>
              <a:t>работы</a:t>
            </a:r>
            <a:r>
              <a:rPr sz="2200" dirty="0"/>
              <a:t>: </a:t>
            </a:r>
            <a:r>
              <a:rPr sz="2200" dirty="0" err="1"/>
              <a:t>экран</a:t>
            </a:r>
            <a:r>
              <a:rPr sz="2200" dirty="0"/>
              <a:t> </a:t>
            </a:r>
            <a:r>
              <a:rPr lang="ru-RU" sz="2200" dirty="0"/>
              <a:t>Сегодня</a:t>
            </a:r>
            <a:endParaRPr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13 / 2</a:t>
            </a:r>
            <a:r>
              <a:rPr lang="ru-RU"/>
              <a:t>0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0607" y="5490856"/>
            <a:ext cx="54864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err="1"/>
              <a:t>Главный</a:t>
            </a:r>
            <a:r>
              <a:t> </a:t>
            </a:r>
            <a:r>
              <a:rPr err="1"/>
              <a:t>экран</a:t>
            </a:r>
            <a:r>
              <a:t> </a:t>
            </a:r>
            <a:r>
              <a:rPr err="1"/>
              <a:t>дня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234440"/>
            <a:ext cx="4572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Что демонстрируется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4480560" cy="1421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dirty="0"/>
              <a:t>1. </a:t>
            </a:r>
            <a:r>
              <a:rPr dirty="0" err="1"/>
              <a:t>Прогресс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калориям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макросам</a:t>
            </a:r>
            <a:r>
              <a:rPr dirty="0"/>
              <a:t> </a:t>
            </a:r>
            <a:r>
              <a:rPr dirty="0" err="1"/>
              <a:t>дня</a:t>
            </a:r>
            <a:endParaRPr dirty="0"/>
          </a:p>
          <a:p>
            <a:r>
              <a:rPr dirty="0"/>
              <a:t>2. </a:t>
            </a:r>
            <a:r>
              <a:rPr dirty="0" err="1"/>
              <a:t>Ближайший</a:t>
            </a:r>
            <a:r>
              <a:rPr dirty="0"/>
              <a:t> </a:t>
            </a:r>
            <a:r>
              <a:rPr dirty="0" err="1"/>
              <a:t>приём</a:t>
            </a:r>
            <a:r>
              <a:rPr dirty="0"/>
              <a:t> </a:t>
            </a:r>
            <a:r>
              <a:rPr dirty="0" err="1"/>
              <a:t>пищи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ритм</a:t>
            </a:r>
            <a:r>
              <a:rPr dirty="0"/>
              <a:t> </a:t>
            </a:r>
            <a:r>
              <a:rPr dirty="0" err="1"/>
              <a:t>дня</a:t>
            </a:r>
            <a:endParaRPr dirty="0"/>
          </a:p>
          <a:p>
            <a:r>
              <a:rPr dirty="0"/>
              <a:t>3. </a:t>
            </a:r>
            <a:r>
              <a:rPr dirty="0" err="1"/>
              <a:t>Карточки</a:t>
            </a:r>
            <a:r>
              <a:rPr dirty="0"/>
              <a:t> </a:t>
            </a:r>
            <a:r>
              <a:rPr dirty="0" err="1"/>
              <a:t>рецептов</a:t>
            </a:r>
            <a:br>
              <a:rPr lang="ru-RU" dirty="0"/>
            </a:br>
            <a:r>
              <a:rPr dirty="0"/>
              <a:t>4. </a:t>
            </a:r>
            <a:r>
              <a:rPr dirty="0" err="1"/>
              <a:t>Быстрые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:</a:t>
            </a:r>
            <a:r>
              <a:rPr lang="ru-RU" dirty="0"/>
              <a:t> экспорт в календарь</a:t>
            </a:r>
            <a:r>
              <a:rPr dirty="0"/>
              <a:t>, </a:t>
            </a:r>
            <a:r>
              <a:rPr dirty="0" err="1"/>
              <a:t>пересборка</a:t>
            </a:r>
            <a:r>
              <a:rPr lang="ru-RU" dirty="0"/>
              <a:t> всего плана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766560" y="3920490"/>
            <a:ext cx="4480560" cy="106299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3920490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Экран </a:t>
            </a:r>
            <a:r>
              <a:rPr err="1"/>
              <a:t>отвечает</a:t>
            </a:r>
            <a:r>
              <a:t> </a:t>
            </a:r>
            <a:r>
              <a:rPr err="1"/>
              <a:t>на</a:t>
            </a:r>
            <a:r>
              <a:t> </a:t>
            </a:r>
            <a:r>
              <a:rPr err="1"/>
              <a:t>вопрос</a:t>
            </a:r>
            <a:r>
              <a:t> </a:t>
            </a:r>
            <a:r>
              <a:rPr err="1"/>
              <a:t>пользователя</a:t>
            </a:r>
            <a:r>
              <a:t>: </a:t>
            </a:r>
            <a:r>
              <a:rPr err="1"/>
              <a:t>что</a:t>
            </a:r>
            <a:r>
              <a:t> </a:t>
            </a:r>
            <a:r>
              <a:rPr err="1"/>
              <a:t>есть</a:t>
            </a:r>
            <a:r>
              <a:t> </a:t>
            </a:r>
            <a:r>
              <a:rPr err="1"/>
              <a:t>сегодня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что</a:t>
            </a:r>
            <a:r>
              <a:t> </a:t>
            </a:r>
            <a:r>
              <a:rPr err="1"/>
              <a:t>подготовить</a:t>
            </a:r>
            <a:r>
              <a:t> </a:t>
            </a:r>
            <a:r>
              <a:rPr err="1"/>
              <a:t>дальше</a:t>
            </a:r>
            <a:r>
              <a:t>.</a:t>
            </a: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41BF1B9A-222B-4357-8693-5106124E30EE}"/>
              </a:ext>
            </a:extLst>
          </p:cNvPr>
          <p:cNvSpPr/>
          <p:nvPr/>
        </p:nvSpPr>
        <p:spPr>
          <a:xfrm>
            <a:off x="3048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A4DADDD8-33A7-416C-98D6-775D2C97CE5B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478AEF2-E5F0-4F9F-AF4A-055F89FB83A8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4A29F39C-63C2-4F1F-BF82-F5BCFE4CB1C2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ECA62B-2F28-B355-746B-1D5F3492C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14" y="996131"/>
            <a:ext cx="5272294" cy="42125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Пример</a:t>
            </a:r>
            <a:r>
              <a:rPr sz="2200"/>
              <a:t> </a:t>
            </a:r>
            <a:r>
              <a:rPr sz="2200" err="1"/>
              <a:t>работы</a:t>
            </a:r>
            <a:r>
              <a:rPr sz="2200"/>
              <a:t>: </a:t>
            </a:r>
            <a:r>
              <a:rPr sz="2200" err="1"/>
              <a:t>неделя</a:t>
            </a:r>
            <a:r>
              <a:rPr sz="2200"/>
              <a:t> </a:t>
            </a:r>
            <a:r>
              <a:rPr sz="2200" err="1"/>
              <a:t>и</a:t>
            </a:r>
            <a:r>
              <a:rPr sz="2200"/>
              <a:t> </a:t>
            </a:r>
            <a:r>
              <a:rPr sz="2200" err="1"/>
              <a:t>рецепт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14 / 2</a:t>
            </a:r>
            <a:r>
              <a:rPr lang="ru-RU"/>
              <a:t>0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1663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90588" y="4662875"/>
            <a:ext cx="20574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err="1"/>
              <a:t>Неделя</a:t>
            </a:r>
            <a:r>
              <a:t> + </a:t>
            </a:r>
            <a:r>
              <a:rPr err="1"/>
              <a:t>рецепт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7532" y="4663439"/>
            <a:ext cx="2790908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err="1"/>
              <a:t>Карточка</a:t>
            </a:r>
            <a:r>
              <a:t> </a:t>
            </a:r>
            <a:r>
              <a:rPr err="1"/>
              <a:t>рецепта</a:t>
            </a: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5166359"/>
            <a:ext cx="5733854" cy="15135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239512"/>
            <a:ext cx="5505254" cy="144039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err="1"/>
              <a:t>Пользователь</a:t>
            </a:r>
            <a:r>
              <a:t> </a:t>
            </a:r>
            <a:r>
              <a:rPr err="1"/>
              <a:t>видит</a:t>
            </a:r>
            <a:r>
              <a:t> 7 </a:t>
            </a:r>
            <a:r>
              <a:rPr err="1"/>
              <a:t>дней</a:t>
            </a:r>
            <a:r>
              <a:t> </a:t>
            </a:r>
            <a:r>
              <a:rPr err="1"/>
              <a:t>плана</a:t>
            </a:r>
            <a:r>
              <a:t>, </a:t>
            </a:r>
            <a:r>
              <a:rPr err="1"/>
              <a:t>может</a:t>
            </a:r>
            <a:r>
              <a:t> </a:t>
            </a:r>
            <a:r>
              <a:rPr err="1"/>
              <a:t>открыть</a:t>
            </a:r>
            <a:r>
              <a:t> </a:t>
            </a:r>
            <a:r>
              <a:rPr err="1"/>
              <a:t>блюдо</a:t>
            </a:r>
            <a:r>
              <a:t>, </a:t>
            </a:r>
            <a:r>
              <a:rPr err="1"/>
              <a:t>посмотреть</a:t>
            </a:r>
            <a:r>
              <a:t> </a:t>
            </a:r>
            <a:r>
              <a:rPr err="1"/>
              <a:t>ингредиенты</a:t>
            </a:r>
            <a:r>
              <a:t>, </a:t>
            </a:r>
            <a:r>
              <a:rPr err="1"/>
              <a:t>шаги</a:t>
            </a:r>
            <a:r>
              <a:t> </a:t>
            </a:r>
            <a:r>
              <a:rPr err="1"/>
              <a:t>приготовления</a:t>
            </a:r>
            <a:r>
              <a:rPr lang="ru-RU"/>
              <a:t>, </a:t>
            </a:r>
            <a:r>
              <a:rPr err="1"/>
              <a:t>заменить</a:t>
            </a:r>
            <a:r>
              <a:t> </a:t>
            </a:r>
            <a:r>
              <a:rPr lang="ru-RU"/>
              <a:t>блюдо</a:t>
            </a:r>
            <a:r>
              <a:t> </a:t>
            </a:r>
            <a:r>
              <a:rPr err="1"/>
              <a:t>при</a:t>
            </a:r>
            <a:r>
              <a:t> </a:t>
            </a:r>
            <a:r>
              <a:rPr err="1"/>
              <a:t>необходимости</a:t>
            </a:r>
            <a:r>
              <a:rPr lang="ru-RU"/>
              <a:t> и экспортировать в календарь или в </a:t>
            </a:r>
            <a:r>
              <a:rPr lang="en-US"/>
              <a:t>PDF</a:t>
            </a:r>
            <a:endParaRPr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7B9EF3D9-7A66-458C-865D-D9795DBDA606}"/>
              </a:ext>
            </a:extLst>
          </p:cNvPr>
          <p:cNvSpPr/>
          <p:nvPr/>
        </p:nvSpPr>
        <p:spPr>
          <a:xfrm>
            <a:off x="3048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E30F65F-E720-4B3C-9EED-3FDE7D8D2F54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4DB0360A-4ED4-4218-81E2-680BD4E869B1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ECF5DA70-9DCD-482B-8E68-9EF6CC73F3E0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C17374-75AF-278F-B108-056970A4B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002" y="1143000"/>
            <a:ext cx="4185238" cy="46628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982402-079C-2F42-4E96-0EB4F8D65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46" y="994045"/>
            <a:ext cx="5505254" cy="37723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EDCD6C-BAE0-1117-6E23-93007EF3182B}"/>
              </a:ext>
            </a:extLst>
          </p:cNvPr>
          <p:cNvSpPr txBox="1"/>
          <p:nvPr/>
        </p:nvSpPr>
        <p:spPr>
          <a:xfrm>
            <a:off x="8020399" y="5978057"/>
            <a:ext cx="190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/>
              <a:t>Карточка блюда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Пример</a:t>
            </a:r>
            <a:r>
              <a:rPr sz="2200"/>
              <a:t> </a:t>
            </a:r>
            <a:r>
              <a:rPr sz="2200" err="1"/>
              <a:t>работы</a:t>
            </a:r>
            <a:r>
              <a:rPr sz="2200"/>
              <a:t>: </a:t>
            </a:r>
            <a:r>
              <a:rPr sz="2200" err="1"/>
              <a:t>список</a:t>
            </a:r>
            <a:r>
              <a:rPr sz="2200"/>
              <a:t> </a:t>
            </a:r>
            <a:r>
              <a:rPr sz="2200" err="1"/>
              <a:t>покупок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15 / 2</a:t>
            </a:r>
            <a:r>
              <a:rPr lang="ru-RU"/>
              <a:t>0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6297" y="5465014"/>
            <a:ext cx="57607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err="1"/>
              <a:t>Список</a:t>
            </a:r>
            <a:r>
              <a:t> </a:t>
            </a:r>
            <a:r>
              <a:rPr err="1"/>
              <a:t>покупок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1280160"/>
            <a:ext cx="4389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Состав результата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4389120" cy="1421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t>1. </a:t>
            </a:r>
            <a:r>
              <a:rPr err="1"/>
              <a:t>Агрегированные</a:t>
            </a:r>
            <a:r>
              <a:t> </a:t>
            </a:r>
            <a:r>
              <a:rPr err="1"/>
              <a:t>ингредиенты</a:t>
            </a:r>
            <a:r>
              <a:t> </a:t>
            </a:r>
            <a:r>
              <a:rPr err="1"/>
              <a:t>на</a:t>
            </a:r>
            <a:r>
              <a:t> </a:t>
            </a:r>
            <a:r>
              <a:rPr err="1"/>
              <a:t>всю</a:t>
            </a:r>
            <a:r>
              <a:t> </a:t>
            </a:r>
            <a:r>
              <a:rPr err="1"/>
              <a:t>неделю</a:t>
            </a:r>
            <a:r>
              <a:t>;</a:t>
            </a:r>
          </a:p>
          <a:p>
            <a:r>
              <a:t>2. </a:t>
            </a:r>
            <a:r>
              <a:rPr err="1"/>
              <a:t>Отметка</a:t>
            </a:r>
            <a:r>
              <a:t> </a:t>
            </a:r>
            <a:r>
              <a:rPr err="1"/>
              <a:t>купленных</a:t>
            </a:r>
            <a:r>
              <a:t> </a:t>
            </a:r>
            <a:r>
              <a:rPr err="1"/>
              <a:t>позиций</a:t>
            </a:r>
            <a:r>
              <a:t>;</a:t>
            </a:r>
          </a:p>
          <a:p>
            <a:r>
              <a:rPr lang="ru-RU"/>
              <a:t>3</a:t>
            </a:r>
            <a:r>
              <a:t>. </a:t>
            </a:r>
            <a:r>
              <a:rPr err="1"/>
              <a:t>Формирование</a:t>
            </a:r>
            <a:r>
              <a:t> </a:t>
            </a:r>
            <a:r>
              <a:rPr err="1"/>
              <a:t>списка</a:t>
            </a:r>
            <a:r>
              <a:t> </a:t>
            </a:r>
            <a:r>
              <a:rPr err="1"/>
              <a:t>из</a:t>
            </a:r>
            <a:r>
              <a:t> </a:t>
            </a:r>
            <a:r>
              <a:rPr err="1"/>
              <a:t>текущего</a:t>
            </a:r>
            <a:r>
              <a:t> </a:t>
            </a:r>
            <a:r>
              <a:rPr err="1"/>
              <a:t>активного</a:t>
            </a:r>
            <a:r>
              <a:t> </a:t>
            </a:r>
            <a:r>
              <a:rPr err="1"/>
              <a:t>плана</a:t>
            </a:r>
            <a: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343400"/>
            <a:ext cx="4206240" cy="1066800"/>
          </a:xfrm>
          <a:prstGeom prst="roundRect">
            <a:avLst/>
          </a:prstGeom>
          <a:solidFill>
            <a:srgbClr val="FFF4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4433601"/>
            <a:ext cx="3749039" cy="88639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Список </a:t>
            </a:r>
            <a:r>
              <a:rPr err="1"/>
              <a:t>покупок</a:t>
            </a:r>
            <a:r>
              <a:t> </a:t>
            </a:r>
            <a:r>
              <a:rPr err="1"/>
              <a:t>связывает</a:t>
            </a:r>
            <a:r>
              <a:t> </a:t>
            </a:r>
            <a:r>
              <a:rPr err="1"/>
              <a:t>план</a:t>
            </a:r>
            <a:r>
              <a:t> </a:t>
            </a:r>
            <a:r>
              <a:rPr err="1"/>
              <a:t>питания</a:t>
            </a:r>
            <a:r>
              <a:t> </a:t>
            </a:r>
            <a:r>
              <a:rPr err="1"/>
              <a:t>с</a:t>
            </a:r>
            <a:r>
              <a:t> </a:t>
            </a:r>
            <a:r>
              <a:rPr err="1"/>
              <a:t>реальной</a:t>
            </a:r>
            <a:r>
              <a:t> </a:t>
            </a:r>
            <a:r>
              <a:rPr err="1"/>
              <a:t>подготовкой</a:t>
            </a:r>
            <a:r>
              <a:t> </a:t>
            </a:r>
            <a:r>
              <a:rPr err="1"/>
              <a:t>к</a:t>
            </a:r>
            <a:r>
              <a:t> </a:t>
            </a:r>
            <a:r>
              <a:rPr lang="ru-RU"/>
              <a:t>приготовлению пищи</a:t>
            </a:r>
            <a:endParaRPr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056C885-9F4F-4D41-9966-E6C3B08C5D65}"/>
              </a:ext>
            </a:extLst>
          </p:cNvPr>
          <p:cNvSpPr/>
          <p:nvPr/>
        </p:nvSpPr>
        <p:spPr>
          <a:xfrm>
            <a:off x="3048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087122A-E2BC-4726-87BE-25A8BC2E8B3E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8175AE01-D3AE-4BC5-97F7-BA2D241CD314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0E418129-E89C-4018-AD7E-78F1201E82E6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F5892A-E67E-4513-2C43-D6A62D777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" y="1389597"/>
            <a:ext cx="6334125" cy="39170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Использование</a:t>
            </a:r>
            <a:r>
              <a:rPr sz="2200"/>
              <a:t> </a:t>
            </a:r>
            <a:r>
              <a:rPr sz="2200" err="1"/>
              <a:t>структурированных</a:t>
            </a:r>
            <a:r>
              <a:rPr sz="2200"/>
              <a:t> </a:t>
            </a:r>
            <a:r>
              <a:rPr sz="2200" err="1"/>
              <a:t>данных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</a:t>
            </a:r>
            <a:r>
              <a:rPr lang="ru-RU"/>
              <a:t>6</a:t>
            </a:r>
            <a:r>
              <a:t> / 2</a:t>
            </a:r>
            <a:r>
              <a:rPr lang="ru-RU"/>
              <a:t>0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789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Примеры отчётности по плану и генерациям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2777"/>
              </p:ext>
            </p:extLst>
          </p:nvPr>
        </p:nvGraphicFramePr>
        <p:xfrm>
          <a:off x="685800" y="1691640"/>
          <a:ext cx="694944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t>Показатель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Источник данных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Пример результата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Калории по дням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meal_plan_days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 дней в пределах цели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Состав блюд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meal_plan_meals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 приёма пищи в день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Список покупок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meal_plan_meal_ingredients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 позиции на неделю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Качество генерации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generation_run_steps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профиль → каталог → планировщик → проверка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Активность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meal_plan_events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замена / пересборка / экспорт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09560" y="1691640"/>
            <a:ext cx="3383280" cy="31089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920240"/>
            <a:ext cx="2834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Пример SQL‑запроса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514600"/>
            <a:ext cx="283464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SELECT day_number,</a:t>
            </a:r>
          </a:p>
          <a:p>
            <a:r>
              <a:t>       total_calories,</a:t>
            </a:r>
          </a:p>
          <a:p>
            <a:r>
              <a:t>       target_calories</a:t>
            </a:r>
          </a:p>
          <a:p>
            <a:r>
              <a:t>FROM meal_plan_days</a:t>
            </a:r>
          </a:p>
          <a:p>
            <a:r>
              <a:t>WHERE meal_plan_id = :plan_id</a:t>
            </a:r>
          </a:p>
          <a:p>
            <a:r>
              <a:t>ORDER BY day_number;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560" y="5634702"/>
            <a:ext cx="10607040" cy="685800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588982"/>
            <a:ext cx="101498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Структурированное хранение плана позволяет строить отчётность, диагностика и список покупок без повторного парсинга JSON.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287640E0-80DC-48F0-BAB2-78C46BD2DCAC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21BFC07-496A-4C70-A821-C16664EEC880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2D0680E6-E01F-4FE8-9DE1-B2ECC4620645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8167F4BF-911F-4316-BABA-4420D7F7A3C2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Оценка</a:t>
            </a:r>
            <a:r>
              <a:rPr sz="2200"/>
              <a:t> </a:t>
            </a:r>
            <a:r>
              <a:rPr sz="2200" err="1"/>
              <a:t>результата</a:t>
            </a:r>
            <a:r>
              <a:rPr sz="2200"/>
              <a:t> </a:t>
            </a:r>
            <a:r>
              <a:rPr sz="2200" err="1"/>
              <a:t>и</a:t>
            </a:r>
            <a:r>
              <a:rPr sz="2200"/>
              <a:t> </a:t>
            </a:r>
            <a:r>
              <a:rPr sz="2200" err="1"/>
              <a:t>ограничения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</a:t>
            </a:r>
            <a:r>
              <a:rPr lang="ru-RU"/>
              <a:t>7</a:t>
            </a:r>
            <a:r>
              <a:t> / 2</a:t>
            </a:r>
            <a:r>
              <a:rPr lang="ru-RU"/>
              <a:t>0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303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4023360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7160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Полученный 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84354"/>
            <a:ext cx="5029200" cy="17173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dirty="0"/>
              <a:t>1. </a:t>
            </a:r>
            <a:r>
              <a:rPr dirty="0" err="1"/>
              <a:t>Работающее</a:t>
            </a:r>
            <a:r>
              <a:rPr dirty="0"/>
              <a:t> </a:t>
            </a:r>
            <a:r>
              <a:rPr dirty="0" err="1"/>
              <a:t>веб‑приложение</a:t>
            </a:r>
            <a:r>
              <a:rPr dirty="0"/>
              <a:t> Mealy;</a:t>
            </a:r>
          </a:p>
          <a:p>
            <a:r>
              <a:rPr dirty="0"/>
              <a:t>2. </a:t>
            </a:r>
            <a:r>
              <a:rPr dirty="0" err="1"/>
              <a:t>Генерация</a:t>
            </a:r>
            <a:r>
              <a:rPr dirty="0"/>
              <a:t> 7‑дневного </a:t>
            </a:r>
            <a:r>
              <a:rPr dirty="0" err="1"/>
              <a:t>плана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рецептов</a:t>
            </a:r>
            <a:r>
              <a:rPr dirty="0"/>
              <a:t>;</a:t>
            </a:r>
          </a:p>
          <a:p>
            <a:r>
              <a:rPr dirty="0"/>
              <a:t>3. </a:t>
            </a:r>
            <a:r>
              <a:rPr dirty="0" err="1"/>
              <a:t>Экраны</a:t>
            </a:r>
            <a:r>
              <a:rPr dirty="0"/>
              <a:t> </a:t>
            </a:r>
            <a:r>
              <a:rPr lang="ru-RU" dirty="0"/>
              <a:t>Сегодня</a:t>
            </a:r>
            <a:r>
              <a:rPr dirty="0"/>
              <a:t>, </a:t>
            </a:r>
            <a:r>
              <a:rPr lang="ru-RU" dirty="0"/>
              <a:t>Неделя</a:t>
            </a:r>
            <a:r>
              <a:rPr dirty="0"/>
              <a:t>, </a:t>
            </a:r>
            <a:r>
              <a:rPr lang="ru-RU" dirty="0"/>
              <a:t>Рецепты</a:t>
            </a:r>
            <a:r>
              <a:rPr dirty="0"/>
              <a:t>, </a:t>
            </a:r>
            <a:r>
              <a:rPr lang="ru-RU" dirty="0"/>
              <a:t>Покупки</a:t>
            </a:r>
            <a:r>
              <a:rPr dirty="0"/>
              <a:t>, </a:t>
            </a:r>
            <a:r>
              <a:rPr lang="ru-RU" dirty="0"/>
              <a:t>Профиль</a:t>
            </a:r>
            <a:r>
              <a:rPr dirty="0"/>
              <a:t>;</a:t>
            </a:r>
          </a:p>
          <a:p>
            <a:r>
              <a:rPr lang="ru-RU" dirty="0"/>
              <a:t>4</a:t>
            </a:r>
            <a:r>
              <a:rPr dirty="0"/>
              <a:t>. </a:t>
            </a:r>
            <a:r>
              <a:rPr dirty="0" err="1"/>
              <a:t>Экспорт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календарь</a:t>
            </a:r>
            <a:r>
              <a:rPr dirty="0"/>
              <a:t>, PDF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буфер</a:t>
            </a:r>
            <a:r>
              <a:rPr dirty="0"/>
              <a:t> </a:t>
            </a:r>
            <a:r>
              <a:rPr dirty="0" err="1"/>
              <a:t>обмена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5303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73152" cy="4023360"/>
          </a:xfrm>
          <a:prstGeom prst="rect">
            <a:avLst/>
          </a:prstGeom>
          <a:solidFill>
            <a:srgbClr val="C2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37160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Ограничения прототипа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984354"/>
            <a:ext cx="5029200" cy="1994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1. </a:t>
            </a:r>
            <a:r>
              <a:rPr err="1"/>
              <a:t>Не</a:t>
            </a:r>
            <a:r>
              <a:t> </a:t>
            </a:r>
            <a:r>
              <a:rPr err="1"/>
              <a:t>является</a:t>
            </a:r>
            <a:r>
              <a:t> </a:t>
            </a:r>
            <a:r>
              <a:rPr err="1"/>
              <a:t>медицинской</a:t>
            </a:r>
            <a:r>
              <a:t> </a:t>
            </a:r>
            <a:r>
              <a:rPr err="1"/>
              <a:t>рекомендацией</a:t>
            </a:r>
            <a:r>
              <a:t>;</a:t>
            </a:r>
          </a:p>
          <a:p>
            <a:r>
              <a:t>2. </a:t>
            </a:r>
            <a:r>
              <a:rPr err="1"/>
              <a:t>Качество</a:t>
            </a:r>
            <a:r>
              <a:t> </a:t>
            </a:r>
            <a:r>
              <a:rPr err="1"/>
              <a:t>плана</a:t>
            </a:r>
            <a:r>
              <a:t> </a:t>
            </a:r>
            <a:r>
              <a:rPr err="1"/>
              <a:t>зависит</a:t>
            </a:r>
            <a:r>
              <a:t> </a:t>
            </a:r>
            <a:r>
              <a:rPr err="1"/>
              <a:t>от</a:t>
            </a:r>
            <a:r>
              <a:t> </a:t>
            </a:r>
            <a:r>
              <a:rPr err="1"/>
              <a:t>полноты</a:t>
            </a:r>
            <a:r>
              <a:t> </a:t>
            </a:r>
            <a:r>
              <a:rPr err="1"/>
              <a:t>каталога</a:t>
            </a:r>
            <a:r>
              <a:t> </a:t>
            </a:r>
            <a:r>
              <a:rPr err="1"/>
              <a:t>рецептов</a:t>
            </a:r>
            <a:r>
              <a:t>;</a:t>
            </a:r>
          </a:p>
          <a:p>
            <a:r>
              <a:t>3. LLM‑</a:t>
            </a:r>
            <a:r>
              <a:rPr err="1"/>
              <a:t>контур</a:t>
            </a:r>
            <a:r>
              <a:t> </a:t>
            </a:r>
            <a:r>
              <a:rPr err="1"/>
              <a:t>требует</a:t>
            </a:r>
            <a:r>
              <a:t> </a:t>
            </a:r>
            <a:r>
              <a:rPr err="1"/>
              <a:t>контроля</a:t>
            </a:r>
            <a:r>
              <a:t> </a:t>
            </a:r>
            <a:r>
              <a:rPr err="1"/>
              <a:t>стоимости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качества</a:t>
            </a:r>
            <a:r>
              <a:t>;</a:t>
            </a:r>
          </a:p>
          <a:p>
            <a:r>
              <a:t>4. </a:t>
            </a:r>
            <a:r>
              <a:rPr err="1"/>
              <a:t>Для</a:t>
            </a:r>
            <a:r>
              <a:t> </a:t>
            </a:r>
            <a:r>
              <a:rPr err="1"/>
              <a:t>промышленной</a:t>
            </a:r>
            <a:r>
              <a:t> </a:t>
            </a:r>
            <a:r>
              <a:rPr err="1"/>
              <a:t>эксплуатации</a:t>
            </a:r>
            <a:r>
              <a:t> </a:t>
            </a:r>
            <a:r>
              <a:rPr err="1"/>
              <a:t>нужны</a:t>
            </a:r>
            <a:r>
              <a:t> </a:t>
            </a:r>
            <a:r>
              <a:rPr err="1"/>
              <a:t>нагрузочные</a:t>
            </a:r>
            <a:r>
              <a:t> </a:t>
            </a:r>
            <a:r>
              <a:rPr err="1"/>
              <a:t>тесты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мониторинг</a:t>
            </a:r>
            <a:r>
              <a:t>;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0E67A393-AEF9-44EE-A5E3-DA87FCCC4E0D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B0BE5FB1-8214-43DE-BA95-87E6170E34C7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A004D02A-07C6-4703-A220-2F24A7EE7BDC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EDB2D654-F1AE-4CE4-8394-85DC9D7424B6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Направления</a:t>
            </a:r>
            <a:r>
              <a:rPr sz="2200"/>
              <a:t> </a:t>
            </a:r>
            <a:r>
              <a:rPr sz="2200" err="1"/>
              <a:t>развития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</a:t>
            </a:r>
            <a:r>
              <a:rPr lang="ru-RU"/>
              <a:t>8</a:t>
            </a:r>
            <a:r>
              <a:t> / 2</a:t>
            </a:r>
            <a:r>
              <a:rPr lang="ru-RU"/>
              <a:t>0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78992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600" err="1"/>
              <a:t>Развитие</a:t>
            </a:r>
            <a:r>
              <a:rPr sz="2600"/>
              <a:t> </a:t>
            </a:r>
            <a:r>
              <a:rPr sz="2600" err="1"/>
              <a:t>проекта</a:t>
            </a:r>
            <a:r>
              <a:rPr sz="2600"/>
              <a:t> </a:t>
            </a:r>
            <a:r>
              <a:rPr sz="2600" err="1"/>
              <a:t>после</a:t>
            </a:r>
            <a:r>
              <a:rPr sz="2600"/>
              <a:t> </a:t>
            </a:r>
            <a:r>
              <a:rPr sz="2600" err="1"/>
              <a:t>текущего</a:t>
            </a:r>
            <a:r>
              <a:rPr sz="2600"/>
              <a:t> </a:t>
            </a:r>
            <a:r>
              <a:rPr lang="en-US" sz="2600" err="1"/>
              <a:t>э</a:t>
            </a:r>
            <a:r>
              <a:rPr lang="ru-RU" sz="2600"/>
              <a:t>тапа</a:t>
            </a:r>
            <a:endParaRPr sz="2600"/>
          </a:p>
        </p:txBody>
      </p:sp>
      <p:sp>
        <p:nvSpPr>
          <p:cNvPr id="8" name="Rounded Rectangle 7"/>
          <p:cNvSpPr/>
          <p:nvPr/>
        </p:nvSpPr>
        <p:spPr>
          <a:xfrm>
            <a:off x="731520" y="2011679"/>
            <a:ext cx="2514600" cy="30706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24028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0130" y="2208576"/>
            <a:ext cx="18288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4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4460" y="2153078"/>
            <a:ext cx="1714500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Каталог</a:t>
            </a:r>
            <a:r>
              <a:rPr sz="2200"/>
              <a:t> </a:t>
            </a:r>
            <a:r>
              <a:rPr sz="2200" err="1"/>
              <a:t>рецептов</a:t>
            </a:r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2057400" cy="1994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100"/>
              <a:t>расширение базы, конвейер загрузки, контроль качества источников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011680"/>
            <a:ext cx="2514600" cy="30706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94760" y="2240280"/>
            <a:ext cx="411480" cy="411480"/>
          </a:xfrm>
          <a:prstGeom prst="ellipse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75267" y="2208576"/>
            <a:ext cx="18288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40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5307" y="2153078"/>
            <a:ext cx="1885453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Персонализация</a:t>
            </a:r>
            <a:endParaRPr sz="2200"/>
          </a:p>
        </p:txBody>
      </p:sp>
      <p:sp>
        <p:nvSpPr>
          <p:cNvPr id="17" name="TextBox 16"/>
          <p:cNvSpPr txBox="1"/>
          <p:nvPr/>
        </p:nvSpPr>
        <p:spPr>
          <a:xfrm>
            <a:off x="3794760" y="2880360"/>
            <a:ext cx="2057400" cy="16712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100"/>
              <a:t>обратная связь пользователя, адаптация плана, умные замены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2514600" cy="30706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29400" y="2240280"/>
            <a:ext cx="411480" cy="411480"/>
          </a:xfrm>
          <a:prstGeom prst="ellipse">
            <a:avLst/>
          </a:prstGeom>
          <a:solidFill>
            <a:srgbClr val="C2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05051" y="2233654"/>
            <a:ext cx="18288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40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3740" y="2153078"/>
            <a:ext cx="1714500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Инфраструктура</a:t>
            </a:r>
            <a:endParaRPr sz="2200"/>
          </a:p>
        </p:txBody>
      </p:sp>
      <p:sp>
        <p:nvSpPr>
          <p:cNvPr id="22" name="TextBox 21"/>
          <p:cNvSpPr txBox="1"/>
          <p:nvPr/>
        </p:nvSpPr>
        <p:spPr>
          <a:xfrm>
            <a:off x="6629400" y="2880360"/>
            <a:ext cx="2057400" cy="16712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100" err="1"/>
              <a:t>мониторинг</a:t>
            </a:r>
            <a:r>
              <a:rPr sz="2100"/>
              <a:t>, CI/CD, </a:t>
            </a:r>
            <a:r>
              <a:rPr sz="2100" err="1"/>
              <a:t>резервное</a:t>
            </a:r>
            <a:r>
              <a:rPr sz="2100"/>
              <a:t> </a:t>
            </a:r>
            <a:r>
              <a:rPr sz="2100" err="1"/>
              <a:t>копирование</a:t>
            </a:r>
            <a:r>
              <a:rPr sz="2100"/>
              <a:t>, </a:t>
            </a:r>
            <a:r>
              <a:rPr sz="2100" err="1"/>
              <a:t>диагностика</a:t>
            </a:r>
            <a:endParaRPr sz="2100"/>
          </a:p>
        </p:txBody>
      </p:sp>
      <p:sp>
        <p:nvSpPr>
          <p:cNvPr id="23" name="Rounded Rectangle 22"/>
          <p:cNvSpPr/>
          <p:nvPr/>
        </p:nvSpPr>
        <p:spPr>
          <a:xfrm>
            <a:off x="9235440" y="2011680"/>
            <a:ext cx="2514600" cy="30706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64040" y="2267712"/>
            <a:ext cx="411480" cy="411480"/>
          </a:xfrm>
          <a:prstGeom prst="ellipse">
            <a:avLst/>
          </a:prstGeom>
          <a:solidFill>
            <a:srgbClr val="2D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32620" y="2240280"/>
            <a:ext cx="18288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40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8887" y="2240280"/>
            <a:ext cx="1633993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Интеграции</a:t>
            </a:r>
            <a:endParaRPr sz="2200"/>
          </a:p>
        </p:txBody>
      </p:sp>
      <p:sp>
        <p:nvSpPr>
          <p:cNvPr id="27" name="TextBox 26"/>
          <p:cNvSpPr txBox="1"/>
          <p:nvPr/>
        </p:nvSpPr>
        <p:spPr>
          <a:xfrm>
            <a:off x="9464040" y="2791799"/>
            <a:ext cx="2286000" cy="16712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100" err="1"/>
              <a:t>мобильная</a:t>
            </a:r>
            <a:r>
              <a:rPr sz="2100"/>
              <a:t> </a:t>
            </a:r>
            <a:r>
              <a:rPr sz="2100" err="1"/>
              <a:t>оболочка</a:t>
            </a:r>
            <a:r>
              <a:rPr sz="2100"/>
              <a:t>, </a:t>
            </a:r>
            <a:r>
              <a:rPr sz="2100" err="1"/>
              <a:t>умные</a:t>
            </a:r>
            <a:r>
              <a:rPr sz="2100"/>
              <a:t> </a:t>
            </a:r>
            <a:r>
              <a:rPr sz="2100" err="1"/>
              <a:t>весы</a:t>
            </a:r>
            <a:r>
              <a:rPr sz="2100"/>
              <a:t>, носимые‑</a:t>
            </a:r>
            <a:r>
              <a:rPr sz="2100" err="1"/>
              <a:t>источники</a:t>
            </a:r>
            <a:r>
              <a:rPr sz="2100"/>
              <a:t> </a:t>
            </a:r>
            <a:r>
              <a:rPr sz="2100" err="1"/>
              <a:t>активности</a:t>
            </a:r>
            <a:endParaRPr sz="210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C807D4D2-1ACE-4D24-93FB-39046F8C0D82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88718733-89DB-47A3-AEF8-87E34CBCEF58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B3E58A3D-56AE-4F79-9BEC-42E253193269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57E4465B-AD23-4D54-9A39-D0278DE035D1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200" err="1"/>
              <a:t>Заключение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ru-RU"/>
              <a:t>19</a:t>
            </a:r>
            <a:r>
              <a:t> / 2</a:t>
            </a:r>
            <a:r>
              <a:rPr lang="ru-RU"/>
              <a:t>0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26333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94488" cy="2765348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63039"/>
            <a:ext cx="4937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В ходе работы разработано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92807"/>
            <a:ext cx="4937760" cy="1994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1. </a:t>
            </a:r>
            <a:r>
              <a:rPr err="1"/>
              <a:t>Веб‑приложение</a:t>
            </a:r>
            <a:r>
              <a:t> Mealy </a:t>
            </a:r>
            <a:r>
              <a:rPr err="1"/>
              <a:t>для</a:t>
            </a:r>
            <a:r>
              <a:t> </a:t>
            </a:r>
            <a:r>
              <a:rPr err="1"/>
              <a:t>персонального</a:t>
            </a:r>
            <a:r>
              <a:t> </a:t>
            </a:r>
            <a:r>
              <a:rPr err="1"/>
              <a:t>планирования</a:t>
            </a:r>
            <a:r>
              <a:t> </a:t>
            </a:r>
            <a:r>
              <a:rPr err="1"/>
              <a:t>питания</a:t>
            </a:r>
            <a:r>
              <a:t>;</a:t>
            </a:r>
          </a:p>
          <a:p>
            <a:r>
              <a:t>2. </a:t>
            </a:r>
            <a:r>
              <a:rPr lang="ru-RU"/>
              <a:t>Реализована с</a:t>
            </a:r>
            <a:r>
              <a:rPr err="1"/>
              <a:t>ерверная</a:t>
            </a:r>
            <a:r>
              <a:t> </a:t>
            </a:r>
            <a:r>
              <a:rPr err="1"/>
              <a:t>часть</a:t>
            </a:r>
            <a:r>
              <a:t> </a:t>
            </a:r>
            <a:r>
              <a:rPr lang="en-US"/>
              <a:t>;</a:t>
            </a:r>
            <a:endParaRPr lang="ru-RU"/>
          </a:p>
          <a:p>
            <a:r>
              <a:t>3. </a:t>
            </a:r>
            <a:r>
              <a:rPr lang="ru-RU"/>
              <a:t>Реализована к</a:t>
            </a:r>
            <a:r>
              <a:rPr err="1"/>
              <a:t>лиентская</a:t>
            </a:r>
            <a:r>
              <a:t> </a:t>
            </a:r>
            <a:r>
              <a:rPr err="1"/>
              <a:t>часть</a:t>
            </a:r>
            <a:r>
              <a:rPr lang="en-US"/>
              <a:t>;</a:t>
            </a:r>
            <a:endParaRPr lang="ru-RU"/>
          </a:p>
          <a:p>
            <a:r>
              <a:t>4. </a:t>
            </a:r>
            <a:r>
              <a:rPr lang="ru-RU"/>
              <a:t>Разработана и заполнена </a:t>
            </a:r>
            <a:r>
              <a:t>БД </a:t>
            </a:r>
            <a:r>
              <a:rPr err="1"/>
              <a:t>для</a:t>
            </a:r>
            <a:r>
              <a:t> </a:t>
            </a:r>
            <a:r>
              <a:rPr err="1"/>
              <a:t>пользователей</a:t>
            </a:r>
            <a:r>
              <a:t>, </a:t>
            </a:r>
            <a:r>
              <a:rPr err="1"/>
              <a:t>рецептов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планов</a:t>
            </a:r>
            <a:r>
              <a:rPr lang="ru-RU"/>
              <a:t>.</a:t>
            </a:r>
          </a:p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212080" cy="2633372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45719" cy="2765341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463039"/>
            <a:ext cx="4937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Практическая ценность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92807"/>
            <a:ext cx="4937760" cy="17173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1. </a:t>
            </a:r>
            <a:r>
              <a:rPr err="1"/>
              <a:t>Пользователь</a:t>
            </a:r>
            <a:r>
              <a:t> </a:t>
            </a:r>
            <a:r>
              <a:rPr err="1"/>
              <a:t>получает</a:t>
            </a:r>
            <a:r>
              <a:t> </a:t>
            </a:r>
            <a:r>
              <a:rPr err="1"/>
              <a:t>готовый</a:t>
            </a:r>
            <a:r>
              <a:t> </a:t>
            </a:r>
            <a:r>
              <a:rPr err="1"/>
              <a:t>ответ</a:t>
            </a:r>
            <a:r>
              <a:t>: </a:t>
            </a:r>
            <a:r>
              <a:rPr err="1"/>
              <a:t>что</a:t>
            </a:r>
            <a:r>
              <a:t> </a:t>
            </a:r>
            <a:r>
              <a:rPr err="1"/>
              <a:t>есть</a:t>
            </a:r>
            <a:r>
              <a:t> </a:t>
            </a:r>
            <a:r>
              <a:rPr err="1"/>
              <a:t>сегодня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что</a:t>
            </a:r>
            <a:r>
              <a:t> </a:t>
            </a:r>
            <a:r>
              <a:rPr err="1"/>
              <a:t>готовить</a:t>
            </a:r>
            <a:r>
              <a:t> </a:t>
            </a:r>
            <a:r>
              <a:rPr err="1"/>
              <a:t>дальше</a:t>
            </a:r>
            <a:r>
              <a:t>;</a:t>
            </a:r>
          </a:p>
          <a:p>
            <a:r>
              <a:t>2. </a:t>
            </a:r>
            <a:r>
              <a:rPr err="1"/>
              <a:t>План</a:t>
            </a:r>
            <a:r>
              <a:t> </a:t>
            </a:r>
            <a:r>
              <a:rPr err="1"/>
              <a:t>сопровождается</a:t>
            </a:r>
            <a:r>
              <a:t> </a:t>
            </a:r>
            <a:r>
              <a:rPr err="1"/>
              <a:t>рецептами</a:t>
            </a:r>
            <a:r>
              <a:t>, </a:t>
            </a:r>
            <a:r>
              <a:rPr lang="ru-RU"/>
              <a:t>перечнем </a:t>
            </a:r>
            <a:r>
              <a:rPr err="1"/>
              <a:t>покуп</a:t>
            </a:r>
            <a:r>
              <a:rPr lang="ru-RU" err="1"/>
              <a:t>ок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календарём</a:t>
            </a:r>
            <a:r>
              <a:t>;</a:t>
            </a:r>
          </a:p>
          <a:p>
            <a:r>
              <a:t>3. </a:t>
            </a:r>
            <a:r>
              <a:rPr err="1"/>
              <a:t>Архитектура</a:t>
            </a:r>
            <a:r>
              <a:t> </a:t>
            </a:r>
            <a:r>
              <a:rPr err="1"/>
              <a:t>позволяет</a:t>
            </a:r>
            <a:r>
              <a:t> </a:t>
            </a:r>
            <a:r>
              <a:rPr err="1"/>
              <a:t>развивать</a:t>
            </a:r>
            <a:r>
              <a:t> </a:t>
            </a:r>
            <a:r>
              <a:rPr err="1"/>
              <a:t>каталог</a:t>
            </a:r>
            <a:r>
              <a:t>, </a:t>
            </a:r>
            <a:r>
              <a:rPr err="1"/>
              <a:t>интеграции</a:t>
            </a:r>
            <a:r>
              <a:t> </a:t>
            </a:r>
            <a:r>
              <a:rPr err="1"/>
              <a:t>и</a:t>
            </a:r>
            <a:r>
              <a:t> </a:t>
            </a:r>
            <a:r>
              <a:rPr err="1"/>
              <a:t>качество</a:t>
            </a:r>
            <a:r>
              <a:t> </a:t>
            </a:r>
            <a:r>
              <a:rPr err="1"/>
              <a:t>генерации</a:t>
            </a:r>
            <a:r>
              <a:rPr lang="ru-RU"/>
              <a:t>.</a:t>
            </a:r>
            <a:endParaRPr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7FECEBAE-738B-4BBB-8B24-F0E207A186C4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87EAB5D2-DD38-468C-9E7B-53B4691D855A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875F5104-3841-4A17-A795-8C327CA23102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DA5F28A6-524E-48B2-B82F-6AA0E0727DF6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1024128" y="1920240"/>
            <a:ext cx="101498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C7D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16863" y="3131820"/>
            <a:ext cx="34595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err="1"/>
              <a:t>Спасибо</a:t>
            </a:r>
            <a:r>
              <a:rPr sz="2400" b="1"/>
              <a:t> </a:t>
            </a:r>
            <a:r>
              <a:rPr sz="2400" b="1" err="1"/>
              <a:t>за</a:t>
            </a:r>
            <a:r>
              <a:rPr sz="2400" b="1"/>
              <a:t> </a:t>
            </a:r>
            <a:r>
              <a:rPr sz="2400" b="1" err="1"/>
              <a:t>внимание</a:t>
            </a:r>
            <a:r>
              <a:rPr sz="2400" b="1"/>
              <a:t>!</a:t>
            </a:r>
          </a:p>
        </p:txBody>
      </p:sp>
      <p:sp>
        <p:nvSpPr>
          <p:cNvPr id="18" name="Shape 16"/>
          <p:cNvSpPr/>
          <p:nvPr/>
        </p:nvSpPr>
        <p:spPr>
          <a:xfrm>
            <a:off x="566928" y="6400800"/>
            <a:ext cx="1101852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566C31D3-DEDD-485B-B6C8-8E9452F37B98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4595A698-D658-40C1-BE5B-0B2D575EA639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AFE23AE3-54E8-4FD6-84BB-B9E0BE405C81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F8A097-966F-477A-A925-9802B7AAD920}"/>
              </a:ext>
            </a:extLst>
          </p:cNvPr>
          <p:cNvSpPr txBox="1"/>
          <p:nvPr/>
        </p:nvSpPr>
        <p:spPr>
          <a:xfrm>
            <a:off x="10515600" y="347472"/>
            <a:ext cx="109728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2</a:t>
            </a:r>
            <a:r>
              <a:rPr lang="ru-RU"/>
              <a:t>0</a:t>
            </a:r>
            <a:r>
              <a:t> / 2</a:t>
            </a:r>
            <a:r>
              <a:rPr lang="ru-RU"/>
              <a:t>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3458</TotalTime>
  <Words>1676</Words>
  <Application>Microsoft Macintosh PowerPoint</Application>
  <PresentationFormat>Широкоэкранный</PresentationFormat>
  <Paragraphs>334</Paragraphs>
  <Slides>21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МФ МГТУ им. Н.Э. Баумана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веб-сервиса мониторинга утечек персональных данных пользователей</dc:title>
  <dc:subject>Реестр утечек — презентация</dc:subject>
  <dc:creator>Adriel</dc:creator>
  <cp:lastModifiedBy>Дмитрий Шахов</cp:lastModifiedBy>
  <cp:revision>87</cp:revision>
  <dcterms:created xsi:type="dcterms:W3CDTF">2026-05-11T20:30:11Z</dcterms:created>
  <dcterms:modified xsi:type="dcterms:W3CDTF">2026-06-08T10:28:45Z</dcterms:modified>
</cp:coreProperties>
</file>
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8" r:id="rId3"/>
    <p:sldId id="257" r:id="rId4"/>
    <p:sldId id="258" r:id="rId5"/>
    <p:sldId id="273" r:id="rId6"/>
    <p:sldId id="274" r:id="rId7"/>
    <p:sldId id="259" r:id="rId8"/>
    <p:sldId id="260" r:id="rId9"/>
    <p:sldId id="261" r:id="rId10"/>
    <p:sldId id="262" r:id="rId11"/>
    <p:sldId id="263" r:id="rId12"/>
    <p:sldId id="264" r:id="rId13"/>
    <p:sldId id="269" r:id="rId14"/>
    <p:sldId id="270" r:id="rId15"/>
    <p:sldId id="272" r:id="rId16"/>
    <p:sldId id="265" r:id="rId17"/>
    <p:sldId id="266" r:id="rId18"/>
    <p:sldId id="267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ake31@mail.ru" initials="f" lastIdx="1" clrIdx="0">
    <p:extLst>
      <p:ext uri="{19B8F6BF-5375-455C-9EA6-DF929625EA0E}">
        <p15:presenceInfo xmlns:p15="http://schemas.microsoft.com/office/powerpoint/2012/main" userId="17cd71f8f751800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68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built from the user's uploaded project files and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03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598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22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116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112703" y="21945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000" b="0">
                <a:solidFill>
                  <a:srgbClr val="172137"/>
                </a:solidFill>
                <a:latin typeface="Arial"/>
              </a:rPr>
              <a:t>01 / 18</a:t>
            </a:r>
          </a:p>
        </p:txBody>
      </p:sp>
      <p:sp>
        <p:nvSpPr>
          <p:cNvPr id="4" name="Text 2"/>
          <p:cNvSpPr/>
          <p:nvPr/>
        </p:nvSpPr>
        <p:spPr>
          <a:xfrm>
            <a:off x="3215485" y="4116664"/>
            <a:ext cx="576072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2000">
                <a:solidFill>
                  <a:srgbClr val="172137"/>
                </a:solidFill>
              </a:defRPr>
            </a:pPr>
            <a:r>
              <a:rPr lang="ru-RU" sz="2300" b="1" dirty="0">
                <a:solidFill>
                  <a:srgbClr val="172137"/>
                </a:solidFill>
              </a:rPr>
              <a:t>ТРАНСКРИБАЦИЯ ЗАПИСЕЙ ПЕРЕГОВОРОВ ВНУТРИ КОМПАНИИ ДЛЯ ДАЛЬНЕЙШЕГО АНАЛИЗА И ХРАНЕНИЯ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2555502" y="384048"/>
            <a:ext cx="7080995" cy="30849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2000">
                <a:solidFill>
                  <a:srgbClr val="172137"/>
                </a:solidFill>
              </a:defRPr>
            </a:pPr>
            <a:r>
              <a:rPr lang="ru-RU" sz="1600" dirty="0">
                <a:solidFill>
                  <a:srgbClr val="172137"/>
                </a:solidFill>
              </a:rPr>
              <a:t>Министерство образования и науки Российской Федерации</a:t>
            </a:r>
          </a:p>
          <a:p>
            <a:pPr marL="0" indent="0" algn="ctr">
              <a:buNone/>
              <a:defRPr sz="2000">
                <a:solidFill>
                  <a:srgbClr val="172137"/>
                </a:solidFill>
              </a:defRPr>
            </a:pPr>
            <a:r>
              <a:rPr lang="ru-RU" sz="1600" dirty="0">
                <a:solidFill>
                  <a:srgbClr val="172137"/>
                </a:solidFill>
              </a:rPr>
              <a:t>Федеральное государственное автономное  образовательное учреждение высшего образования</a:t>
            </a:r>
          </a:p>
          <a:p>
            <a:pPr marL="0" indent="0" algn="ctr">
              <a:buNone/>
              <a:defRPr sz="2000">
                <a:solidFill>
                  <a:srgbClr val="172137"/>
                </a:solidFill>
              </a:defRPr>
            </a:pPr>
            <a:r>
              <a:rPr lang="ru-RU" sz="1600" dirty="0">
                <a:solidFill>
                  <a:srgbClr val="172137"/>
                </a:solidFill>
              </a:rPr>
              <a:t>«Московский государственный технический университет имени Н.Э. Баумана</a:t>
            </a:r>
          </a:p>
          <a:p>
            <a:pPr marL="0" indent="0" algn="ctr">
              <a:buNone/>
              <a:defRPr sz="2000">
                <a:solidFill>
                  <a:srgbClr val="172137"/>
                </a:solidFill>
              </a:defRPr>
            </a:pPr>
            <a:r>
              <a:rPr lang="ru-RU" sz="1600" dirty="0">
                <a:solidFill>
                  <a:srgbClr val="172137"/>
                </a:solidFill>
              </a:rPr>
              <a:t>(национальный исследовательский университет)» </a:t>
            </a:r>
          </a:p>
          <a:p>
            <a:pPr marL="0" indent="0" algn="ctr">
              <a:buNone/>
              <a:defRPr sz="2000">
                <a:solidFill>
                  <a:srgbClr val="172137"/>
                </a:solidFill>
              </a:defRPr>
            </a:pPr>
            <a:r>
              <a:rPr lang="ru-RU" sz="1600" dirty="0">
                <a:solidFill>
                  <a:srgbClr val="172137"/>
                </a:solidFill>
              </a:rPr>
              <a:t>(МГТУ им. Н.Э. Баумана)</a:t>
            </a:r>
          </a:p>
          <a:p>
            <a:pPr marL="0" indent="0" algn="ctr">
              <a:buNone/>
              <a:defRPr sz="2000">
                <a:solidFill>
                  <a:srgbClr val="172137"/>
                </a:solidFill>
              </a:defRPr>
            </a:pPr>
            <a:r>
              <a:rPr lang="ru-RU" sz="1600" dirty="0">
                <a:solidFill>
                  <a:srgbClr val="172137"/>
                </a:solidFill>
              </a:rPr>
              <a:t>Мытищинский филиал</a:t>
            </a:r>
          </a:p>
          <a:p>
            <a:pPr marL="0" indent="0" algn="ctr">
              <a:buNone/>
              <a:defRPr sz="2000">
                <a:solidFill>
                  <a:srgbClr val="172137"/>
                </a:solidFill>
              </a:defRPr>
            </a:pPr>
            <a:r>
              <a:rPr lang="ru-RU" sz="1600" dirty="0">
                <a:solidFill>
                  <a:srgbClr val="172137"/>
                </a:solidFill>
              </a:rPr>
              <a:t>Факультет </a:t>
            </a:r>
            <a:r>
              <a:rPr lang="en-US" sz="1600" dirty="0">
                <a:solidFill>
                  <a:srgbClr val="172137"/>
                </a:solidFill>
              </a:rPr>
              <a:t>“</a:t>
            </a:r>
            <a:r>
              <a:rPr lang="ru-RU" sz="1600" dirty="0">
                <a:solidFill>
                  <a:srgbClr val="172137"/>
                </a:solidFill>
              </a:rPr>
              <a:t>Космический</a:t>
            </a:r>
            <a:r>
              <a:rPr lang="en-US" sz="1600" dirty="0">
                <a:solidFill>
                  <a:srgbClr val="172137"/>
                </a:solidFill>
              </a:rPr>
              <a:t>”</a:t>
            </a:r>
            <a:endParaRPr lang="ru-RU" sz="1600" dirty="0">
              <a:solidFill>
                <a:srgbClr val="A9B4C9"/>
              </a:solidFill>
            </a:endParaRPr>
          </a:p>
          <a:p>
            <a:pPr marL="0" indent="0" algn="ctr">
              <a:buNone/>
              <a:defRPr sz="2000">
                <a:solidFill>
                  <a:srgbClr val="172137"/>
                </a:solidFill>
              </a:defRPr>
            </a:pPr>
            <a:r>
              <a:rPr lang="ru-RU" sz="1600" dirty="0">
                <a:solidFill>
                  <a:srgbClr val="172137"/>
                </a:solidFill>
              </a:rPr>
              <a:t>Кафедра </a:t>
            </a:r>
            <a:r>
              <a:rPr lang="en-US" sz="1600" dirty="0">
                <a:solidFill>
                  <a:srgbClr val="172137"/>
                </a:solidFill>
              </a:rPr>
              <a:t>“</a:t>
            </a:r>
            <a:r>
              <a:rPr lang="ru-RU" sz="1600" dirty="0">
                <a:solidFill>
                  <a:srgbClr val="172137"/>
                </a:solidFill>
              </a:rPr>
              <a:t>Прикладная математика</a:t>
            </a:r>
            <a:r>
              <a:rPr lang="en-US" sz="1600" dirty="0">
                <a:solidFill>
                  <a:srgbClr val="172137"/>
                </a:solidFill>
              </a:rPr>
              <a:t>,</a:t>
            </a:r>
            <a:r>
              <a:rPr lang="ru-RU" sz="1600" dirty="0">
                <a:solidFill>
                  <a:srgbClr val="172137"/>
                </a:solidFill>
              </a:rPr>
              <a:t> информатика и вычислительная техника</a:t>
            </a:r>
            <a:r>
              <a:rPr lang="en-US" sz="1600" dirty="0">
                <a:solidFill>
                  <a:srgbClr val="172137"/>
                </a:solidFill>
              </a:rPr>
              <a:t>”</a:t>
            </a:r>
            <a:endParaRPr lang="ru-RU" sz="1600" dirty="0">
              <a:solidFill>
                <a:srgbClr val="A9B4C9"/>
              </a:solidFill>
            </a:endParaRPr>
          </a:p>
          <a:p>
            <a:pPr marL="0" indent="0" algn="ctr">
              <a:buNone/>
              <a:defRPr sz="2000">
                <a:solidFill>
                  <a:srgbClr val="172137"/>
                </a:solidFill>
              </a:defRPr>
            </a:pPr>
            <a:r>
              <a:rPr lang="ru-RU" sz="1600" dirty="0">
                <a:solidFill>
                  <a:srgbClr val="172137"/>
                </a:solidFill>
              </a:rPr>
              <a:t>Специальность 09</a:t>
            </a:r>
            <a:r>
              <a:rPr lang="en-US" sz="1600" dirty="0">
                <a:solidFill>
                  <a:srgbClr val="172137"/>
                </a:solidFill>
              </a:rPr>
              <a:t>.03.01 “</a:t>
            </a:r>
            <a:r>
              <a:rPr lang="ru-RU" sz="1600" dirty="0">
                <a:solidFill>
                  <a:srgbClr val="172137"/>
                </a:solidFill>
              </a:rPr>
              <a:t>Информатика и вычислительная техника</a:t>
            </a:r>
            <a:r>
              <a:rPr lang="en-US" sz="1600" dirty="0">
                <a:solidFill>
                  <a:srgbClr val="172137"/>
                </a:solidFill>
              </a:rPr>
              <a:t>”</a:t>
            </a:r>
            <a:endParaRPr lang="ru-RU" sz="1600" dirty="0">
              <a:solidFill>
                <a:srgbClr val="A9B4C9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3488958" y="3331550"/>
            <a:ext cx="5213773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2000">
                <a:solidFill>
                  <a:srgbClr val="172137"/>
                </a:solidFill>
              </a:defRPr>
            </a:pPr>
            <a:r>
              <a:rPr lang="ru-RU" sz="1750" dirty="0">
                <a:solidFill>
                  <a:srgbClr val="172137"/>
                </a:solidFill>
              </a:rPr>
              <a:t>Выпускная квалификационная работа на тему</a:t>
            </a:r>
            <a:r>
              <a:rPr lang="en-US" sz="1750" dirty="0">
                <a:solidFill>
                  <a:srgbClr val="172137"/>
                </a:solidFill>
              </a:rPr>
              <a:t>:</a:t>
            </a:r>
            <a:endParaRPr lang="en-US" sz="1750" dirty="0"/>
          </a:p>
        </p:txBody>
      </p:sp>
      <p:sp>
        <p:nvSpPr>
          <p:cNvPr id="31" name="Shape 29"/>
          <p:cNvSpPr/>
          <p:nvPr/>
        </p:nvSpPr>
        <p:spPr>
          <a:xfrm>
            <a:off x="7264401" y="5663016"/>
            <a:ext cx="4460950" cy="0"/>
          </a:xfrm>
          <a:prstGeom prst="line">
            <a:avLst/>
          </a:prstGeom>
          <a:noFill/>
          <a:ln w="1524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264401" y="5730918"/>
            <a:ext cx="461709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en-US" sz="1500" dirty="0">
                <a:solidFill>
                  <a:srgbClr val="172137"/>
                </a:solidFill>
              </a:rPr>
              <a:t>Выполнил: </a:t>
            </a:r>
            <a:r>
              <a:rPr lang="ru-RU" sz="1500" dirty="0" err="1">
                <a:solidFill>
                  <a:srgbClr val="172137"/>
                </a:solidFill>
              </a:rPr>
              <a:t>Бабашов</a:t>
            </a:r>
            <a:r>
              <a:rPr lang="ru-RU" sz="1500" dirty="0">
                <a:solidFill>
                  <a:srgbClr val="172137"/>
                </a:solidFill>
              </a:rPr>
              <a:t> Дмитрий </a:t>
            </a:r>
            <a:r>
              <a:rPr lang="ru-RU" sz="1500" dirty="0" err="1">
                <a:solidFill>
                  <a:srgbClr val="172137"/>
                </a:solidFill>
              </a:rPr>
              <a:t>Низамиевич</a:t>
            </a:r>
            <a:endParaRPr lang="en-US" sz="1500" dirty="0"/>
          </a:p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en-US" sz="1500" dirty="0">
                <a:solidFill>
                  <a:srgbClr val="172137"/>
                </a:solidFill>
              </a:rPr>
              <a:t>Руководитель: </a:t>
            </a:r>
            <a:r>
              <a:rPr lang="ru-RU" sz="1500" dirty="0">
                <a:solidFill>
                  <a:srgbClr val="172137"/>
                </a:solidFill>
              </a:rPr>
              <a:t>Афанасьева Виктория Викторовна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112703" y="21945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000" b="0">
                <a:solidFill>
                  <a:srgbClr val="172137"/>
                </a:solidFill>
                <a:latin typeface="Arial"/>
              </a:rPr>
              <a:t>02 / 18</a:t>
            </a:r>
          </a:p>
        </p:txBody>
      </p:sp>
      <p:sp>
        <p:nvSpPr>
          <p:cNvPr id="5" name="Text 3"/>
          <p:cNvSpPr/>
          <p:nvPr/>
        </p:nvSpPr>
        <p:spPr>
          <a:xfrm>
            <a:off x="603504" y="235714"/>
            <a:ext cx="88696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en-US" sz="2800" b="1" dirty="0" err="1">
                <a:solidFill>
                  <a:srgbClr val="172137"/>
                </a:solidFill>
              </a:rPr>
              <a:t>Актуальность</a:t>
            </a:r>
            <a:r>
              <a:rPr lang="ru-RU" sz="2800" b="1" dirty="0">
                <a:solidFill>
                  <a:srgbClr val="172137"/>
                </a:solidFill>
              </a:rPr>
              <a:t> и цель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3504" y="766236"/>
            <a:ext cx="10972800" cy="0"/>
          </a:xfrm>
          <a:prstGeom prst="line">
            <a:avLst/>
          </a:prstGeom>
          <a:noFill/>
          <a:ln w="1524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03503" y="942680"/>
            <a:ext cx="4442629" cy="5695864"/>
          </a:xfrm>
          <a:prstGeom prst="roundRect">
            <a:avLst>
              <a:gd name="adj" fmla="val 1839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80194" y="1149307"/>
            <a:ext cx="2729653" cy="2843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200">
                <a:solidFill>
                  <a:srgbClr val="172137"/>
                </a:solidFill>
              </a:defRPr>
            </a:pPr>
            <a:r>
              <a:rPr lang="ru-RU" sz="1800" b="1" dirty="0">
                <a:solidFill>
                  <a:srgbClr val="172137"/>
                </a:solidFill>
              </a:rPr>
              <a:t>Актуальность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98144" y="2112319"/>
            <a:ext cx="146304" cy="151656"/>
          </a:xfrm>
          <a:prstGeom prst="roundRect">
            <a:avLst>
              <a:gd name="adj" fmla="val 18750"/>
            </a:avLst>
          </a:prstGeom>
          <a:solidFill>
            <a:schemeClr val="bg2">
              <a:lumMod val="1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152143" y="2092508"/>
            <a:ext cx="3580723" cy="341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2200"/>
            </a:pPr>
            <a:r>
              <a:rPr dirty="0" err="1"/>
              <a:t>Растёт</a:t>
            </a:r>
            <a:r>
              <a:rPr dirty="0"/>
              <a:t> </a:t>
            </a:r>
            <a:r>
              <a:rPr dirty="0" err="1"/>
              <a:t>количество</a:t>
            </a:r>
            <a:r>
              <a:rPr dirty="0"/>
              <a:t> </a:t>
            </a:r>
            <a:r>
              <a:rPr dirty="0" err="1"/>
              <a:t>аудио</a:t>
            </a:r>
            <a:r>
              <a:rPr dirty="0"/>
              <a:t>- и </a:t>
            </a:r>
            <a:r>
              <a:rPr dirty="0" err="1"/>
              <a:t>видеовстреч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фиксировать</a:t>
            </a:r>
            <a:r>
              <a:rPr dirty="0"/>
              <a:t>.</a:t>
            </a:r>
          </a:p>
        </p:txBody>
      </p:sp>
      <p:sp>
        <p:nvSpPr>
          <p:cNvPr id="11" name="Shape 9"/>
          <p:cNvSpPr/>
          <p:nvPr/>
        </p:nvSpPr>
        <p:spPr>
          <a:xfrm>
            <a:off x="880194" y="3820023"/>
            <a:ext cx="146304" cy="151656"/>
          </a:xfrm>
          <a:prstGeom prst="roundRect">
            <a:avLst>
              <a:gd name="adj" fmla="val 18750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34193" y="3692854"/>
            <a:ext cx="3598674" cy="341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2200"/>
            </a:pPr>
            <a:r>
              <a:rPr dirty="0" err="1"/>
              <a:t>Требуется</a:t>
            </a:r>
            <a:r>
              <a:rPr dirty="0"/>
              <a:t> </a:t>
            </a:r>
            <a:r>
              <a:rPr dirty="0" err="1"/>
              <a:t>автоматизация</a:t>
            </a:r>
            <a:r>
              <a:rPr dirty="0"/>
              <a:t> </a:t>
            </a:r>
            <a:r>
              <a:rPr dirty="0" err="1"/>
              <a:t>протоколирования</a:t>
            </a:r>
            <a:r>
              <a:rPr dirty="0"/>
              <a:t> </a:t>
            </a:r>
            <a:r>
              <a:rPr dirty="0" err="1"/>
              <a:t>встреч</a:t>
            </a:r>
            <a:r>
              <a:rPr dirty="0"/>
              <a:t>.</a:t>
            </a:r>
          </a:p>
        </p:txBody>
      </p:sp>
      <p:sp>
        <p:nvSpPr>
          <p:cNvPr id="13" name="Shape 11"/>
          <p:cNvSpPr/>
          <p:nvPr/>
        </p:nvSpPr>
        <p:spPr>
          <a:xfrm>
            <a:off x="880194" y="5637454"/>
            <a:ext cx="146304" cy="151656"/>
          </a:xfrm>
          <a:prstGeom prst="roundRect">
            <a:avLst>
              <a:gd name="adj" fmla="val 18750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134193" y="5527726"/>
            <a:ext cx="3598673" cy="3412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2200"/>
            </a:pPr>
            <a:r>
              <a:rPr dirty="0" err="1"/>
              <a:t>Необходима</a:t>
            </a:r>
            <a:r>
              <a:rPr dirty="0"/>
              <a:t> </a:t>
            </a:r>
            <a:r>
              <a:rPr dirty="0" err="1"/>
              <a:t>структурированная</a:t>
            </a:r>
            <a:r>
              <a:rPr dirty="0"/>
              <a:t> </a:t>
            </a:r>
            <a:r>
              <a:rPr dirty="0" err="1"/>
              <a:t>информация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дальнейшей</a:t>
            </a:r>
            <a:r>
              <a:rPr dirty="0"/>
              <a:t> </a:t>
            </a:r>
            <a:r>
              <a:rPr dirty="0" err="1"/>
              <a:t>обработки</a:t>
            </a:r>
            <a:r>
              <a:rPr dirty="0"/>
              <a:t>.</a:t>
            </a:r>
          </a:p>
        </p:txBody>
      </p:sp>
      <p:sp>
        <p:nvSpPr>
          <p:cNvPr id="15" name="Shape 13"/>
          <p:cNvSpPr/>
          <p:nvPr/>
        </p:nvSpPr>
        <p:spPr>
          <a:xfrm>
            <a:off x="5867399" y="942680"/>
            <a:ext cx="5668941" cy="5679603"/>
          </a:xfrm>
          <a:prstGeom prst="roundRect">
            <a:avLst>
              <a:gd name="adj" fmla="val 3810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16" name="Text 14"/>
          <p:cNvSpPr/>
          <p:nvPr/>
        </p:nvSpPr>
        <p:spPr>
          <a:xfrm>
            <a:off x="6089904" y="1205062"/>
            <a:ext cx="155313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200">
                <a:solidFill>
                  <a:srgbClr val="172137"/>
                </a:solidFill>
              </a:defRPr>
            </a:pPr>
            <a:r>
              <a:rPr lang="en-US" sz="1800" b="1" dirty="0">
                <a:solidFill>
                  <a:srgbClr val="172137"/>
                </a:solidFill>
              </a:rPr>
              <a:t>Цель работы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89903" y="1746804"/>
            <a:ext cx="5357163" cy="14492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2200"/>
            </a:pPr>
            <a:r>
              <a:rPr lang="ru-RU" dirty="0"/>
              <a:t>Разработать систему автоматической обработки встреч, включающую транскрибацию, определение спикеров, извлечение решений и задач,</a:t>
            </a: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1B31EFE5-6CCC-47FD-B5B3-8488C11F3496}"/>
              </a:ext>
            </a:extLst>
          </p:cNvPr>
          <p:cNvSpPr/>
          <p:nvPr/>
        </p:nvSpPr>
        <p:spPr>
          <a:xfrm>
            <a:off x="6089904" y="3138848"/>
            <a:ext cx="5357163" cy="14492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2200"/>
            </a:pPr>
            <a:r>
              <a:rPr lang="ru-RU" dirty="0"/>
              <a:t>а также хранение и использование структурированных данных для контроля и формирования статистики.</a:t>
            </a:r>
          </a:p>
        </p:txBody>
      </p:sp>
    </p:spTree>
    <p:extLst>
      <p:ext uri="{BB962C8B-B14F-4D97-AF65-F5344CB8AC3E}">
        <p14:creationId xmlns:p14="http://schemas.microsoft.com/office/powerpoint/2010/main" val="3281467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112703" y="21945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000" b="0">
                <a:solidFill>
                  <a:srgbClr val="172137"/>
                </a:solidFill>
                <a:latin typeface="Arial"/>
              </a:rPr>
              <a:t>03 / 18</a:t>
            </a:r>
          </a:p>
        </p:txBody>
      </p:sp>
      <p:sp>
        <p:nvSpPr>
          <p:cNvPr id="5" name="Text 3"/>
          <p:cNvSpPr/>
          <p:nvPr/>
        </p:nvSpPr>
        <p:spPr>
          <a:xfrm>
            <a:off x="603504" y="235714"/>
            <a:ext cx="88696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ru-RU" sz="2800" b="1" dirty="0">
                <a:solidFill>
                  <a:srgbClr val="172137"/>
                </a:solidFill>
              </a:rPr>
              <a:t>З</a:t>
            </a:r>
            <a:r>
              <a:rPr lang="en-US" sz="2800" b="1" dirty="0" err="1">
                <a:solidFill>
                  <a:srgbClr val="172137"/>
                </a:solidFill>
              </a:rPr>
              <a:t>адачи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3504" y="766236"/>
            <a:ext cx="10972800" cy="0"/>
          </a:xfrm>
          <a:prstGeom prst="line">
            <a:avLst/>
          </a:prstGeom>
          <a:noFill/>
          <a:ln w="1524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407271" y="1251778"/>
            <a:ext cx="6675120" cy="5072819"/>
          </a:xfrm>
          <a:prstGeom prst="roundRect">
            <a:avLst>
              <a:gd name="adj" fmla="val 3019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695137" y="1409146"/>
            <a:ext cx="1188720" cy="2538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200">
                <a:solidFill>
                  <a:srgbClr val="172137"/>
                </a:solidFill>
              </a:defRPr>
            </a:pPr>
            <a:r>
              <a:rPr lang="en-US" sz="1800" b="1" dirty="0">
                <a:solidFill>
                  <a:srgbClr val="172137"/>
                </a:solidFill>
              </a:rPr>
              <a:t>Задачи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695137" y="2064830"/>
            <a:ext cx="146304" cy="162467"/>
          </a:xfrm>
          <a:prstGeom prst="roundRect">
            <a:avLst>
              <a:gd name="adj" fmla="val 18750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951169" y="2019110"/>
            <a:ext cx="5984240" cy="3655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2200"/>
            </a:pPr>
            <a:r>
              <a:rPr lang="ru-RU" dirty="0"/>
              <a:t>Интегрировать ASR (распознавание речи)  и диаризацию (разделение спикеров)</a:t>
            </a:r>
          </a:p>
        </p:txBody>
      </p:sp>
      <p:sp>
        <p:nvSpPr>
          <p:cNvPr id="22" name="Shape 20"/>
          <p:cNvSpPr/>
          <p:nvPr/>
        </p:nvSpPr>
        <p:spPr>
          <a:xfrm>
            <a:off x="2695132" y="2926832"/>
            <a:ext cx="146304" cy="162467"/>
          </a:xfrm>
          <a:prstGeom prst="roundRect">
            <a:avLst>
              <a:gd name="adj" fmla="val 18750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2951164" y="2881112"/>
            <a:ext cx="5891106" cy="3655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2200"/>
            </a:pPr>
            <a:r>
              <a:rPr lang="ru-RU" dirty="0"/>
              <a:t>Разработать базу данных  для хранения встреч и протоколов</a:t>
            </a:r>
          </a:p>
        </p:txBody>
      </p:sp>
      <p:sp>
        <p:nvSpPr>
          <p:cNvPr id="24" name="Shape 22"/>
          <p:cNvSpPr/>
          <p:nvPr/>
        </p:nvSpPr>
        <p:spPr>
          <a:xfrm>
            <a:off x="2695134" y="3920892"/>
            <a:ext cx="146304" cy="162467"/>
          </a:xfrm>
          <a:prstGeom prst="roundRect">
            <a:avLst>
              <a:gd name="adj" fmla="val 18750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951165" y="3875172"/>
            <a:ext cx="5891105" cy="3655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2200"/>
            </a:pPr>
            <a:r>
              <a:rPr lang="ru-RU" dirty="0"/>
              <a:t>Реализовать извлечение решений  и задач (</a:t>
            </a:r>
            <a:r>
              <a:rPr lang="ru-RU" dirty="0" err="1"/>
              <a:t>action</a:t>
            </a:r>
            <a:r>
              <a:rPr lang="ru-RU" dirty="0"/>
              <a:t> </a:t>
            </a:r>
            <a:r>
              <a:rPr lang="ru-RU" dirty="0" err="1"/>
              <a:t>items</a:t>
            </a:r>
            <a:r>
              <a:rPr lang="ru-RU" dirty="0"/>
              <a:t> – задачи встречи) с использованием LLM – языковой модели</a:t>
            </a:r>
          </a:p>
        </p:txBody>
      </p:sp>
      <p:sp>
        <p:nvSpPr>
          <p:cNvPr id="26" name="Shape 24"/>
          <p:cNvSpPr/>
          <p:nvPr/>
        </p:nvSpPr>
        <p:spPr>
          <a:xfrm>
            <a:off x="2695135" y="4881199"/>
            <a:ext cx="152768" cy="162467"/>
          </a:xfrm>
          <a:prstGeom prst="roundRect">
            <a:avLst>
              <a:gd name="adj" fmla="val 18750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2951166" y="4835479"/>
            <a:ext cx="5891107" cy="3655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2200"/>
            </a:pPr>
            <a:r>
              <a:rPr lang="ru-RU" dirty="0"/>
              <a:t>Реализовать пакетную обработку встреч  и экспорт результатов</a:t>
            </a: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F520A7B6-47D3-437E-A202-D55B7860A4D6}"/>
              </a:ext>
            </a:extLst>
          </p:cNvPr>
          <p:cNvSpPr/>
          <p:nvPr/>
        </p:nvSpPr>
        <p:spPr>
          <a:xfrm>
            <a:off x="2695134" y="5682352"/>
            <a:ext cx="146304" cy="162467"/>
          </a:xfrm>
          <a:prstGeom prst="roundRect">
            <a:avLst>
              <a:gd name="adj" fmla="val 18750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1B3E7D82-3046-4AD8-A532-1A90E30BEC05}"/>
              </a:ext>
            </a:extLst>
          </p:cNvPr>
          <p:cNvSpPr/>
          <p:nvPr/>
        </p:nvSpPr>
        <p:spPr>
          <a:xfrm>
            <a:off x="2951164" y="5580809"/>
            <a:ext cx="5891105" cy="3655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2200"/>
            </a:pPr>
            <a:r>
              <a:rPr lang="ru-RU" dirty="0"/>
              <a:t>Определить направления развития системы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112703" y="21945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000" b="0">
                <a:solidFill>
                  <a:srgbClr val="172137"/>
                </a:solidFill>
                <a:latin typeface="Arial"/>
              </a:rPr>
              <a:t>04 / 18</a:t>
            </a:r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88696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2800" b="1" dirty="0">
                <a:solidFill>
                  <a:srgbClr val="172137"/>
                </a:solidFill>
              </a:rPr>
              <a:t>Архитектура решения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524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6949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700" dirty="0">
                <a:solidFill>
                  <a:srgbClr val="172137"/>
                </a:solidFill>
              </a:rPr>
              <a:t>Система объединяет несколько моделей и сервисных модулей в один непрерывный цикл обработки данных.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6898" y="2186733"/>
            <a:ext cx="1691640" cy="1487006"/>
          </a:xfrm>
          <a:prstGeom prst="roundRect">
            <a:avLst>
              <a:gd name="adj" fmla="val 6780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08338" y="2294268"/>
            <a:ext cx="1472184" cy="164592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23239" y="2614308"/>
            <a:ext cx="143560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300" b="1" dirty="0">
                <a:solidFill>
                  <a:srgbClr val="172137"/>
                </a:solidFill>
              </a:rPr>
              <a:t>1. </a:t>
            </a:r>
            <a:r>
              <a:rPr lang="en-US" sz="1300" b="1" dirty="0" err="1">
                <a:solidFill>
                  <a:srgbClr val="172137"/>
                </a:solidFill>
              </a:rPr>
              <a:t>Входной</a:t>
            </a:r>
            <a:r>
              <a:rPr lang="en-US" sz="1300" b="1" dirty="0">
                <a:solidFill>
                  <a:srgbClr val="172137"/>
                </a:solidFill>
              </a:rPr>
              <a:t> </a:t>
            </a:r>
            <a:r>
              <a:rPr lang="en-US" sz="1300" b="1" dirty="0" err="1">
                <a:solidFill>
                  <a:srgbClr val="172137"/>
                </a:solidFill>
              </a:rPr>
              <a:t>файл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1527" y="3288671"/>
            <a:ext cx="1435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250" dirty="0">
                <a:solidFill>
                  <a:srgbClr val="172137"/>
                </a:solidFill>
              </a:rPr>
              <a:t>wav / mp3 / mp4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flipV="1">
            <a:off x="2108538" y="2846928"/>
            <a:ext cx="22860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2337138" y="2186733"/>
            <a:ext cx="1691640" cy="1487006"/>
          </a:xfrm>
          <a:prstGeom prst="roundRect">
            <a:avLst>
              <a:gd name="adj" fmla="val 6780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428578" y="2294268"/>
            <a:ext cx="1472184" cy="164592"/>
          </a:xfrm>
          <a:prstGeom prst="roundRect">
            <a:avLst>
              <a:gd name="adj" fmla="val 22222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346282" y="2509152"/>
            <a:ext cx="1664208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300" b="1" dirty="0">
                <a:solidFill>
                  <a:srgbClr val="172137"/>
                </a:solidFill>
              </a:rPr>
              <a:t>2. </a:t>
            </a:r>
            <a:r>
              <a:rPr lang="ru-RU" sz="1300" b="1" dirty="0" err="1">
                <a:solidFill>
                  <a:srgbClr val="172137"/>
                </a:solidFill>
              </a:rPr>
              <a:t>Транскрибация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1937" y="3282489"/>
            <a:ext cx="1435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250" dirty="0">
                <a:solidFill>
                  <a:srgbClr val="172137"/>
                </a:solidFill>
              </a:rPr>
              <a:t>Whisper medium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 flipV="1">
            <a:off x="4028778" y="2815892"/>
            <a:ext cx="22860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257378" y="2186733"/>
            <a:ext cx="1691640" cy="1487006"/>
          </a:xfrm>
          <a:prstGeom prst="roundRect">
            <a:avLst>
              <a:gd name="adj" fmla="val 6780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348818" y="2294268"/>
            <a:ext cx="1472184" cy="164592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367106" y="2603386"/>
            <a:ext cx="143560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300" b="1" dirty="0">
                <a:solidFill>
                  <a:srgbClr val="172137"/>
                </a:solidFill>
              </a:rPr>
              <a:t>3. </a:t>
            </a:r>
            <a:r>
              <a:rPr lang="ru-RU" sz="1300" b="1" dirty="0">
                <a:solidFill>
                  <a:srgbClr val="172137"/>
                </a:solidFill>
              </a:rPr>
              <a:t>Диаризация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5394" y="3282489"/>
            <a:ext cx="1435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250" dirty="0">
                <a:solidFill>
                  <a:srgbClr val="172137"/>
                </a:solidFill>
              </a:rPr>
              <a:t>pyannote 3.1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 flipV="1">
            <a:off x="5949018" y="2815892"/>
            <a:ext cx="22860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177618" y="2186733"/>
            <a:ext cx="1691640" cy="1487006"/>
          </a:xfrm>
          <a:prstGeom prst="roundRect">
            <a:avLst>
              <a:gd name="adj" fmla="val 6780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24" name="Shape 22"/>
          <p:cNvSpPr/>
          <p:nvPr/>
        </p:nvSpPr>
        <p:spPr>
          <a:xfrm>
            <a:off x="6269058" y="2294268"/>
            <a:ext cx="1472184" cy="164592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287346" y="2614308"/>
            <a:ext cx="143560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300" b="1" dirty="0">
                <a:solidFill>
                  <a:srgbClr val="172137"/>
                </a:solidFill>
              </a:rPr>
              <a:t>4. </a:t>
            </a:r>
            <a:r>
              <a:rPr lang="ru-RU" sz="1300" b="1" dirty="0">
                <a:solidFill>
                  <a:srgbClr val="172137"/>
                </a:solidFill>
              </a:rPr>
              <a:t>Хранение данных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5634" y="3293072"/>
            <a:ext cx="1435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250" dirty="0">
                <a:solidFill>
                  <a:srgbClr val="172137"/>
                </a:solidFill>
              </a:rPr>
              <a:t>PostgreSQL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 flipV="1">
            <a:off x="7869258" y="2815892"/>
            <a:ext cx="22860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097858" y="2186733"/>
            <a:ext cx="1691640" cy="1487006"/>
          </a:xfrm>
          <a:prstGeom prst="roundRect">
            <a:avLst>
              <a:gd name="adj" fmla="val 6780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189298" y="2294268"/>
            <a:ext cx="1472184" cy="164592"/>
          </a:xfrm>
          <a:prstGeom prst="roundRect">
            <a:avLst>
              <a:gd name="adj" fmla="val 22222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189298" y="2775254"/>
            <a:ext cx="143560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300" b="1" dirty="0">
                <a:solidFill>
                  <a:srgbClr val="172137"/>
                </a:solidFill>
              </a:rPr>
              <a:t>5. </a:t>
            </a:r>
            <a:r>
              <a:rPr lang="ru-RU" sz="1300" b="1" dirty="0">
                <a:solidFill>
                  <a:srgbClr val="172137"/>
                </a:solidFill>
              </a:rPr>
              <a:t>Генерация протокола</a:t>
            </a:r>
            <a:r>
              <a:rPr lang="en-US" sz="1300" b="1" dirty="0">
                <a:solidFill>
                  <a:srgbClr val="172137"/>
                </a:solidFill>
              </a:rPr>
              <a:t> </a:t>
            </a:r>
            <a:r>
              <a:rPr lang="ru-RU" sz="1300" b="1" dirty="0">
                <a:solidFill>
                  <a:srgbClr val="172137"/>
                </a:solidFill>
              </a:rPr>
              <a:t>(</a:t>
            </a:r>
            <a:r>
              <a:rPr lang="en-US" sz="1300" b="1" dirty="0">
                <a:solidFill>
                  <a:srgbClr val="172137"/>
                </a:solidFill>
              </a:rPr>
              <a:t>LLM</a:t>
            </a:r>
            <a:r>
              <a:rPr lang="ru-RU" sz="1300" b="1" dirty="0">
                <a:solidFill>
                  <a:srgbClr val="172137"/>
                </a:solidFill>
              </a:rPr>
              <a:t> –языковая модель)</a:t>
            </a:r>
          </a:p>
        </p:txBody>
      </p:sp>
      <p:sp>
        <p:nvSpPr>
          <p:cNvPr id="31" name="Text 29"/>
          <p:cNvSpPr/>
          <p:nvPr/>
        </p:nvSpPr>
        <p:spPr>
          <a:xfrm>
            <a:off x="8225874" y="3293072"/>
            <a:ext cx="1435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250" dirty="0">
                <a:solidFill>
                  <a:srgbClr val="172137"/>
                </a:solidFill>
              </a:rPr>
              <a:t>Ollama / Mistral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789498" y="2815892"/>
            <a:ext cx="23808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10018098" y="2186733"/>
            <a:ext cx="1691640" cy="1487006"/>
          </a:xfrm>
          <a:prstGeom prst="roundRect">
            <a:avLst>
              <a:gd name="adj" fmla="val 6780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10109538" y="2294268"/>
            <a:ext cx="1472184" cy="164592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10150855" y="2674670"/>
            <a:ext cx="143560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1800"/>
            </a:pPr>
            <a:r>
              <a:rPr sz="1600" b="1" dirty="0"/>
              <a:t>6. </a:t>
            </a:r>
            <a:r>
              <a:rPr sz="1600" b="1" dirty="0" err="1"/>
              <a:t>Экспорт</a:t>
            </a:r>
            <a:r>
              <a:rPr sz="1600" b="1" dirty="0"/>
              <a:t> и </a:t>
            </a:r>
            <a:r>
              <a:rPr sz="1600" b="1" dirty="0" err="1"/>
              <a:t>статистика</a:t>
            </a:r>
            <a:endParaRPr sz="1600" b="1" dirty="0"/>
          </a:p>
        </p:txBody>
      </p:sp>
      <p:sp>
        <p:nvSpPr>
          <p:cNvPr id="36" name="Text 34"/>
          <p:cNvSpPr/>
          <p:nvPr/>
        </p:nvSpPr>
        <p:spPr>
          <a:xfrm>
            <a:off x="10146114" y="3359028"/>
            <a:ext cx="1435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250" dirty="0">
                <a:solidFill>
                  <a:srgbClr val="172137"/>
                </a:solidFill>
              </a:rPr>
              <a:t>Markdown / JSON / KPI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96112" y="4005071"/>
            <a:ext cx="10287000" cy="2454993"/>
          </a:xfrm>
          <a:prstGeom prst="roundRect">
            <a:avLst>
              <a:gd name="adj" fmla="val 4103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188719" y="4261104"/>
            <a:ext cx="4670213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ru-RU" sz="1700" b="1" dirty="0">
                <a:solidFill>
                  <a:srgbClr val="172137"/>
                </a:solidFill>
              </a:rPr>
              <a:t>Функциональные возможности системы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1207008" y="4649555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0" name="Text 38"/>
          <p:cNvSpPr/>
          <p:nvPr/>
        </p:nvSpPr>
        <p:spPr>
          <a:xfrm>
            <a:off x="1463040" y="4553712"/>
            <a:ext cx="934516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2000"/>
            </a:pPr>
            <a:r>
              <a:rPr dirty="0" err="1"/>
              <a:t>Дедупликация</a:t>
            </a:r>
            <a:r>
              <a:rPr dirty="0"/>
              <a:t> (</a:t>
            </a:r>
            <a:r>
              <a:rPr dirty="0" err="1"/>
              <a:t>исключение</a:t>
            </a:r>
            <a:r>
              <a:rPr dirty="0"/>
              <a:t> </a:t>
            </a:r>
            <a:r>
              <a:rPr dirty="0" err="1"/>
              <a:t>повторной</a:t>
            </a:r>
            <a:r>
              <a:rPr dirty="0"/>
              <a:t> </a:t>
            </a:r>
            <a:r>
              <a:rPr dirty="0" err="1"/>
              <a:t>обработки</a:t>
            </a:r>
            <a:r>
              <a:rPr dirty="0"/>
              <a:t>) </a:t>
            </a:r>
            <a:r>
              <a:rPr dirty="0" err="1"/>
              <a:t>файлов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source_path</a:t>
            </a:r>
            <a:r>
              <a:rPr dirty="0"/>
              <a:t>.</a:t>
            </a:r>
          </a:p>
        </p:txBody>
      </p:sp>
      <p:sp>
        <p:nvSpPr>
          <p:cNvPr id="41" name="Shape 39"/>
          <p:cNvSpPr/>
          <p:nvPr/>
        </p:nvSpPr>
        <p:spPr>
          <a:xfrm>
            <a:off x="1207008" y="5215548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1463040" y="5124108"/>
            <a:ext cx="934516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2000"/>
            </a:pPr>
            <a:r>
              <a:rPr dirty="0" err="1"/>
              <a:t>Логирование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обработки</a:t>
            </a:r>
            <a:r>
              <a:rPr dirty="0"/>
              <a:t> (</a:t>
            </a:r>
            <a:r>
              <a:rPr dirty="0" err="1"/>
              <a:t>processing_runs</a:t>
            </a:r>
            <a:r>
              <a:rPr dirty="0"/>
              <a:t>: </a:t>
            </a:r>
            <a:r>
              <a:rPr dirty="0" err="1"/>
              <a:t>статус</a:t>
            </a:r>
            <a:r>
              <a:rPr dirty="0"/>
              <a:t>, </a:t>
            </a:r>
            <a:r>
              <a:rPr dirty="0" err="1"/>
              <a:t>время</a:t>
            </a:r>
            <a:r>
              <a:rPr dirty="0"/>
              <a:t>, </a:t>
            </a:r>
            <a:r>
              <a:rPr dirty="0" err="1"/>
              <a:t>ошибки</a:t>
            </a:r>
            <a:r>
              <a:rPr dirty="0"/>
              <a:t>, RTF</a:t>
            </a:r>
            <a:r>
              <a:rPr lang="ru-RU" dirty="0"/>
              <a:t> – коэффициент скорости обработки</a:t>
            </a:r>
            <a:r>
              <a:rPr dirty="0"/>
              <a:t>).</a:t>
            </a:r>
          </a:p>
        </p:txBody>
      </p:sp>
      <p:sp>
        <p:nvSpPr>
          <p:cNvPr id="43" name="Shape 41"/>
          <p:cNvSpPr/>
          <p:nvPr/>
        </p:nvSpPr>
        <p:spPr>
          <a:xfrm>
            <a:off x="1207008" y="5873661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1463040" y="5782221"/>
            <a:ext cx="934516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2000"/>
            </a:pPr>
            <a:r>
              <a:rPr dirty="0" err="1"/>
              <a:t>Преобразование</a:t>
            </a:r>
            <a:r>
              <a:rPr dirty="0"/>
              <a:t> </a:t>
            </a:r>
            <a:r>
              <a:rPr dirty="0" err="1"/>
              <a:t>диалога</a:t>
            </a:r>
            <a:r>
              <a:rPr dirty="0"/>
              <a:t> в </a:t>
            </a:r>
            <a:r>
              <a:rPr dirty="0" err="1"/>
              <a:t>структурированные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(</a:t>
            </a:r>
            <a:r>
              <a:rPr dirty="0" err="1"/>
              <a:t>решения</a:t>
            </a:r>
            <a:r>
              <a:rPr dirty="0"/>
              <a:t> и </a:t>
            </a:r>
            <a:r>
              <a:rPr dirty="0" err="1"/>
              <a:t>задачи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12703" y="219456"/>
            <a:ext cx="74980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dirty="0">
                <a:solidFill>
                  <a:srgbClr val="172137"/>
                </a:solidFill>
                <a:latin typeface="Arial"/>
              </a:rPr>
              <a:t>0</a:t>
            </a:r>
            <a:r>
              <a:rPr lang="en-US" sz="1000" b="0" dirty="0">
                <a:solidFill>
                  <a:srgbClr val="172137"/>
                </a:solidFill>
                <a:latin typeface="Arial"/>
              </a:rPr>
              <a:t>5</a:t>
            </a:r>
            <a:r>
              <a:rPr sz="1000" b="0" dirty="0">
                <a:solidFill>
                  <a:srgbClr val="172137"/>
                </a:solidFill>
                <a:latin typeface="Arial"/>
              </a:rPr>
              <a:t>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290" y="332994"/>
            <a:ext cx="1013951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172137"/>
                </a:solidFill>
              </a:rPr>
              <a:t>Сравнение</a:t>
            </a:r>
            <a:r>
              <a:rPr sz="2800" b="1" dirty="0">
                <a:solidFill>
                  <a:srgbClr val="172137"/>
                </a:solidFill>
              </a:rPr>
              <a:t> ASR-</a:t>
            </a:r>
            <a:r>
              <a:rPr sz="2800" b="1" dirty="0" err="1">
                <a:solidFill>
                  <a:srgbClr val="172137"/>
                </a:solidFill>
              </a:rPr>
              <a:t>моделей</a:t>
            </a:r>
            <a:r>
              <a:rPr sz="2800" b="1" dirty="0">
                <a:solidFill>
                  <a:srgbClr val="172137"/>
                </a:solidFill>
              </a:rPr>
              <a:t> </a:t>
            </a:r>
            <a:r>
              <a:rPr sz="2800" b="1" dirty="0" err="1">
                <a:solidFill>
                  <a:srgbClr val="172137"/>
                </a:solidFill>
              </a:rPr>
              <a:t>по</a:t>
            </a:r>
            <a:r>
              <a:rPr sz="2800" b="1" dirty="0">
                <a:solidFill>
                  <a:srgbClr val="172137"/>
                </a:solidFill>
              </a:rPr>
              <a:t> </a:t>
            </a:r>
            <a:r>
              <a:rPr sz="2800" b="1" dirty="0" err="1">
                <a:solidFill>
                  <a:srgbClr val="172137"/>
                </a:solidFill>
              </a:rPr>
              <a:t>качеству</a:t>
            </a:r>
            <a:r>
              <a:rPr sz="2800" b="1" dirty="0">
                <a:solidFill>
                  <a:srgbClr val="172137"/>
                </a:solidFill>
              </a:rPr>
              <a:t> и </a:t>
            </a:r>
            <a:r>
              <a:rPr sz="2800" b="1" dirty="0" err="1">
                <a:solidFill>
                  <a:srgbClr val="172137"/>
                </a:solidFill>
              </a:rPr>
              <a:t>ресурсоёмкости</a:t>
            </a:r>
            <a:endParaRPr sz="2800" b="1" dirty="0">
              <a:solidFill>
                <a:srgbClr val="172137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5781" y="793468"/>
            <a:ext cx="1096043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 err="1">
                <a:solidFill>
                  <a:srgbClr val="172137"/>
                </a:solidFill>
              </a:rPr>
              <a:t>Выбор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модели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выполнялся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по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критериям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качества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распознавания</a:t>
            </a:r>
            <a:r>
              <a:rPr sz="2000" b="0" dirty="0">
                <a:solidFill>
                  <a:srgbClr val="172137"/>
                </a:solidFill>
              </a:rPr>
              <a:t>, </a:t>
            </a:r>
            <a:r>
              <a:rPr sz="2000" b="0" dirty="0" err="1">
                <a:solidFill>
                  <a:srgbClr val="172137"/>
                </a:solidFill>
              </a:rPr>
              <a:t>сохранения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значимых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деталей</a:t>
            </a:r>
            <a:r>
              <a:rPr sz="2000" b="0" dirty="0">
                <a:solidFill>
                  <a:srgbClr val="172137"/>
                </a:solidFill>
              </a:rPr>
              <a:t> и </a:t>
            </a:r>
            <a:r>
              <a:rPr sz="2000" b="0" dirty="0" err="1">
                <a:solidFill>
                  <a:srgbClr val="172137"/>
                </a:solidFill>
              </a:rPr>
              <a:t>допустимой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нагрузки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на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локальный</a:t>
            </a:r>
            <a:r>
              <a:rPr sz="2000" b="0" dirty="0">
                <a:solidFill>
                  <a:srgbClr val="172137"/>
                </a:solidFill>
              </a:rPr>
              <a:t> CPU</a:t>
            </a:r>
            <a:r>
              <a:rPr lang="ru-RU" sz="2000" b="0" dirty="0">
                <a:solidFill>
                  <a:srgbClr val="172137"/>
                </a:solidFill>
              </a:rPr>
              <a:t>(центральный процессор)</a:t>
            </a:r>
            <a:r>
              <a:rPr sz="2000" b="0" dirty="0">
                <a:solidFill>
                  <a:srgbClr val="172137"/>
                </a:solidFill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9290" y="1480525"/>
            <a:ext cx="10972800" cy="0"/>
          </a:xfrm>
          <a:prstGeom prst="line">
            <a:avLst/>
          </a:prstGeom>
          <a:ln w="15240">
            <a:solidFill>
              <a:srgbClr val="C8D2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79290" y="1710000"/>
            <a:ext cx="1500000" cy="5400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76200" bIns="63500" rtlCol="0" anchor="ctr"/>
          <a:lstStyle/>
          <a:p>
            <a:pPr algn="l"/>
            <a:r>
              <a:rPr sz="1300" b="1" dirty="0" err="1">
                <a:solidFill>
                  <a:srgbClr val="172137"/>
                </a:solidFill>
              </a:rPr>
              <a:t>Модель</a:t>
            </a:r>
            <a:endParaRPr sz="1300" b="1" dirty="0">
              <a:solidFill>
                <a:srgbClr val="172137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139290" y="1720000"/>
            <a:ext cx="1850000" cy="5400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76200" bIns="63500" rtlCol="0" anchor="ctr"/>
          <a:lstStyle/>
          <a:p>
            <a:pPr algn="l"/>
            <a:r>
              <a:rPr sz="1300" b="1" dirty="0" err="1">
                <a:solidFill>
                  <a:srgbClr val="172137"/>
                </a:solidFill>
              </a:rPr>
              <a:t>Качество</a:t>
            </a:r>
            <a:r>
              <a:rPr sz="1300" b="1" dirty="0">
                <a:solidFill>
                  <a:srgbClr val="172137"/>
                </a:solidFill>
              </a:rPr>
              <a:t> </a:t>
            </a:r>
            <a:r>
              <a:rPr sz="1300" b="1" dirty="0" err="1">
                <a:solidFill>
                  <a:srgbClr val="172137"/>
                </a:solidFill>
              </a:rPr>
              <a:t>на</a:t>
            </a:r>
            <a:endParaRPr sz="1300" b="1" dirty="0">
              <a:solidFill>
                <a:srgbClr val="172137"/>
              </a:solidFill>
            </a:endParaRPr>
          </a:p>
          <a:p>
            <a:pPr algn="l"/>
            <a:r>
              <a:rPr sz="1300" b="1" dirty="0" err="1">
                <a:solidFill>
                  <a:srgbClr val="172137"/>
                </a:solidFill>
              </a:rPr>
              <a:t>разговорной</a:t>
            </a:r>
            <a:r>
              <a:rPr sz="1300" b="1" dirty="0">
                <a:solidFill>
                  <a:srgbClr val="172137"/>
                </a:solidFill>
              </a:rPr>
              <a:t> </a:t>
            </a:r>
            <a:r>
              <a:rPr sz="1300" b="1" dirty="0" err="1">
                <a:solidFill>
                  <a:srgbClr val="172137"/>
                </a:solidFill>
              </a:rPr>
              <a:t>речи</a:t>
            </a:r>
            <a:endParaRPr sz="1300" b="1" dirty="0">
              <a:solidFill>
                <a:srgbClr val="172137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049289" y="1710000"/>
            <a:ext cx="1978977" cy="5400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76200" bIns="63500" rtlCol="0" anchor="ctr"/>
          <a:lstStyle/>
          <a:p>
            <a:pPr algn="l"/>
            <a:r>
              <a:rPr sz="1300" b="1" dirty="0" err="1">
                <a:solidFill>
                  <a:srgbClr val="172137"/>
                </a:solidFill>
              </a:rPr>
              <a:t>Сроки</a:t>
            </a:r>
            <a:r>
              <a:rPr sz="1300" b="1" dirty="0">
                <a:solidFill>
                  <a:srgbClr val="172137"/>
                </a:solidFill>
              </a:rPr>
              <a:t> /</a:t>
            </a:r>
            <a:r>
              <a:rPr lang="ru-RU" sz="1300" b="1" dirty="0">
                <a:solidFill>
                  <a:srgbClr val="172137"/>
                </a:solidFill>
              </a:rPr>
              <a:t> </a:t>
            </a:r>
            <a:r>
              <a:rPr sz="1300" b="1" dirty="0" err="1">
                <a:solidFill>
                  <a:srgbClr val="172137"/>
                </a:solidFill>
              </a:rPr>
              <a:t>термины</a:t>
            </a:r>
            <a:r>
              <a:rPr sz="1300" b="1" dirty="0">
                <a:solidFill>
                  <a:srgbClr val="172137"/>
                </a:solidFill>
              </a:rPr>
              <a:t> /</a:t>
            </a:r>
          </a:p>
          <a:p>
            <a:pPr algn="l"/>
            <a:r>
              <a:rPr sz="1300" b="1" dirty="0" err="1">
                <a:solidFill>
                  <a:srgbClr val="172137"/>
                </a:solidFill>
              </a:rPr>
              <a:t>числа</a:t>
            </a:r>
            <a:endParaRPr sz="1300" b="1" dirty="0">
              <a:solidFill>
                <a:srgbClr val="172137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89728" y="1710000"/>
            <a:ext cx="1180000" cy="5400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76200" bIns="63500" rtlCol="0" anchor="ctr"/>
          <a:lstStyle/>
          <a:p>
            <a:pPr algn="l"/>
            <a:r>
              <a:rPr sz="1300" b="1" dirty="0" err="1">
                <a:solidFill>
                  <a:srgbClr val="172137"/>
                </a:solidFill>
              </a:rPr>
              <a:t>Локально</a:t>
            </a:r>
            <a:r>
              <a:rPr sz="1300" b="1" dirty="0">
                <a:solidFill>
                  <a:srgbClr val="172137"/>
                </a:solidFill>
              </a:rPr>
              <a:t> /</a:t>
            </a:r>
          </a:p>
          <a:p>
            <a:pPr algn="l"/>
            <a:r>
              <a:rPr sz="1300" b="1" dirty="0" err="1">
                <a:solidFill>
                  <a:srgbClr val="172137"/>
                </a:solidFill>
              </a:rPr>
              <a:t>оффлайн</a:t>
            </a:r>
            <a:endParaRPr sz="1300" b="1" dirty="0">
              <a:solidFill>
                <a:srgbClr val="172137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29728" y="1710000"/>
            <a:ext cx="1180000" cy="5400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76200" bIns="63500" rtlCol="0" anchor="ctr"/>
          <a:lstStyle/>
          <a:p>
            <a:pPr algn="l"/>
            <a:r>
              <a:rPr sz="1300" b="1" dirty="0" err="1">
                <a:solidFill>
                  <a:srgbClr val="172137"/>
                </a:solidFill>
              </a:rPr>
              <a:t>Нагрузка</a:t>
            </a:r>
            <a:endParaRPr sz="1300" b="1" dirty="0">
              <a:solidFill>
                <a:srgbClr val="172137"/>
              </a:solidFill>
            </a:endParaRPr>
          </a:p>
          <a:p>
            <a:pPr algn="l"/>
            <a:r>
              <a:rPr sz="1300" b="1" dirty="0" err="1">
                <a:solidFill>
                  <a:srgbClr val="172137"/>
                </a:solidFill>
              </a:rPr>
              <a:t>на</a:t>
            </a:r>
            <a:r>
              <a:rPr sz="1300" b="1" dirty="0">
                <a:solidFill>
                  <a:srgbClr val="172137"/>
                </a:solidFill>
              </a:rPr>
              <a:t> CPU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9728" y="1717334"/>
            <a:ext cx="2960000" cy="5400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101600" rIns="76200" bIns="63500" rtlCol="0" anchor="ctr"/>
          <a:lstStyle/>
          <a:p>
            <a:pPr algn="l"/>
            <a:r>
              <a:rPr sz="1300" b="1" dirty="0" err="1">
                <a:solidFill>
                  <a:srgbClr val="172137"/>
                </a:solidFill>
              </a:rPr>
              <a:t>Вывод</a:t>
            </a:r>
            <a:endParaRPr sz="1300" b="1" dirty="0">
              <a:solidFill>
                <a:srgbClr val="172137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79290" y="2340000"/>
            <a:ext cx="150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9290" y="2500000"/>
            <a:ext cx="170000" cy="170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9290" y="2465000"/>
            <a:ext cx="107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72137"/>
                </a:solidFill>
              </a:rPr>
              <a:t>Vosk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9290" y="2340000"/>
            <a:ext cx="185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 dirty="0" err="1">
                <a:solidFill>
                  <a:srgbClr val="172137"/>
                </a:solidFill>
              </a:rPr>
              <a:t>ниже</a:t>
            </a:r>
            <a:r>
              <a:rPr sz="1200" b="0" dirty="0">
                <a:solidFill>
                  <a:srgbClr val="172137"/>
                </a:solidFill>
              </a:rPr>
              <a:t> </a:t>
            </a:r>
            <a:r>
              <a:rPr sz="1200" b="0" dirty="0" err="1">
                <a:solidFill>
                  <a:srgbClr val="172137"/>
                </a:solidFill>
              </a:rPr>
              <a:t>среднего</a:t>
            </a:r>
            <a:endParaRPr sz="1200" b="0" dirty="0">
              <a:solidFill>
                <a:srgbClr val="172137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049290" y="2340000"/>
            <a:ext cx="1978976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>
                <a:solidFill>
                  <a:srgbClr val="172137"/>
                </a:solidFill>
              </a:rPr>
              <a:t>слабее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728" y="2340000"/>
            <a:ext cx="118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 dirty="0" err="1">
                <a:solidFill>
                  <a:srgbClr val="172137"/>
                </a:solidFill>
              </a:rPr>
              <a:t>да</a:t>
            </a:r>
            <a:endParaRPr sz="1200" b="0" dirty="0">
              <a:solidFill>
                <a:srgbClr val="172137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329728" y="2340000"/>
            <a:ext cx="118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 dirty="0" err="1">
                <a:solidFill>
                  <a:srgbClr val="172137"/>
                </a:solidFill>
              </a:rPr>
              <a:t>низкая</a:t>
            </a:r>
            <a:endParaRPr sz="1200" b="0" dirty="0">
              <a:solidFill>
                <a:srgbClr val="172137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579728" y="2331167"/>
            <a:ext cx="296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150" b="0" dirty="0" err="1">
                <a:solidFill>
                  <a:srgbClr val="172137"/>
                </a:solidFill>
              </a:rPr>
              <a:t>Лёгкий</a:t>
            </a:r>
            <a:r>
              <a:rPr sz="1150" b="0" dirty="0">
                <a:solidFill>
                  <a:srgbClr val="172137"/>
                </a:solidFill>
              </a:rPr>
              <a:t> и </a:t>
            </a:r>
            <a:r>
              <a:rPr sz="1150" b="0" dirty="0" err="1">
                <a:solidFill>
                  <a:srgbClr val="172137"/>
                </a:solidFill>
              </a:rPr>
              <a:t>быстрый</a:t>
            </a:r>
            <a:r>
              <a:rPr sz="1150" b="0" dirty="0">
                <a:solidFill>
                  <a:srgbClr val="172137"/>
                </a:solidFill>
              </a:rPr>
              <a:t>, </a:t>
            </a:r>
            <a:r>
              <a:rPr sz="1150" b="0" dirty="0" err="1">
                <a:solidFill>
                  <a:srgbClr val="172137"/>
                </a:solidFill>
              </a:rPr>
              <a:t>но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хуже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держит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длинную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разговорную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речь</a:t>
            </a:r>
            <a:r>
              <a:rPr sz="1150" b="0" dirty="0">
                <a:solidFill>
                  <a:srgbClr val="172137"/>
                </a:solidFill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9290" y="2930000"/>
            <a:ext cx="150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9290" y="3090000"/>
            <a:ext cx="170000" cy="170000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9290" y="3055000"/>
            <a:ext cx="107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72137"/>
                </a:solidFill>
              </a:rPr>
              <a:t>NeMo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39290" y="2930000"/>
            <a:ext cx="185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>
                <a:solidFill>
                  <a:srgbClr val="172137"/>
                </a:solidFill>
              </a:rPr>
              <a:t>высокое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49290" y="2930000"/>
            <a:ext cx="1970438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>
                <a:solidFill>
                  <a:srgbClr val="172137"/>
                </a:solidFill>
              </a:rPr>
              <a:t>хорошее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9728" y="2930000"/>
            <a:ext cx="118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 dirty="0" err="1">
                <a:solidFill>
                  <a:srgbClr val="172137"/>
                </a:solidFill>
              </a:rPr>
              <a:t>да</a:t>
            </a:r>
            <a:endParaRPr sz="1200" b="0" dirty="0">
              <a:solidFill>
                <a:srgbClr val="172137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329728" y="2930000"/>
            <a:ext cx="118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 dirty="0" err="1">
                <a:solidFill>
                  <a:srgbClr val="172137"/>
                </a:solidFill>
              </a:rPr>
              <a:t>высокая</a:t>
            </a:r>
            <a:endParaRPr sz="1200" b="0" dirty="0">
              <a:solidFill>
                <a:srgbClr val="172137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579728" y="2930000"/>
            <a:ext cx="296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150" b="0" dirty="0" err="1">
                <a:solidFill>
                  <a:srgbClr val="172137"/>
                </a:solidFill>
              </a:rPr>
              <a:t>Сильный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вариант</a:t>
            </a:r>
            <a:r>
              <a:rPr sz="1150" b="0" dirty="0">
                <a:solidFill>
                  <a:srgbClr val="172137"/>
                </a:solidFill>
              </a:rPr>
              <a:t>, </a:t>
            </a:r>
            <a:r>
              <a:rPr sz="1150" b="0" dirty="0" err="1">
                <a:solidFill>
                  <a:srgbClr val="172137"/>
                </a:solidFill>
              </a:rPr>
              <a:t>но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для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локального</a:t>
            </a:r>
            <a:r>
              <a:rPr sz="1150" b="0" dirty="0">
                <a:solidFill>
                  <a:srgbClr val="172137"/>
                </a:solidFill>
              </a:rPr>
              <a:t> CPU-</a:t>
            </a:r>
            <a:r>
              <a:rPr sz="1150" b="0" dirty="0" err="1">
                <a:solidFill>
                  <a:srgbClr val="172137"/>
                </a:solidFill>
              </a:rPr>
              <a:t>сценария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заметно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тяжелее</a:t>
            </a:r>
            <a:r>
              <a:rPr sz="1150" b="0" dirty="0">
                <a:solidFill>
                  <a:srgbClr val="172137"/>
                </a:solidFill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9290" y="3520000"/>
            <a:ext cx="150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89290" y="3690792"/>
            <a:ext cx="170000" cy="170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9290" y="3582350"/>
            <a:ext cx="107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72137"/>
                </a:solidFill>
              </a:rPr>
              <a:t>Whisper small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39290" y="3520000"/>
            <a:ext cx="185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 dirty="0" err="1">
                <a:solidFill>
                  <a:srgbClr val="172137"/>
                </a:solidFill>
              </a:rPr>
              <a:t>среднее</a:t>
            </a:r>
            <a:endParaRPr sz="1200" b="0" dirty="0">
              <a:solidFill>
                <a:srgbClr val="172137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049290" y="3520000"/>
            <a:ext cx="1970438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 dirty="0" err="1">
                <a:solidFill>
                  <a:srgbClr val="172137"/>
                </a:solidFill>
              </a:rPr>
              <a:t>среднее</a:t>
            </a:r>
            <a:endParaRPr sz="1200" b="0" dirty="0">
              <a:solidFill>
                <a:srgbClr val="172137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089728" y="3520000"/>
            <a:ext cx="118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>
                <a:solidFill>
                  <a:srgbClr val="172137"/>
                </a:solidFill>
              </a:rPr>
              <a:t>да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29728" y="3520000"/>
            <a:ext cx="118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 dirty="0" err="1">
                <a:solidFill>
                  <a:srgbClr val="172137"/>
                </a:solidFill>
              </a:rPr>
              <a:t>низко-средняя</a:t>
            </a:r>
            <a:endParaRPr sz="1200" b="0" dirty="0">
              <a:solidFill>
                <a:srgbClr val="172137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579728" y="3510000"/>
            <a:ext cx="296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150" b="0" dirty="0" err="1">
                <a:solidFill>
                  <a:srgbClr val="172137"/>
                </a:solidFill>
              </a:rPr>
              <a:t>Быстрее</a:t>
            </a:r>
            <a:r>
              <a:rPr sz="1150" b="0" dirty="0">
                <a:solidFill>
                  <a:srgbClr val="172137"/>
                </a:solidFill>
              </a:rPr>
              <a:t>, </a:t>
            </a:r>
            <a:r>
              <a:rPr sz="1150" b="0" dirty="0" err="1">
                <a:solidFill>
                  <a:srgbClr val="172137"/>
                </a:solidFill>
              </a:rPr>
              <a:t>но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чаще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теряет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детали</a:t>
            </a:r>
            <a:r>
              <a:rPr sz="1150" b="0" dirty="0">
                <a:solidFill>
                  <a:srgbClr val="172137"/>
                </a:solidFill>
              </a:rPr>
              <a:t>, </a:t>
            </a:r>
            <a:r>
              <a:rPr sz="1150" b="0" dirty="0" err="1">
                <a:solidFill>
                  <a:srgbClr val="172137"/>
                </a:solidFill>
              </a:rPr>
              <a:t>важные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для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задач</a:t>
            </a:r>
            <a:r>
              <a:rPr sz="1150" b="0" dirty="0">
                <a:solidFill>
                  <a:srgbClr val="172137"/>
                </a:solidFill>
              </a:rPr>
              <a:t> и </a:t>
            </a:r>
            <a:r>
              <a:rPr sz="1150" b="0" dirty="0" err="1">
                <a:solidFill>
                  <a:srgbClr val="172137"/>
                </a:solidFill>
              </a:rPr>
              <a:t>решений</a:t>
            </a:r>
            <a:r>
              <a:rPr sz="1150" b="0" dirty="0">
                <a:solidFill>
                  <a:srgbClr val="172137"/>
                </a:solidFill>
              </a:rPr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9290" y="4110000"/>
            <a:ext cx="1500000" cy="790854"/>
          </a:xfrm>
          <a:prstGeom prst="roundRect">
            <a:avLst/>
          </a:prstGeom>
          <a:solidFill>
            <a:srgbClr val="EEF4FA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94290" y="4396646"/>
            <a:ext cx="170000" cy="170000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4290" y="4266646"/>
            <a:ext cx="107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72137"/>
                </a:solidFill>
              </a:rPr>
              <a:t>Whisper medium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39290" y="4110000"/>
            <a:ext cx="1850000" cy="790854"/>
          </a:xfrm>
          <a:prstGeom prst="roundRect">
            <a:avLst/>
          </a:prstGeom>
          <a:solidFill>
            <a:srgbClr val="EEF4FA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 dirty="0" err="1">
                <a:solidFill>
                  <a:srgbClr val="172137"/>
                </a:solidFill>
              </a:rPr>
              <a:t>высокое</a:t>
            </a:r>
            <a:endParaRPr sz="1200" b="0" dirty="0">
              <a:solidFill>
                <a:srgbClr val="172137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049290" y="4110000"/>
            <a:ext cx="1970438" cy="790854"/>
          </a:xfrm>
          <a:prstGeom prst="roundRect">
            <a:avLst/>
          </a:prstGeom>
          <a:solidFill>
            <a:srgbClr val="EEF4FA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>
                <a:solidFill>
                  <a:srgbClr val="172137"/>
                </a:solidFill>
              </a:rPr>
              <a:t>хорошее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89728" y="4110000"/>
            <a:ext cx="1180000" cy="790854"/>
          </a:xfrm>
          <a:prstGeom prst="roundRect">
            <a:avLst/>
          </a:prstGeom>
          <a:solidFill>
            <a:srgbClr val="EEF4FA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>
                <a:solidFill>
                  <a:srgbClr val="172137"/>
                </a:solidFill>
              </a:rPr>
              <a:t>да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29728" y="4110000"/>
            <a:ext cx="1180000" cy="790854"/>
          </a:xfrm>
          <a:prstGeom prst="roundRect">
            <a:avLst/>
          </a:prstGeom>
          <a:solidFill>
            <a:srgbClr val="EEF4FA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>
                <a:solidFill>
                  <a:srgbClr val="172137"/>
                </a:solidFill>
              </a:rPr>
              <a:t>средняя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79728" y="4109999"/>
            <a:ext cx="2960000" cy="790855"/>
          </a:xfrm>
          <a:prstGeom prst="roundRect">
            <a:avLst/>
          </a:prstGeom>
          <a:solidFill>
            <a:srgbClr val="EEF4FA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t"/>
          <a:lstStyle/>
          <a:p>
            <a:pPr algn="l"/>
            <a:r>
              <a:rPr sz="1150" b="1" dirty="0" err="1">
                <a:solidFill>
                  <a:srgbClr val="172137"/>
                </a:solidFill>
              </a:rPr>
              <a:t>Оптимальный</a:t>
            </a:r>
            <a:r>
              <a:rPr sz="1150" b="1" dirty="0">
                <a:solidFill>
                  <a:srgbClr val="172137"/>
                </a:solidFill>
              </a:rPr>
              <a:t> </a:t>
            </a:r>
            <a:r>
              <a:rPr sz="1150" b="1" dirty="0" err="1">
                <a:solidFill>
                  <a:srgbClr val="172137"/>
                </a:solidFill>
              </a:rPr>
              <a:t>баланс</a:t>
            </a:r>
            <a:r>
              <a:rPr sz="1150" b="1" dirty="0">
                <a:solidFill>
                  <a:srgbClr val="172137"/>
                </a:solidFill>
              </a:rPr>
              <a:t> </a:t>
            </a:r>
            <a:r>
              <a:rPr sz="1150" b="1" dirty="0" err="1">
                <a:solidFill>
                  <a:srgbClr val="172137"/>
                </a:solidFill>
              </a:rPr>
              <a:t>качества</a:t>
            </a:r>
            <a:r>
              <a:rPr sz="1150" b="1" dirty="0">
                <a:solidFill>
                  <a:srgbClr val="172137"/>
                </a:solidFill>
              </a:rPr>
              <a:t> и </a:t>
            </a:r>
            <a:r>
              <a:rPr sz="1150" b="1" dirty="0" err="1">
                <a:solidFill>
                  <a:srgbClr val="172137"/>
                </a:solidFill>
              </a:rPr>
              <a:t>ресурсов</a:t>
            </a:r>
            <a:r>
              <a:rPr sz="1150" b="1" dirty="0">
                <a:solidFill>
                  <a:srgbClr val="172137"/>
                </a:solidFill>
              </a:rPr>
              <a:t>; </a:t>
            </a:r>
            <a:r>
              <a:rPr sz="1150" b="1" dirty="0" err="1">
                <a:solidFill>
                  <a:srgbClr val="172137"/>
                </a:solidFill>
              </a:rPr>
              <a:t>выбран</a:t>
            </a:r>
            <a:r>
              <a:rPr sz="1150" b="1" dirty="0">
                <a:solidFill>
                  <a:srgbClr val="172137"/>
                </a:solidFill>
              </a:rPr>
              <a:t> </a:t>
            </a:r>
            <a:r>
              <a:rPr sz="1150" b="1" dirty="0" err="1">
                <a:solidFill>
                  <a:srgbClr val="172137"/>
                </a:solidFill>
              </a:rPr>
              <a:t>как</a:t>
            </a:r>
            <a:r>
              <a:rPr sz="1150" b="1" dirty="0">
                <a:solidFill>
                  <a:srgbClr val="172137"/>
                </a:solidFill>
              </a:rPr>
              <a:t> </a:t>
            </a:r>
            <a:r>
              <a:rPr sz="1150" b="1" dirty="0" err="1">
                <a:solidFill>
                  <a:srgbClr val="172137"/>
                </a:solidFill>
              </a:rPr>
              <a:t>основной</a:t>
            </a:r>
            <a:r>
              <a:rPr sz="1150" b="1" dirty="0">
                <a:solidFill>
                  <a:srgbClr val="172137"/>
                </a:solidFill>
              </a:rPr>
              <a:t> </a:t>
            </a:r>
            <a:r>
              <a:rPr sz="1150" b="1" dirty="0" err="1">
                <a:solidFill>
                  <a:srgbClr val="172137"/>
                </a:solidFill>
              </a:rPr>
              <a:t>вариант</a:t>
            </a:r>
            <a:r>
              <a:rPr sz="1150" b="1" dirty="0">
                <a:solidFill>
                  <a:srgbClr val="172137"/>
                </a:solidFill>
              </a:rPr>
              <a:t>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9290" y="5007500"/>
            <a:ext cx="150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84290" y="5187500"/>
            <a:ext cx="170000" cy="170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4290" y="5060733"/>
            <a:ext cx="1070000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72137"/>
                </a:solidFill>
              </a:rPr>
              <a:t>Whisper large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39290" y="5007500"/>
            <a:ext cx="185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 dirty="0" err="1">
                <a:solidFill>
                  <a:srgbClr val="172137"/>
                </a:solidFill>
              </a:rPr>
              <a:t>очень</a:t>
            </a:r>
            <a:r>
              <a:rPr sz="1200" b="0" dirty="0">
                <a:solidFill>
                  <a:srgbClr val="172137"/>
                </a:solidFill>
              </a:rPr>
              <a:t> </a:t>
            </a:r>
            <a:r>
              <a:rPr sz="1200" b="0" dirty="0" err="1">
                <a:solidFill>
                  <a:srgbClr val="172137"/>
                </a:solidFill>
              </a:rPr>
              <a:t>высокое</a:t>
            </a:r>
            <a:endParaRPr sz="1200" b="0" dirty="0">
              <a:solidFill>
                <a:srgbClr val="172137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4049290" y="5007500"/>
            <a:ext cx="1970438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 dirty="0" err="1">
                <a:solidFill>
                  <a:srgbClr val="172137"/>
                </a:solidFill>
              </a:rPr>
              <a:t>очень</a:t>
            </a:r>
            <a:r>
              <a:rPr sz="1200" b="0" dirty="0">
                <a:solidFill>
                  <a:srgbClr val="172137"/>
                </a:solidFill>
              </a:rPr>
              <a:t> </a:t>
            </a:r>
            <a:r>
              <a:rPr sz="1200" b="0" dirty="0" err="1">
                <a:solidFill>
                  <a:srgbClr val="172137"/>
                </a:solidFill>
              </a:rPr>
              <a:t>хорошее</a:t>
            </a:r>
            <a:endParaRPr sz="1200" b="0" dirty="0">
              <a:solidFill>
                <a:srgbClr val="172137"/>
              </a:solidFill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089728" y="5007500"/>
            <a:ext cx="118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 dirty="0" err="1">
                <a:solidFill>
                  <a:srgbClr val="172137"/>
                </a:solidFill>
              </a:rPr>
              <a:t>да</a:t>
            </a:r>
            <a:endParaRPr sz="1200" b="0" dirty="0">
              <a:solidFill>
                <a:srgbClr val="172137"/>
              </a:solidFill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329728" y="5007500"/>
            <a:ext cx="118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ctr"/>
          <a:lstStyle/>
          <a:p>
            <a:pPr algn="l"/>
            <a:r>
              <a:rPr sz="1200" b="0" dirty="0" err="1">
                <a:solidFill>
                  <a:srgbClr val="172137"/>
                </a:solidFill>
              </a:rPr>
              <a:t>высокая</a:t>
            </a:r>
            <a:endParaRPr sz="1200" b="0" dirty="0">
              <a:solidFill>
                <a:srgbClr val="172137"/>
              </a:solidFill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579728" y="4990000"/>
            <a:ext cx="2960000" cy="52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8900" tIns="88900" rIns="76200" bIns="63500" rtlCol="0" anchor="b"/>
          <a:lstStyle/>
          <a:p>
            <a:pPr algn="l"/>
            <a:r>
              <a:rPr sz="1150" b="0" dirty="0" err="1">
                <a:solidFill>
                  <a:srgbClr val="172137"/>
                </a:solidFill>
              </a:rPr>
              <a:t>Даёт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прирост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качества</a:t>
            </a:r>
            <a:r>
              <a:rPr sz="1150" b="0" dirty="0">
                <a:solidFill>
                  <a:srgbClr val="172137"/>
                </a:solidFill>
              </a:rPr>
              <a:t>, </a:t>
            </a:r>
            <a:r>
              <a:rPr sz="1150" b="0" dirty="0" err="1">
                <a:solidFill>
                  <a:srgbClr val="172137"/>
                </a:solidFill>
              </a:rPr>
              <a:t>но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нагрузка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на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компьютер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существенно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выше</a:t>
            </a:r>
            <a:r>
              <a:rPr sz="1150" b="0" dirty="0">
                <a:solidFill>
                  <a:srgbClr val="172137"/>
                </a:solidFill>
              </a:rPr>
              <a:t>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9290" y="5617500"/>
            <a:ext cx="10960438" cy="61500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84290" y="5832500"/>
            <a:ext cx="180000" cy="180000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99290" y="5692500"/>
            <a:ext cx="10440438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 err="1">
                <a:solidFill>
                  <a:srgbClr val="172137"/>
                </a:solidFill>
              </a:rPr>
              <a:t>Ключевой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вывод</a:t>
            </a:r>
            <a:r>
              <a:rPr sz="1400" b="1" dirty="0">
                <a:solidFill>
                  <a:srgbClr val="172137"/>
                </a:solidFill>
              </a:rPr>
              <a:t>: Whisper medium </a:t>
            </a:r>
            <a:r>
              <a:rPr sz="1400" b="1" dirty="0" err="1">
                <a:solidFill>
                  <a:srgbClr val="172137"/>
                </a:solidFill>
              </a:rPr>
              <a:t>выбран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как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практический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компромисс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между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качеством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распознавания</a:t>
            </a:r>
            <a:r>
              <a:rPr sz="1400" b="1" dirty="0">
                <a:solidFill>
                  <a:srgbClr val="172137"/>
                </a:solidFill>
              </a:rPr>
              <a:t>, </a:t>
            </a:r>
            <a:r>
              <a:rPr sz="1400" b="1" dirty="0" err="1">
                <a:solidFill>
                  <a:srgbClr val="172137"/>
                </a:solidFill>
              </a:rPr>
              <a:t>устойчивостью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на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длинной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речи</a:t>
            </a:r>
            <a:r>
              <a:rPr sz="1400" b="1" dirty="0">
                <a:solidFill>
                  <a:srgbClr val="172137"/>
                </a:solidFill>
              </a:rPr>
              <a:t> и </a:t>
            </a:r>
            <a:r>
              <a:rPr sz="1400" b="1" dirty="0" err="1">
                <a:solidFill>
                  <a:srgbClr val="172137"/>
                </a:solidFill>
              </a:rPr>
              <a:t>допустимой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нагрузкой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на</a:t>
            </a:r>
            <a:r>
              <a:rPr sz="1400" b="1" dirty="0">
                <a:solidFill>
                  <a:srgbClr val="172137"/>
                </a:solidFill>
              </a:rPr>
              <a:t> CPU.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112703" y="219456"/>
            <a:ext cx="74980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dirty="0">
                <a:solidFill>
                  <a:srgbClr val="172137"/>
                </a:solidFill>
                <a:latin typeface="Arial"/>
              </a:rPr>
              <a:t>0</a:t>
            </a:r>
            <a:r>
              <a:rPr lang="en-US" sz="1000" b="0" dirty="0">
                <a:solidFill>
                  <a:srgbClr val="172137"/>
                </a:solidFill>
                <a:latin typeface="Arial"/>
              </a:rPr>
              <a:t>6</a:t>
            </a:r>
            <a:r>
              <a:rPr sz="1000" b="0" dirty="0">
                <a:solidFill>
                  <a:srgbClr val="172137"/>
                </a:solidFill>
                <a:latin typeface="Arial"/>
              </a:rPr>
              <a:t> /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9290" y="332994"/>
            <a:ext cx="991091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 err="1">
                <a:solidFill>
                  <a:srgbClr val="172137"/>
                </a:solidFill>
              </a:rPr>
              <a:t>Почему</a:t>
            </a:r>
            <a:r>
              <a:rPr sz="2800" b="1" dirty="0">
                <a:solidFill>
                  <a:srgbClr val="172137"/>
                </a:solidFill>
              </a:rPr>
              <a:t> </a:t>
            </a:r>
            <a:r>
              <a:rPr sz="2800" b="1" dirty="0" err="1">
                <a:solidFill>
                  <a:srgbClr val="172137"/>
                </a:solidFill>
              </a:rPr>
              <a:t>качество</a:t>
            </a:r>
            <a:r>
              <a:rPr sz="2800" b="1" dirty="0">
                <a:solidFill>
                  <a:srgbClr val="172137"/>
                </a:solidFill>
              </a:rPr>
              <a:t> ASR </a:t>
            </a:r>
            <a:r>
              <a:rPr sz="2800" b="1" dirty="0" err="1">
                <a:solidFill>
                  <a:srgbClr val="172137"/>
                </a:solidFill>
              </a:rPr>
              <a:t>важно</a:t>
            </a:r>
            <a:r>
              <a:rPr sz="2800" b="1" dirty="0">
                <a:solidFill>
                  <a:srgbClr val="172137"/>
                </a:solidFill>
              </a:rPr>
              <a:t> </a:t>
            </a:r>
            <a:r>
              <a:rPr sz="2800" b="1" dirty="0" err="1">
                <a:solidFill>
                  <a:srgbClr val="172137"/>
                </a:solidFill>
              </a:rPr>
              <a:t>для</a:t>
            </a:r>
            <a:r>
              <a:rPr sz="2800" b="1" dirty="0">
                <a:solidFill>
                  <a:srgbClr val="172137"/>
                </a:solidFill>
              </a:rPr>
              <a:t> </a:t>
            </a:r>
            <a:r>
              <a:rPr sz="2800" b="1" dirty="0" err="1">
                <a:solidFill>
                  <a:srgbClr val="172137"/>
                </a:solidFill>
              </a:rPr>
              <a:t>итогового</a:t>
            </a:r>
            <a:r>
              <a:rPr sz="2800" b="1" dirty="0">
                <a:solidFill>
                  <a:srgbClr val="172137"/>
                </a:solidFill>
              </a:rPr>
              <a:t> </a:t>
            </a:r>
            <a:r>
              <a:rPr sz="2800" b="1" dirty="0" err="1">
                <a:solidFill>
                  <a:srgbClr val="172137"/>
                </a:solidFill>
              </a:rPr>
              <a:t>протокола</a:t>
            </a:r>
            <a:endParaRPr sz="2800" b="1" dirty="0">
              <a:solidFill>
                <a:srgbClr val="172137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9290" y="818000"/>
            <a:ext cx="10960438" cy="304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 err="1">
                <a:solidFill>
                  <a:srgbClr val="172137"/>
                </a:solidFill>
              </a:rPr>
              <a:t>Иллюстративный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пример</a:t>
            </a:r>
            <a:r>
              <a:rPr sz="2000" b="0" dirty="0">
                <a:solidFill>
                  <a:srgbClr val="172137"/>
                </a:solidFill>
              </a:rPr>
              <a:t>: </a:t>
            </a:r>
            <a:r>
              <a:rPr sz="2000" b="0" dirty="0" err="1">
                <a:solidFill>
                  <a:srgbClr val="172137"/>
                </a:solidFill>
              </a:rPr>
              <a:t>ошибки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распознавания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влияют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не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только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на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текст</a:t>
            </a:r>
            <a:r>
              <a:rPr sz="2000" b="0" dirty="0">
                <a:solidFill>
                  <a:srgbClr val="172137"/>
                </a:solidFill>
              </a:rPr>
              <a:t>, </a:t>
            </a:r>
            <a:r>
              <a:rPr sz="2000" b="0" dirty="0" err="1">
                <a:solidFill>
                  <a:srgbClr val="172137"/>
                </a:solidFill>
              </a:rPr>
              <a:t>но</a:t>
            </a:r>
            <a:r>
              <a:rPr sz="2000" b="0" dirty="0">
                <a:solidFill>
                  <a:srgbClr val="172137"/>
                </a:solidFill>
              </a:rPr>
              <a:t> и </a:t>
            </a:r>
            <a:r>
              <a:rPr sz="2000" b="0" dirty="0" err="1">
                <a:solidFill>
                  <a:srgbClr val="172137"/>
                </a:solidFill>
              </a:rPr>
              <a:t>на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извлечение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срока</a:t>
            </a:r>
            <a:r>
              <a:rPr sz="2000" b="0" dirty="0">
                <a:solidFill>
                  <a:srgbClr val="172137"/>
                </a:solidFill>
              </a:rPr>
              <a:t>, </a:t>
            </a:r>
            <a:r>
              <a:rPr sz="2000" b="0" dirty="0" err="1">
                <a:solidFill>
                  <a:srgbClr val="172137"/>
                </a:solidFill>
              </a:rPr>
              <a:t>терминов</a:t>
            </a:r>
            <a:r>
              <a:rPr sz="2000" b="0" dirty="0">
                <a:solidFill>
                  <a:srgbClr val="172137"/>
                </a:solidFill>
              </a:rPr>
              <a:t> и </a:t>
            </a:r>
            <a:r>
              <a:rPr sz="2000" b="0" dirty="0" err="1">
                <a:solidFill>
                  <a:srgbClr val="172137"/>
                </a:solidFill>
              </a:rPr>
              <a:t>формулировки</a:t>
            </a:r>
            <a:r>
              <a:rPr sz="2000" b="0" dirty="0">
                <a:solidFill>
                  <a:srgbClr val="172137"/>
                </a:solidFill>
              </a:rPr>
              <a:t> </a:t>
            </a:r>
            <a:r>
              <a:rPr sz="2000" b="0" dirty="0" err="1">
                <a:solidFill>
                  <a:srgbClr val="172137"/>
                </a:solidFill>
              </a:rPr>
              <a:t>задачи</a:t>
            </a:r>
            <a:r>
              <a:rPr sz="2000" b="0" dirty="0">
                <a:solidFill>
                  <a:srgbClr val="172137"/>
                </a:solidFill>
              </a:rPr>
              <a:t>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56725"/>
            <a:ext cx="10972800" cy="0"/>
          </a:xfrm>
          <a:prstGeom prst="line">
            <a:avLst/>
          </a:prstGeom>
          <a:ln w="15240">
            <a:solidFill>
              <a:srgbClr val="C8D2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73109" y="1624458"/>
            <a:ext cx="10960438" cy="743541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109" y="1715379"/>
            <a:ext cx="180000" cy="180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3109" y="1658301"/>
            <a:ext cx="25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 err="1">
                <a:solidFill>
                  <a:srgbClr val="172137"/>
                </a:solidFill>
              </a:rPr>
              <a:t>Эталонный</a:t>
            </a:r>
            <a:r>
              <a:rPr sz="1500" b="1" dirty="0">
                <a:solidFill>
                  <a:srgbClr val="172137"/>
                </a:solidFill>
              </a:rPr>
              <a:t> </a:t>
            </a:r>
            <a:r>
              <a:rPr sz="1500" b="1" dirty="0" err="1">
                <a:solidFill>
                  <a:srgbClr val="172137"/>
                </a:solidFill>
              </a:rPr>
              <a:t>фрагмент</a:t>
            </a:r>
            <a:endParaRPr sz="1500" b="1" dirty="0">
              <a:solidFill>
                <a:srgbClr val="172137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109" y="1894301"/>
            <a:ext cx="10440438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 err="1">
                <a:solidFill>
                  <a:srgbClr val="172137"/>
                </a:solidFill>
              </a:rPr>
              <a:t>Мария</a:t>
            </a:r>
            <a:r>
              <a:rPr sz="1400" b="0" dirty="0">
                <a:solidFill>
                  <a:srgbClr val="172137"/>
                </a:solidFill>
              </a:rPr>
              <a:t>, </a:t>
            </a:r>
            <a:r>
              <a:rPr sz="1400" b="0" dirty="0" err="1">
                <a:solidFill>
                  <a:srgbClr val="172137"/>
                </a:solidFill>
              </a:rPr>
              <a:t>до</a:t>
            </a:r>
            <a:r>
              <a:rPr sz="1400" b="0" dirty="0">
                <a:solidFill>
                  <a:srgbClr val="172137"/>
                </a:solidFill>
              </a:rPr>
              <a:t> 14 </a:t>
            </a:r>
            <a:r>
              <a:rPr sz="1400" b="0" dirty="0" err="1">
                <a:solidFill>
                  <a:srgbClr val="172137"/>
                </a:solidFill>
              </a:rPr>
              <a:t>января</a:t>
            </a:r>
            <a:r>
              <a:rPr sz="1400" b="0" dirty="0">
                <a:solidFill>
                  <a:srgbClr val="172137"/>
                </a:solidFill>
              </a:rPr>
              <a:t> </a:t>
            </a:r>
            <a:r>
              <a:rPr sz="1400" b="0" dirty="0" err="1">
                <a:solidFill>
                  <a:srgbClr val="172137"/>
                </a:solidFill>
              </a:rPr>
              <a:t>доработай</a:t>
            </a:r>
            <a:r>
              <a:rPr sz="1400" b="0" dirty="0">
                <a:solidFill>
                  <a:srgbClr val="172137"/>
                </a:solidFill>
              </a:rPr>
              <a:t> </a:t>
            </a:r>
            <a:r>
              <a:rPr sz="1400" b="0" dirty="0" err="1">
                <a:solidFill>
                  <a:srgbClr val="172137"/>
                </a:solidFill>
              </a:rPr>
              <a:t>обработчики</a:t>
            </a:r>
            <a:r>
              <a:rPr sz="1400" b="0" dirty="0">
                <a:solidFill>
                  <a:srgbClr val="172137"/>
                </a:solidFill>
              </a:rPr>
              <a:t> </a:t>
            </a:r>
            <a:r>
              <a:rPr sz="1400" b="0" dirty="0" err="1">
                <a:solidFill>
                  <a:srgbClr val="172137"/>
                </a:solidFill>
              </a:rPr>
              <a:t>ошибок</a:t>
            </a:r>
            <a:r>
              <a:rPr sz="1400" b="0" dirty="0">
                <a:solidFill>
                  <a:srgbClr val="172137"/>
                </a:solidFill>
              </a:rPr>
              <a:t> API </a:t>
            </a:r>
            <a:r>
              <a:rPr sz="1400" b="0" dirty="0" err="1">
                <a:solidFill>
                  <a:srgbClr val="172137"/>
                </a:solidFill>
              </a:rPr>
              <a:t>нового</a:t>
            </a:r>
            <a:r>
              <a:rPr sz="1400" b="0" dirty="0">
                <a:solidFill>
                  <a:srgbClr val="172137"/>
                </a:solidFill>
              </a:rPr>
              <a:t> </a:t>
            </a:r>
            <a:r>
              <a:rPr sz="1400" b="0" dirty="0" err="1">
                <a:solidFill>
                  <a:srgbClr val="172137"/>
                </a:solidFill>
              </a:rPr>
              <a:t>провайдера</a:t>
            </a:r>
            <a:r>
              <a:rPr sz="1400" b="0" dirty="0">
                <a:solidFill>
                  <a:srgbClr val="172137"/>
                </a:solidFill>
              </a:rPr>
              <a:t> </a:t>
            </a:r>
            <a:r>
              <a:rPr sz="1400" b="0" dirty="0" err="1">
                <a:solidFill>
                  <a:srgbClr val="172137"/>
                </a:solidFill>
              </a:rPr>
              <a:t>платежей</a:t>
            </a:r>
            <a:r>
              <a:rPr sz="1400" b="0" dirty="0">
                <a:solidFill>
                  <a:srgbClr val="172137"/>
                </a:solidFill>
              </a:rPr>
              <a:t> и </a:t>
            </a:r>
            <a:r>
              <a:rPr sz="1400" b="0" dirty="0" err="1">
                <a:solidFill>
                  <a:srgbClr val="172137"/>
                </a:solidFill>
              </a:rPr>
              <a:t>предупреди</a:t>
            </a:r>
            <a:r>
              <a:rPr sz="1400" b="0" dirty="0">
                <a:solidFill>
                  <a:srgbClr val="172137"/>
                </a:solidFill>
              </a:rPr>
              <a:t> </a:t>
            </a:r>
            <a:r>
              <a:rPr sz="1400" b="0" dirty="0" err="1">
                <a:solidFill>
                  <a:srgbClr val="172137"/>
                </a:solidFill>
              </a:rPr>
              <a:t>поддержку</a:t>
            </a:r>
            <a:r>
              <a:rPr sz="1400" b="0" dirty="0">
                <a:solidFill>
                  <a:srgbClr val="172137"/>
                </a:solidFill>
              </a:rPr>
              <a:t> о </a:t>
            </a:r>
            <a:r>
              <a:rPr sz="1400" b="0" dirty="0" err="1">
                <a:solidFill>
                  <a:srgbClr val="172137"/>
                </a:solidFill>
              </a:rPr>
              <a:t>переносе</a:t>
            </a:r>
            <a:r>
              <a:rPr sz="1400" b="0" dirty="0">
                <a:solidFill>
                  <a:srgbClr val="172137"/>
                </a:solidFill>
              </a:rPr>
              <a:t> </a:t>
            </a:r>
            <a:r>
              <a:rPr sz="1400" b="0" dirty="0" err="1">
                <a:solidFill>
                  <a:srgbClr val="172137"/>
                </a:solidFill>
              </a:rPr>
              <a:t>релиза</a:t>
            </a:r>
            <a:r>
              <a:rPr sz="1400" b="0" dirty="0">
                <a:solidFill>
                  <a:srgbClr val="172137"/>
                </a:solidFill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9290" y="2440000"/>
            <a:ext cx="42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72137"/>
                </a:solidFill>
              </a:rPr>
              <a:t>Типичный результат распознавания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290" y="2440000"/>
            <a:ext cx="250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72137"/>
                </a:solidFill>
              </a:rPr>
              <a:t>Почему это важно для системы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9290" y="2660000"/>
            <a:ext cx="10960438" cy="60608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9290" y="2858662"/>
            <a:ext cx="180000" cy="180000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9290" y="2858662"/>
            <a:ext cx="135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 err="1">
                <a:solidFill>
                  <a:srgbClr val="172137"/>
                </a:solidFill>
              </a:rPr>
              <a:t>Vosk</a:t>
            </a:r>
            <a:endParaRPr sz="1400" b="1" dirty="0">
              <a:solidFill>
                <a:srgbClr val="172137"/>
              </a:solidFill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7929290" y="2798662"/>
            <a:ext cx="0" cy="360000"/>
          </a:xfrm>
          <a:prstGeom prst="line">
            <a:avLst/>
          </a:prstGeom>
          <a:ln w="12700">
            <a:solidFill>
              <a:srgbClr val="C8D2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79290" y="2793662"/>
            <a:ext cx="5100000" cy="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 err="1">
                <a:solidFill>
                  <a:srgbClr val="172137"/>
                </a:solidFill>
              </a:rPr>
              <a:t>Мария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до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января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доработай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обработчик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ошибок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нового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провайдера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платежей</a:t>
            </a:r>
            <a:r>
              <a:rPr sz="1150" b="0" dirty="0">
                <a:solidFill>
                  <a:srgbClr val="172137"/>
                </a:solidFill>
              </a:rPr>
              <a:t> и </a:t>
            </a:r>
            <a:r>
              <a:rPr sz="1150" b="0" dirty="0" err="1">
                <a:solidFill>
                  <a:srgbClr val="172137"/>
                </a:solidFill>
              </a:rPr>
              <a:t>предупреди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поддержку</a:t>
            </a:r>
            <a:r>
              <a:rPr sz="1150" b="0" dirty="0">
                <a:solidFill>
                  <a:srgbClr val="172137"/>
                </a:solidFill>
              </a:rPr>
              <a:t> о </a:t>
            </a:r>
            <a:r>
              <a:rPr sz="1150" b="0" dirty="0" err="1">
                <a:solidFill>
                  <a:srgbClr val="172137"/>
                </a:solidFill>
              </a:rPr>
              <a:t>переносе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релиза</a:t>
            </a:r>
            <a:endParaRPr sz="1150" b="0" dirty="0">
              <a:solidFill>
                <a:srgbClr val="172137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72710" y="2668167"/>
            <a:ext cx="3080000" cy="530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 err="1">
                <a:solidFill>
                  <a:srgbClr val="172137"/>
                </a:solidFill>
              </a:rPr>
              <a:t>Теряется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точный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срок</a:t>
            </a:r>
            <a:r>
              <a:rPr sz="1150" b="0" dirty="0">
                <a:solidFill>
                  <a:srgbClr val="172137"/>
                </a:solidFill>
              </a:rPr>
              <a:t> и </a:t>
            </a:r>
            <a:r>
              <a:rPr sz="1150" b="0" dirty="0" err="1">
                <a:solidFill>
                  <a:srgbClr val="172137"/>
                </a:solidFill>
              </a:rPr>
              <a:t>часть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формулировки</a:t>
            </a:r>
            <a:r>
              <a:rPr sz="1150" b="0" dirty="0">
                <a:solidFill>
                  <a:srgbClr val="172137"/>
                </a:solidFill>
              </a:rPr>
              <a:t> -&gt; </a:t>
            </a:r>
            <a:r>
              <a:rPr sz="1150" b="0" dirty="0" err="1">
                <a:solidFill>
                  <a:srgbClr val="172137"/>
                </a:solidFill>
              </a:rPr>
              <a:t>задача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фиксируется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менее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точно</a:t>
            </a:r>
            <a:r>
              <a:rPr sz="1150" b="0" dirty="0">
                <a:solidFill>
                  <a:srgbClr val="172137"/>
                </a:solidFill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9290" y="3315918"/>
            <a:ext cx="10960438" cy="60129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19290" y="3488282"/>
            <a:ext cx="180000" cy="180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9290" y="3483815"/>
            <a:ext cx="135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72137"/>
                </a:solidFill>
              </a:rPr>
              <a:t>NeMo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29290" y="3428282"/>
            <a:ext cx="0" cy="360000"/>
          </a:xfrm>
          <a:prstGeom prst="line">
            <a:avLst/>
          </a:prstGeom>
          <a:ln w="12700">
            <a:solidFill>
              <a:srgbClr val="C8D2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79290" y="3423282"/>
            <a:ext cx="5100000" cy="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 err="1">
                <a:solidFill>
                  <a:srgbClr val="172137"/>
                </a:solidFill>
              </a:rPr>
              <a:t>Мария</a:t>
            </a:r>
            <a:r>
              <a:rPr sz="1150" b="0" dirty="0">
                <a:solidFill>
                  <a:srgbClr val="172137"/>
                </a:solidFill>
              </a:rPr>
              <a:t>, </a:t>
            </a:r>
            <a:r>
              <a:rPr sz="1150" b="0" dirty="0" err="1">
                <a:solidFill>
                  <a:srgbClr val="172137"/>
                </a:solidFill>
              </a:rPr>
              <a:t>до</a:t>
            </a:r>
            <a:r>
              <a:rPr sz="1150" b="0" dirty="0">
                <a:solidFill>
                  <a:srgbClr val="172137"/>
                </a:solidFill>
              </a:rPr>
              <a:t> 14 </a:t>
            </a:r>
            <a:r>
              <a:rPr sz="1150" b="0" dirty="0" err="1">
                <a:solidFill>
                  <a:srgbClr val="172137"/>
                </a:solidFill>
              </a:rPr>
              <a:t>января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доработай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обработчики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ошибок</a:t>
            </a:r>
            <a:r>
              <a:rPr sz="1150" b="0" dirty="0">
                <a:solidFill>
                  <a:srgbClr val="172137"/>
                </a:solidFill>
              </a:rPr>
              <a:t> API </a:t>
            </a:r>
            <a:r>
              <a:rPr sz="1150" b="0" dirty="0" err="1">
                <a:solidFill>
                  <a:srgbClr val="172137"/>
                </a:solidFill>
              </a:rPr>
              <a:t>нового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провайдера</a:t>
            </a:r>
            <a:r>
              <a:rPr sz="1150" b="0" dirty="0">
                <a:solidFill>
                  <a:srgbClr val="172137"/>
                </a:solidFill>
              </a:rPr>
              <a:t> и </a:t>
            </a:r>
            <a:r>
              <a:rPr sz="1150" b="0" dirty="0" err="1">
                <a:solidFill>
                  <a:srgbClr val="172137"/>
                </a:solidFill>
              </a:rPr>
              <a:t>предупреди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поддержку</a:t>
            </a:r>
            <a:r>
              <a:rPr sz="1150" b="0" dirty="0">
                <a:solidFill>
                  <a:srgbClr val="172137"/>
                </a:solidFill>
              </a:rPr>
              <a:t> о </a:t>
            </a:r>
            <a:r>
              <a:rPr sz="1150" b="0" dirty="0" err="1">
                <a:solidFill>
                  <a:srgbClr val="172137"/>
                </a:solidFill>
              </a:rPr>
              <a:t>переносе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релиза</a:t>
            </a:r>
            <a:r>
              <a:rPr sz="1150" b="0" dirty="0">
                <a:solidFill>
                  <a:srgbClr val="172137"/>
                </a:solidFill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2710" y="3331949"/>
            <a:ext cx="3080000" cy="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 err="1">
                <a:solidFill>
                  <a:srgbClr val="172137"/>
                </a:solidFill>
              </a:rPr>
              <a:t>Смысл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сохранён</a:t>
            </a:r>
            <a:r>
              <a:rPr sz="1150" b="0" dirty="0">
                <a:solidFill>
                  <a:srgbClr val="172137"/>
                </a:solidFill>
              </a:rPr>
              <a:t>, </a:t>
            </a:r>
            <a:r>
              <a:rPr sz="1150" b="0" dirty="0" err="1">
                <a:solidFill>
                  <a:srgbClr val="172137"/>
                </a:solidFill>
              </a:rPr>
              <a:t>но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термин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сокращён</a:t>
            </a:r>
            <a:r>
              <a:rPr sz="1150" b="0" dirty="0">
                <a:solidFill>
                  <a:srgbClr val="172137"/>
                </a:solidFill>
              </a:rPr>
              <a:t> -&gt; </a:t>
            </a:r>
            <a:r>
              <a:rPr sz="1150" b="0" dirty="0" err="1">
                <a:solidFill>
                  <a:srgbClr val="172137"/>
                </a:solidFill>
              </a:rPr>
              <a:t>итоговый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протокол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становится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менее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конкретным</a:t>
            </a:r>
            <a:r>
              <a:rPr sz="1150" b="0" dirty="0">
                <a:solidFill>
                  <a:srgbClr val="172137"/>
                </a:solidFill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9290" y="3994200"/>
            <a:ext cx="10960438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19290" y="4144200"/>
            <a:ext cx="180000" cy="180000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9290" y="4144200"/>
            <a:ext cx="135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72137"/>
                </a:solidFill>
              </a:rPr>
              <a:t>Whisper small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29290" y="4084200"/>
            <a:ext cx="0" cy="360000"/>
          </a:xfrm>
          <a:prstGeom prst="line">
            <a:avLst/>
          </a:prstGeom>
          <a:ln w="12700">
            <a:solidFill>
              <a:srgbClr val="C8D2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479290" y="4079200"/>
            <a:ext cx="5100000" cy="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172137"/>
                </a:solidFill>
              </a:rPr>
              <a:t>Мария, до 14 января доработай обработчики ошибок API нового провайдера платежей и предупреди поддержку о переносе релиза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9290" y="4079200"/>
            <a:ext cx="3080000" cy="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172137"/>
                </a:solidFill>
              </a:rPr>
              <a:t>В целом понятно, но на длинной речи детали удерживаются менее стабильно.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9290" y="4604200"/>
            <a:ext cx="10960438" cy="629540"/>
          </a:xfrm>
          <a:prstGeom prst="roundRect">
            <a:avLst/>
          </a:prstGeom>
          <a:solidFill>
            <a:srgbClr val="EEF4FA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14290" y="4828970"/>
            <a:ext cx="180000" cy="180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9290" y="4714200"/>
            <a:ext cx="135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72137"/>
                </a:solidFill>
              </a:rPr>
              <a:t>Whisper medium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29290" y="4694200"/>
            <a:ext cx="0" cy="360000"/>
          </a:xfrm>
          <a:prstGeom prst="line">
            <a:avLst/>
          </a:prstGeom>
          <a:ln w="12700">
            <a:solidFill>
              <a:srgbClr val="C8D2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479290" y="4689200"/>
            <a:ext cx="5100000" cy="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172137"/>
                </a:solidFill>
              </a:rPr>
              <a:t>Мария, до 14 января доработай обработчики ошибок API нового провайдера платежей и предупреди поддержку о переносе релиза.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9290" y="4656373"/>
            <a:ext cx="3080000" cy="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dirty="0" err="1">
                <a:solidFill>
                  <a:srgbClr val="172137"/>
                </a:solidFill>
              </a:rPr>
              <a:t>Сохраняет</a:t>
            </a:r>
            <a:r>
              <a:rPr sz="1150" b="1" dirty="0">
                <a:solidFill>
                  <a:srgbClr val="172137"/>
                </a:solidFill>
              </a:rPr>
              <a:t> </a:t>
            </a:r>
            <a:r>
              <a:rPr sz="1150" b="1" dirty="0" err="1">
                <a:solidFill>
                  <a:srgbClr val="172137"/>
                </a:solidFill>
              </a:rPr>
              <a:t>срок</a:t>
            </a:r>
            <a:r>
              <a:rPr sz="1150" b="1" dirty="0">
                <a:solidFill>
                  <a:srgbClr val="172137"/>
                </a:solidFill>
              </a:rPr>
              <a:t>, </a:t>
            </a:r>
            <a:r>
              <a:rPr sz="1150" b="1" dirty="0" err="1">
                <a:solidFill>
                  <a:srgbClr val="172137"/>
                </a:solidFill>
              </a:rPr>
              <a:t>термин</a:t>
            </a:r>
            <a:r>
              <a:rPr sz="1150" b="1" dirty="0">
                <a:solidFill>
                  <a:srgbClr val="172137"/>
                </a:solidFill>
              </a:rPr>
              <a:t> и </a:t>
            </a:r>
            <a:r>
              <a:rPr sz="1150" b="1" dirty="0" err="1">
                <a:solidFill>
                  <a:srgbClr val="172137"/>
                </a:solidFill>
              </a:rPr>
              <a:t>действие</a:t>
            </a:r>
            <a:r>
              <a:rPr sz="1150" b="1" dirty="0">
                <a:solidFill>
                  <a:srgbClr val="172137"/>
                </a:solidFill>
              </a:rPr>
              <a:t> -&gt; </a:t>
            </a:r>
            <a:r>
              <a:rPr sz="1150" b="1" dirty="0" err="1">
                <a:solidFill>
                  <a:srgbClr val="172137"/>
                </a:solidFill>
              </a:rPr>
              <a:t>надёжнее</a:t>
            </a:r>
            <a:r>
              <a:rPr sz="1150" b="1" dirty="0">
                <a:solidFill>
                  <a:srgbClr val="172137"/>
                </a:solidFill>
              </a:rPr>
              <a:t> </a:t>
            </a:r>
            <a:r>
              <a:rPr sz="1150" b="1" dirty="0" err="1">
                <a:solidFill>
                  <a:srgbClr val="172137"/>
                </a:solidFill>
              </a:rPr>
              <a:t>для</a:t>
            </a:r>
            <a:r>
              <a:rPr sz="1150" b="1" dirty="0">
                <a:solidFill>
                  <a:srgbClr val="172137"/>
                </a:solidFill>
              </a:rPr>
              <a:t> </a:t>
            </a:r>
            <a:r>
              <a:rPr sz="1150" b="1" dirty="0" err="1">
                <a:solidFill>
                  <a:srgbClr val="172137"/>
                </a:solidFill>
              </a:rPr>
              <a:t>извлечения</a:t>
            </a:r>
            <a:r>
              <a:rPr sz="1150" b="1" dirty="0">
                <a:solidFill>
                  <a:srgbClr val="172137"/>
                </a:solidFill>
              </a:rPr>
              <a:t> </a:t>
            </a:r>
            <a:r>
              <a:rPr sz="1150" b="1" dirty="0" err="1">
                <a:solidFill>
                  <a:srgbClr val="172137"/>
                </a:solidFill>
              </a:rPr>
              <a:t>задач</a:t>
            </a:r>
            <a:r>
              <a:rPr sz="1150" b="1" dirty="0">
                <a:solidFill>
                  <a:srgbClr val="172137"/>
                </a:solidFill>
              </a:rPr>
              <a:t> и </a:t>
            </a:r>
            <a:r>
              <a:rPr sz="1150" b="1" dirty="0" err="1">
                <a:solidFill>
                  <a:srgbClr val="172137"/>
                </a:solidFill>
              </a:rPr>
              <a:t>решений</a:t>
            </a:r>
            <a:r>
              <a:rPr sz="1150" b="1" dirty="0">
                <a:solidFill>
                  <a:srgbClr val="172137"/>
                </a:solidFill>
              </a:rPr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9290" y="5301473"/>
            <a:ext cx="10960438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19290" y="5451473"/>
            <a:ext cx="180000" cy="180000"/>
          </a:xfrm>
          <a:prstGeom prst="roundRect">
            <a:avLst/>
          </a:prstGeom>
          <a:solidFill>
            <a:schemeClr val="bg2">
              <a:lumMod val="10000"/>
            </a:schemeClr>
          </a:solidFill>
          <a:ln w="1270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9290" y="5451473"/>
            <a:ext cx="13500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172137"/>
                </a:solidFill>
              </a:rPr>
              <a:t>Whisper large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929290" y="5391473"/>
            <a:ext cx="0" cy="360000"/>
          </a:xfrm>
          <a:prstGeom prst="line">
            <a:avLst/>
          </a:prstGeom>
          <a:ln w="12700">
            <a:solidFill>
              <a:srgbClr val="C8D2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479290" y="5386473"/>
            <a:ext cx="5100000" cy="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 err="1">
                <a:solidFill>
                  <a:srgbClr val="172137"/>
                </a:solidFill>
              </a:rPr>
              <a:t>Мария</a:t>
            </a:r>
            <a:r>
              <a:rPr sz="1150" b="0" dirty="0">
                <a:solidFill>
                  <a:srgbClr val="172137"/>
                </a:solidFill>
              </a:rPr>
              <a:t>, </a:t>
            </a:r>
            <a:r>
              <a:rPr sz="1150" b="0" dirty="0" err="1">
                <a:solidFill>
                  <a:srgbClr val="172137"/>
                </a:solidFill>
              </a:rPr>
              <a:t>до</a:t>
            </a:r>
            <a:r>
              <a:rPr sz="1150" b="0" dirty="0">
                <a:solidFill>
                  <a:srgbClr val="172137"/>
                </a:solidFill>
              </a:rPr>
              <a:t> 14 </a:t>
            </a:r>
            <a:r>
              <a:rPr sz="1150" b="0" dirty="0" err="1">
                <a:solidFill>
                  <a:srgbClr val="172137"/>
                </a:solidFill>
              </a:rPr>
              <a:t>января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доработай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обработчики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ошибок</a:t>
            </a:r>
            <a:r>
              <a:rPr sz="1150" b="0" dirty="0">
                <a:solidFill>
                  <a:srgbClr val="172137"/>
                </a:solidFill>
              </a:rPr>
              <a:t> API </a:t>
            </a:r>
            <a:r>
              <a:rPr sz="1150" b="0" dirty="0" err="1">
                <a:solidFill>
                  <a:srgbClr val="172137"/>
                </a:solidFill>
              </a:rPr>
              <a:t>нового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провайдера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платежей</a:t>
            </a:r>
            <a:r>
              <a:rPr sz="1150" b="0" dirty="0">
                <a:solidFill>
                  <a:srgbClr val="172137"/>
                </a:solidFill>
              </a:rPr>
              <a:t> и </a:t>
            </a:r>
            <a:r>
              <a:rPr sz="1150" b="0" dirty="0" err="1">
                <a:solidFill>
                  <a:srgbClr val="172137"/>
                </a:solidFill>
              </a:rPr>
              <a:t>предупреди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поддержку</a:t>
            </a:r>
            <a:r>
              <a:rPr sz="1150" b="0" dirty="0">
                <a:solidFill>
                  <a:srgbClr val="172137"/>
                </a:solidFill>
              </a:rPr>
              <a:t> о </a:t>
            </a:r>
            <a:r>
              <a:rPr sz="1150" b="0" dirty="0" err="1">
                <a:solidFill>
                  <a:srgbClr val="172137"/>
                </a:solidFill>
              </a:rPr>
              <a:t>переносе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релиза</a:t>
            </a:r>
            <a:r>
              <a:rPr sz="1150" b="0" dirty="0">
                <a:solidFill>
                  <a:srgbClr val="172137"/>
                </a:solidFill>
              </a:rPr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79290" y="5386473"/>
            <a:ext cx="3080000" cy="39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dirty="0" err="1">
                <a:solidFill>
                  <a:srgbClr val="172137"/>
                </a:solidFill>
              </a:rPr>
              <a:t>Качество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близко</a:t>
            </a:r>
            <a:r>
              <a:rPr sz="1150" b="0" dirty="0">
                <a:solidFill>
                  <a:srgbClr val="172137"/>
                </a:solidFill>
              </a:rPr>
              <a:t> к medium, </a:t>
            </a:r>
            <a:r>
              <a:rPr sz="1150" b="0" dirty="0" err="1">
                <a:solidFill>
                  <a:srgbClr val="172137"/>
                </a:solidFill>
              </a:rPr>
              <a:t>но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нагрузка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на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компьютер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заметно</a:t>
            </a:r>
            <a:r>
              <a:rPr sz="1150" b="0" dirty="0">
                <a:solidFill>
                  <a:srgbClr val="172137"/>
                </a:solidFill>
              </a:rPr>
              <a:t> </a:t>
            </a:r>
            <a:r>
              <a:rPr sz="1150" b="0" dirty="0" err="1">
                <a:solidFill>
                  <a:srgbClr val="172137"/>
                </a:solidFill>
              </a:rPr>
              <a:t>выше</a:t>
            </a:r>
            <a:r>
              <a:rPr sz="1150" b="0" dirty="0">
                <a:solidFill>
                  <a:srgbClr val="172137"/>
                </a:solidFill>
              </a:rPr>
              <a:t>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9290" y="5960073"/>
            <a:ext cx="10960438" cy="663867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C8D2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19290" y="6226207"/>
            <a:ext cx="180000" cy="180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99290" y="6088741"/>
            <a:ext cx="9651777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 err="1">
                <a:solidFill>
                  <a:srgbClr val="172137"/>
                </a:solidFill>
              </a:rPr>
              <a:t>Для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проекта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важна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не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просто</a:t>
            </a:r>
            <a:r>
              <a:rPr sz="1400" b="1" dirty="0">
                <a:solidFill>
                  <a:srgbClr val="172137"/>
                </a:solidFill>
              </a:rPr>
              <a:t> «</a:t>
            </a:r>
            <a:r>
              <a:rPr sz="1400" b="1" dirty="0" err="1">
                <a:solidFill>
                  <a:srgbClr val="172137"/>
                </a:solidFill>
              </a:rPr>
              <a:t>красота</a:t>
            </a:r>
            <a:r>
              <a:rPr sz="1400" b="1" dirty="0">
                <a:solidFill>
                  <a:srgbClr val="172137"/>
                </a:solidFill>
              </a:rPr>
              <a:t>» </a:t>
            </a:r>
            <a:r>
              <a:rPr sz="1400" b="1" dirty="0" err="1">
                <a:solidFill>
                  <a:srgbClr val="172137"/>
                </a:solidFill>
              </a:rPr>
              <a:t>транскрипта</a:t>
            </a:r>
            <a:r>
              <a:rPr sz="1400" b="1" dirty="0">
                <a:solidFill>
                  <a:srgbClr val="172137"/>
                </a:solidFill>
              </a:rPr>
              <a:t>: </a:t>
            </a:r>
            <a:r>
              <a:rPr sz="1400" b="1" dirty="0" err="1">
                <a:solidFill>
                  <a:srgbClr val="172137"/>
                </a:solidFill>
              </a:rPr>
              <a:t>ошибки</a:t>
            </a:r>
            <a:r>
              <a:rPr sz="1400" b="1" dirty="0">
                <a:solidFill>
                  <a:srgbClr val="172137"/>
                </a:solidFill>
              </a:rPr>
              <a:t> ASR </a:t>
            </a:r>
            <a:r>
              <a:rPr sz="1400" b="1" dirty="0" err="1">
                <a:solidFill>
                  <a:srgbClr val="172137"/>
                </a:solidFill>
              </a:rPr>
              <a:t>искажают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сроки</a:t>
            </a:r>
            <a:r>
              <a:rPr sz="1400" b="1" dirty="0">
                <a:solidFill>
                  <a:srgbClr val="172137"/>
                </a:solidFill>
              </a:rPr>
              <a:t>, </a:t>
            </a:r>
            <a:r>
              <a:rPr sz="1400" b="1" dirty="0" err="1">
                <a:solidFill>
                  <a:srgbClr val="172137"/>
                </a:solidFill>
              </a:rPr>
              <a:t>технические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термины</a:t>
            </a:r>
            <a:r>
              <a:rPr sz="1400" b="1" dirty="0">
                <a:solidFill>
                  <a:srgbClr val="172137"/>
                </a:solidFill>
              </a:rPr>
              <a:t> и </a:t>
            </a:r>
            <a:r>
              <a:rPr sz="1400" b="1" dirty="0" err="1">
                <a:solidFill>
                  <a:srgbClr val="172137"/>
                </a:solidFill>
              </a:rPr>
              <a:t>формулировку</a:t>
            </a:r>
            <a:r>
              <a:rPr sz="1400" b="1" dirty="0">
                <a:solidFill>
                  <a:srgbClr val="172137"/>
                </a:solidFill>
              </a:rPr>
              <a:t> </a:t>
            </a:r>
            <a:r>
              <a:rPr sz="1400" b="1" dirty="0" err="1">
                <a:solidFill>
                  <a:srgbClr val="172137"/>
                </a:solidFill>
              </a:rPr>
              <a:t>задач</a:t>
            </a:r>
            <a:r>
              <a:rPr sz="1400" b="1" dirty="0">
                <a:solidFill>
                  <a:srgbClr val="172137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112703" y="21945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000" b="0" dirty="0">
                <a:solidFill>
                  <a:srgbClr val="172137"/>
                </a:solidFill>
                <a:latin typeface="Arial"/>
              </a:rPr>
              <a:t>0</a:t>
            </a:r>
            <a:r>
              <a:rPr lang="en-US" sz="1000" b="0" dirty="0">
                <a:solidFill>
                  <a:srgbClr val="172137"/>
                </a:solidFill>
                <a:latin typeface="Arial"/>
              </a:rPr>
              <a:t>7</a:t>
            </a:r>
            <a:r>
              <a:rPr sz="1000" b="0" dirty="0">
                <a:solidFill>
                  <a:srgbClr val="172137"/>
                </a:solidFill>
                <a:latin typeface="Arial"/>
              </a:rPr>
              <a:t> / 18</a:t>
            </a:r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88696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en-US" sz="2800" b="1" dirty="0">
                <a:solidFill>
                  <a:srgbClr val="172137"/>
                </a:solidFill>
              </a:rPr>
              <a:t>Используемые технологии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524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13232" y="1737360"/>
            <a:ext cx="2423160" cy="3474720"/>
          </a:xfrm>
          <a:prstGeom prst="roundRect">
            <a:avLst>
              <a:gd name="adj" fmla="val 3019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572768" y="1993392"/>
            <a:ext cx="713232" cy="713232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96112" y="2889504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2000">
                <a:solidFill>
                  <a:srgbClr val="172137"/>
                </a:solidFill>
              </a:defRPr>
            </a:pPr>
            <a:r>
              <a:rPr lang="en-US" sz="1700" b="1" dirty="0" err="1">
                <a:solidFill>
                  <a:srgbClr val="172137"/>
                </a:solidFill>
              </a:rPr>
              <a:t>Распознавание</a:t>
            </a:r>
            <a:r>
              <a:rPr lang="ru-RU" sz="1700" b="1" dirty="0">
                <a:solidFill>
                  <a:srgbClr val="172137"/>
                </a:solidFill>
              </a:rPr>
              <a:t> речи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310128"/>
            <a:ext cx="201168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6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Whisper</a:t>
            </a:r>
            <a:endParaRPr lang="en-US" sz="1400" dirty="0"/>
          </a:p>
          <a:p>
            <a:pPr marL="0" indent="0" algn="ctr">
              <a:buNone/>
              <a:defRPr sz="16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модель medium</a:t>
            </a:r>
            <a:endParaRPr lang="en-US" sz="1400" dirty="0"/>
          </a:p>
          <a:p>
            <a:pPr marL="0" indent="0" algn="ctr">
              <a:buNone/>
              <a:defRPr sz="16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русскоязычная транскрибация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47872" y="1737360"/>
            <a:ext cx="2423160" cy="3474720"/>
          </a:xfrm>
          <a:prstGeom prst="roundRect">
            <a:avLst>
              <a:gd name="adj" fmla="val 3019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407408" y="1993392"/>
            <a:ext cx="713232" cy="71323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730752" y="2889504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2000">
                <a:solidFill>
                  <a:srgbClr val="172137"/>
                </a:solidFill>
              </a:defRPr>
            </a:pPr>
            <a:r>
              <a:rPr lang="en-US" sz="1700" b="1" dirty="0">
                <a:solidFill>
                  <a:srgbClr val="172137"/>
                </a:solidFill>
              </a:rPr>
              <a:t>Спикеры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49040" y="3310128"/>
            <a:ext cx="201168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6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pyannote.audio</a:t>
            </a:r>
            <a:endParaRPr lang="en-US" sz="1400" dirty="0"/>
          </a:p>
          <a:p>
            <a:pPr marL="0" indent="0" algn="ctr">
              <a:buNone/>
              <a:defRPr sz="16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speaker-diarization-3.1</a:t>
            </a:r>
            <a:endParaRPr lang="en-US" sz="1400" dirty="0"/>
          </a:p>
          <a:p>
            <a:pPr marL="0" indent="0" algn="ctr">
              <a:buNone/>
              <a:defRPr sz="16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разделение реплик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82512" y="1737360"/>
            <a:ext cx="2423160" cy="3474720"/>
          </a:xfrm>
          <a:prstGeom prst="roundRect">
            <a:avLst>
              <a:gd name="adj" fmla="val 3019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242048" y="1993392"/>
            <a:ext cx="713232" cy="7132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615303" y="2889504"/>
            <a:ext cx="2057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2000"/>
            </a:pPr>
            <a:r>
              <a:rPr sz="1700" b="1" dirty="0" err="1"/>
              <a:t>Хранение</a:t>
            </a:r>
            <a:r>
              <a:rPr sz="1700" b="1" dirty="0"/>
              <a:t> </a:t>
            </a:r>
            <a:r>
              <a:rPr sz="1700" b="1" dirty="0" err="1"/>
              <a:t>данных</a:t>
            </a:r>
            <a:endParaRPr sz="1700" b="1" dirty="0"/>
          </a:p>
        </p:txBody>
      </p:sp>
      <p:sp>
        <p:nvSpPr>
          <p:cNvPr id="18" name="Text 16"/>
          <p:cNvSpPr/>
          <p:nvPr/>
        </p:nvSpPr>
        <p:spPr>
          <a:xfrm>
            <a:off x="6583680" y="3310128"/>
            <a:ext cx="201168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1600"/>
            </a:pPr>
            <a:r>
              <a:t>PostgreSQL</a:t>
            </a:r>
          </a:p>
          <a:p>
            <a:pPr>
              <a:defRPr sz="1600"/>
            </a:pPr>
            <a:r>
              <a:t>таблицы + индексы + views</a:t>
            </a:r>
          </a:p>
          <a:p>
            <a:pPr>
              <a:defRPr sz="1600"/>
            </a:pPr>
            <a:r>
              <a:t>поиск и статистика</a:t>
            </a:r>
          </a:p>
        </p:txBody>
      </p:sp>
      <p:sp>
        <p:nvSpPr>
          <p:cNvPr id="19" name="Shape 17"/>
          <p:cNvSpPr/>
          <p:nvPr/>
        </p:nvSpPr>
        <p:spPr>
          <a:xfrm>
            <a:off x="9217152" y="1737360"/>
            <a:ext cx="2423160" cy="3474720"/>
          </a:xfrm>
          <a:prstGeom prst="roundRect">
            <a:avLst>
              <a:gd name="adj" fmla="val 3019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0076688" y="1993392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760153" y="2889504"/>
            <a:ext cx="2139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2000"/>
            </a:pPr>
            <a:r>
              <a:rPr sz="1700" b="1" dirty="0" err="1"/>
              <a:t>Обработка</a:t>
            </a:r>
            <a:r>
              <a:rPr sz="1700" b="1" dirty="0"/>
              <a:t> и </a:t>
            </a:r>
            <a:r>
              <a:rPr sz="1700" b="1" dirty="0" err="1"/>
              <a:t>извлечение</a:t>
            </a:r>
            <a:endParaRPr sz="1700" b="1" dirty="0"/>
          </a:p>
        </p:txBody>
      </p:sp>
      <p:sp>
        <p:nvSpPr>
          <p:cNvPr id="22" name="Text 20"/>
          <p:cNvSpPr/>
          <p:nvPr/>
        </p:nvSpPr>
        <p:spPr>
          <a:xfrm>
            <a:off x="9418320" y="3310128"/>
            <a:ext cx="2011680" cy="1417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6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Ollama / Mistral</a:t>
            </a:r>
            <a:endParaRPr lang="en-US" sz="1400" dirty="0"/>
          </a:p>
          <a:p>
            <a:pPr marL="0" indent="0" algn="ctr">
              <a:buNone/>
              <a:defRPr sz="16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JSON-протоколы</a:t>
            </a:r>
            <a:endParaRPr lang="en-US" sz="1400" dirty="0"/>
          </a:p>
          <a:p>
            <a:pPr marL="0" indent="0" algn="ctr">
              <a:buNone/>
              <a:defRPr sz="16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Markdown / JSON / dashboard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112703" y="21945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000" b="0">
                <a:solidFill>
                  <a:srgbClr val="172137"/>
                </a:solidFill>
                <a:latin typeface="Arial"/>
              </a:rPr>
              <a:t>08 / 18</a:t>
            </a:r>
          </a:p>
        </p:txBody>
      </p:sp>
      <p:sp>
        <p:nvSpPr>
          <p:cNvPr id="5" name="Text 3"/>
          <p:cNvSpPr/>
          <p:nvPr/>
        </p:nvSpPr>
        <p:spPr>
          <a:xfrm>
            <a:off x="566928" y="483022"/>
            <a:ext cx="88696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600">
                <a:solidFill>
                  <a:srgbClr val="172137"/>
                </a:solidFill>
              </a:defRPr>
            </a:pPr>
            <a:r>
              <a:rPr lang="en-US" sz="2800" b="1" dirty="0">
                <a:solidFill>
                  <a:srgbClr val="172137"/>
                </a:solidFill>
              </a:rPr>
              <a:t>Структура проекта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39859"/>
            <a:ext cx="10972800" cy="0"/>
          </a:xfrm>
          <a:prstGeom prst="line">
            <a:avLst/>
          </a:prstGeom>
          <a:noFill/>
          <a:ln w="1524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0CA725B9-B314-49CD-BF62-55A44231349E}"/>
              </a:ext>
            </a:extLst>
          </p:cNvPr>
          <p:cNvSpPr/>
          <p:nvPr/>
        </p:nvSpPr>
        <p:spPr>
          <a:xfrm>
            <a:off x="594360" y="1325879"/>
            <a:ext cx="4846320" cy="5184987"/>
          </a:xfrm>
          <a:prstGeom prst="roundRect">
            <a:avLst>
              <a:gd name="adj" fmla="val 1509"/>
            </a:avLst>
          </a:prstGeom>
          <a:solidFill>
            <a:srgbClr val="EEF4FA">
              <a:alpha val="95000"/>
            </a:srgbClr>
          </a:solidFill>
          <a:ln w="12700">
            <a:solidFill>
              <a:srgbClr val="C8D2DF"/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62E2B7E5-A543-4FC8-AFB3-6E58867A6F78}"/>
              </a:ext>
            </a:extLst>
          </p:cNvPr>
          <p:cNvSpPr/>
          <p:nvPr/>
        </p:nvSpPr>
        <p:spPr>
          <a:xfrm>
            <a:off x="850392" y="1472184"/>
            <a:ext cx="433425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600">
                <a:solidFill>
                  <a:srgbClr val="172137"/>
                </a:solidFill>
              </a:defRPr>
            </a:pPr>
            <a:r>
              <a:rPr lang="en-US" sz="2000" b="1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Структура каталогов</a:t>
            </a:r>
            <a:endParaRPr lang="en-US" sz="2000" dirty="0">
              <a:latin typeface="+mj-lt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924ECFFD-3818-43F1-B3B3-B8A55F9A4E87}"/>
              </a:ext>
            </a:extLst>
          </p:cNvPr>
          <p:cNvSpPr/>
          <p:nvPr/>
        </p:nvSpPr>
        <p:spPr>
          <a:xfrm>
            <a:off x="868679" y="1828799"/>
            <a:ext cx="4334255" cy="44006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Diplom/</a:t>
            </a:r>
            <a:endParaRPr lang="en-US" sz="14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input/         </a:t>
            </a:r>
            <a:r>
              <a:rPr lang="ru-RU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исходные</a:t>
            </a: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видео и аудио</a:t>
            </a:r>
            <a:endParaRPr lang="en-US" sz="14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output/        </a:t>
            </a:r>
            <a:r>
              <a:rPr lang="ru-RU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md-</a:t>
            </a:r>
            <a:r>
              <a:rPr lang="en-US" sz="1400" dirty="0" err="1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протоколы</a:t>
            </a:r>
            <a:endParaRPr lang="en-US" sz="14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reports/       </a:t>
            </a:r>
            <a:r>
              <a:rPr lang="ru-RU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dashboard, JSON </a:t>
            </a:r>
            <a:r>
              <a:rPr lang="en-US" sz="1400" dirty="0" err="1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отчёты</a:t>
            </a:r>
            <a:endParaRPr lang="en-US" sz="14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           </a:t>
            </a:r>
            <a:r>
              <a:rPr lang="ru-RU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400" dirty="0" err="1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конфигурация</a:t>
            </a:r>
            <a:endParaRPr lang="en-US" sz="14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audio.py       </a:t>
            </a:r>
            <a:r>
              <a:rPr lang="ru-RU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400" dirty="0" err="1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основной</a:t>
            </a: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аудиопайплайн</a:t>
            </a:r>
            <a:endParaRPr lang="en-US" sz="14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extract_protocol_v3.py</a:t>
            </a:r>
            <a:r>
              <a:rPr lang="ru-RU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извлечение решений</a:t>
            </a:r>
            <a:endParaRPr lang="en-US" sz="14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suggest_assignees_v2.py</a:t>
            </a:r>
            <a:r>
              <a:rPr lang="ru-RU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предложения исполнителей</a:t>
            </a:r>
            <a:endParaRPr lang="en-US" sz="14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export_protocol.py</a:t>
            </a:r>
            <a:r>
              <a:rPr lang="ru-RU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генерация отчётов</a:t>
            </a:r>
            <a:endParaRPr lang="en-US" sz="14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export_dashboard.py</a:t>
            </a:r>
            <a:r>
              <a:rPr lang="ru-RU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KPI </a:t>
            </a:r>
            <a:r>
              <a:rPr lang="ru-RU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 </a:t>
            </a:r>
            <a:r>
              <a:rPr lang="ru-RU" sz="1400" dirty="0" err="1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дашборд</a:t>
            </a:r>
            <a:endParaRPr lang="en-US" sz="14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batch_protocol_and_export.py</a:t>
            </a:r>
            <a:r>
              <a:rPr lang="ru-RU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– пакетная обработка встреч</a:t>
            </a:r>
            <a:endParaRPr lang="en-US" sz="14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db.py / init_db.py</a:t>
            </a:r>
            <a:r>
              <a:rPr lang="ru-RU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инициализация БД</a:t>
            </a:r>
            <a:endParaRPr lang="en-US" sz="14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models.py           </a:t>
            </a:r>
            <a:r>
              <a:rPr lang="ru-RU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400" dirty="0" err="1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схема</a:t>
            </a: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данных</a:t>
            </a:r>
            <a:endParaRPr lang="en-US" sz="14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migration_*.</a:t>
            </a:r>
            <a:r>
              <a:rPr lang="en-US" sz="1400" dirty="0" err="1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ru-RU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400" dirty="0" err="1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миграции</a:t>
            </a: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БД</a:t>
            </a:r>
            <a:endParaRPr lang="en-US" sz="14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</a:t>
            </a:r>
            <a:r>
              <a:rPr lang="en-US" sz="1400" dirty="0" err="1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deploy.sql</a:t>
            </a: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ru-RU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</a:t>
            </a:r>
            <a:r>
              <a:rPr lang="en-US" sz="1400" dirty="0" err="1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сборка</a:t>
            </a:r>
            <a:r>
              <a:rPr lang="en-US" sz="14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схемы БД</a:t>
            </a:r>
            <a:endParaRPr lang="en-US" sz="1400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544703F8-6840-48A0-BB08-83103594B22D}"/>
              </a:ext>
            </a:extLst>
          </p:cNvPr>
          <p:cNvSpPr/>
          <p:nvPr/>
        </p:nvSpPr>
        <p:spPr>
          <a:xfrm>
            <a:off x="5623559" y="1325879"/>
            <a:ext cx="6217919" cy="3072930"/>
          </a:xfrm>
          <a:prstGeom prst="roundRect">
            <a:avLst>
              <a:gd name="adj" fmla="val 3077"/>
            </a:avLst>
          </a:prstGeom>
          <a:solidFill>
            <a:srgbClr val="EEF4FA">
              <a:alpha val="95000"/>
            </a:srgbClr>
          </a:solidFill>
          <a:ln w="12700">
            <a:solidFill>
              <a:srgbClr val="C8D2DF"/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9F96623B-E3DC-4620-9ECF-1071599DDCC8}"/>
              </a:ext>
            </a:extLst>
          </p:cNvPr>
          <p:cNvSpPr/>
          <p:nvPr/>
        </p:nvSpPr>
        <p:spPr>
          <a:xfrm>
            <a:off x="5879592" y="1472184"/>
            <a:ext cx="54589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600">
                <a:solidFill>
                  <a:srgbClr val="172137"/>
                </a:solidFill>
              </a:defRPr>
            </a:pPr>
            <a:r>
              <a:rPr lang="ru-RU" sz="2000" b="1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Основные программные модули системы</a:t>
            </a:r>
            <a:endParaRPr lang="en-US" sz="2000" dirty="0">
              <a:latin typeface="+mj-lt"/>
            </a:endParaRPr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365C7317-8201-4F2C-850C-A4C756FB2896}"/>
              </a:ext>
            </a:extLst>
          </p:cNvPr>
          <p:cNvSpPr/>
          <p:nvPr/>
        </p:nvSpPr>
        <p:spPr>
          <a:xfrm>
            <a:off x="5897880" y="1828799"/>
            <a:ext cx="2912740" cy="709127"/>
          </a:xfrm>
          <a:prstGeom prst="roundRect">
            <a:avLst>
              <a:gd name="adj" fmla="val 8065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16">
            <a:extLst>
              <a:ext uri="{FF2B5EF4-FFF2-40B4-BE49-F238E27FC236}">
                <a16:creationId xmlns:a16="http://schemas.microsoft.com/office/drawing/2014/main" id="{F8B1038A-255A-445E-9030-6C247F839823}"/>
              </a:ext>
            </a:extLst>
          </p:cNvPr>
          <p:cNvSpPr/>
          <p:nvPr/>
        </p:nvSpPr>
        <p:spPr>
          <a:xfrm>
            <a:off x="9039224" y="1828800"/>
            <a:ext cx="2558416" cy="566928"/>
          </a:xfrm>
          <a:prstGeom prst="roundRect">
            <a:avLst>
              <a:gd name="adj" fmla="val 8065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DD83E18D-4288-476B-8D11-EA7BCB10A305}"/>
              </a:ext>
            </a:extLst>
          </p:cNvPr>
          <p:cNvSpPr/>
          <p:nvPr/>
        </p:nvSpPr>
        <p:spPr>
          <a:xfrm>
            <a:off x="5897879" y="2647655"/>
            <a:ext cx="2912741" cy="662472"/>
          </a:xfrm>
          <a:prstGeom prst="roundRect">
            <a:avLst>
              <a:gd name="adj" fmla="val 8065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5D429ABF-ACC0-47AC-8317-82422D775651}"/>
              </a:ext>
            </a:extLst>
          </p:cNvPr>
          <p:cNvSpPr/>
          <p:nvPr/>
        </p:nvSpPr>
        <p:spPr>
          <a:xfrm>
            <a:off x="9039223" y="2647655"/>
            <a:ext cx="2558417" cy="566928"/>
          </a:xfrm>
          <a:prstGeom prst="roundRect">
            <a:avLst>
              <a:gd name="adj" fmla="val 8065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D723EDAD-D249-4FE3-A199-542BCB41563B}"/>
              </a:ext>
            </a:extLst>
          </p:cNvPr>
          <p:cNvSpPr/>
          <p:nvPr/>
        </p:nvSpPr>
        <p:spPr>
          <a:xfrm>
            <a:off x="5897879" y="3401567"/>
            <a:ext cx="2912741" cy="950977"/>
          </a:xfrm>
          <a:prstGeom prst="roundRect">
            <a:avLst>
              <a:gd name="adj" fmla="val 8065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5DB52283-E40A-45EB-946E-314A12E2C9D5}"/>
              </a:ext>
            </a:extLst>
          </p:cNvPr>
          <p:cNvSpPr/>
          <p:nvPr/>
        </p:nvSpPr>
        <p:spPr>
          <a:xfrm>
            <a:off x="9039223" y="3582704"/>
            <a:ext cx="2558417" cy="566928"/>
          </a:xfrm>
          <a:prstGeom prst="roundRect">
            <a:avLst>
              <a:gd name="adj" fmla="val 8065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1F0BF158-D4B0-46BF-8A2F-953F8090E907}"/>
              </a:ext>
            </a:extLst>
          </p:cNvPr>
          <p:cNvSpPr/>
          <p:nvPr/>
        </p:nvSpPr>
        <p:spPr>
          <a:xfrm>
            <a:off x="5623560" y="4508537"/>
            <a:ext cx="6217918" cy="2002329"/>
          </a:xfrm>
          <a:prstGeom prst="roundRect">
            <a:avLst>
              <a:gd name="adj" fmla="val 3137"/>
            </a:avLst>
          </a:prstGeom>
          <a:solidFill>
            <a:srgbClr val="EEF4FA">
              <a:alpha val="95000"/>
            </a:srgbClr>
          </a:solidFill>
          <a:ln w="12700">
            <a:solidFill>
              <a:srgbClr val="C8D2DF"/>
            </a:solidFill>
            <a:prstDash val="solid"/>
          </a:ln>
          <a:effectLst>
            <a:outerShdw blurRad="19050" dist="127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46991203-1B1B-4956-B835-76D5BA952215}"/>
              </a:ext>
            </a:extLst>
          </p:cNvPr>
          <p:cNvSpPr/>
          <p:nvPr/>
        </p:nvSpPr>
        <p:spPr>
          <a:xfrm>
            <a:off x="5879592" y="4578981"/>
            <a:ext cx="54589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600">
                <a:solidFill>
                  <a:srgbClr val="172137"/>
                </a:solidFill>
              </a:defRPr>
            </a:pPr>
            <a:r>
              <a:rPr lang="en-US" sz="2000" b="1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Назначение компонентов</a:t>
            </a:r>
            <a:endParaRPr lang="en-US" sz="2000" dirty="0">
              <a:latin typeface="+mj-lt"/>
            </a:endParaRP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CB1CEEF8-2DC0-4EDC-A245-8DFFB4FDC134}"/>
              </a:ext>
            </a:extLst>
          </p:cNvPr>
          <p:cNvSpPr/>
          <p:nvPr/>
        </p:nvSpPr>
        <p:spPr>
          <a:xfrm>
            <a:off x="5897880" y="4889876"/>
            <a:ext cx="5641848" cy="450763"/>
          </a:xfrm>
          <a:prstGeom prst="roundRect">
            <a:avLst>
              <a:gd name="adj" fmla="val 8696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72326813-E28D-4869-99B5-C04D5079095C}"/>
              </a:ext>
            </a:extLst>
          </p:cNvPr>
          <p:cNvSpPr/>
          <p:nvPr/>
        </p:nvSpPr>
        <p:spPr>
          <a:xfrm>
            <a:off x="5861303" y="4857319"/>
            <a:ext cx="5698741" cy="0"/>
          </a:xfrm>
          <a:prstGeom prst="line">
            <a:avLst/>
          </a:prstGeom>
          <a:noFill/>
          <a:ln w="12700">
            <a:solidFill>
              <a:srgbClr val="2ED1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A9F3BF10-22CC-4412-8634-2696E11096CC}"/>
              </a:ext>
            </a:extLst>
          </p:cNvPr>
          <p:cNvSpPr/>
          <p:nvPr/>
        </p:nvSpPr>
        <p:spPr>
          <a:xfrm>
            <a:off x="6007607" y="4963029"/>
            <a:ext cx="765809" cy="274320"/>
          </a:xfrm>
          <a:prstGeom prst="roundRect">
            <a:avLst>
              <a:gd name="adj" fmla="val 13333"/>
            </a:avLst>
          </a:prstGeom>
          <a:solidFill>
            <a:srgbClr val="1FC8C2"/>
          </a:solidFill>
          <a:ln w="12700">
            <a:solidFill>
              <a:srgbClr val="1FC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38D62016-A30B-46DE-B91A-E0422465A881}"/>
              </a:ext>
            </a:extLst>
          </p:cNvPr>
          <p:cNvSpPr/>
          <p:nvPr/>
        </p:nvSpPr>
        <p:spPr>
          <a:xfrm>
            <a:off x="6035039" y="5008749"/>
            <a:ext cx="713232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600">
                <a:solidFill>
                  <a:srgbClr val="172137"/>
                </a:solidFill>
              </a:defRPr>
            </a:pPr>
            <a:r>
              <a:rPr lang="en-US" sz="1400" b="1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Данные</a:t>
            </a:r>
            <a:endParaRPr lang="en-US" sz="1400" dirty="0">
              <a:latin typeface="+mj-lt"/>
            </a:endParaRP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A72E275B-5CF3-4AE1-80A6-A78A003FEB94}"/>
              </a:ext>
            </a:extLst>
          </p:cNvPr>
          <p:cNvSpPr/>
          <p:nvPr/>
        </p:nvSpPr>
        <p:spPr>
          <a:xfrm>
            <a:off x="6876287" y="4984492"/>
            <a:ext cx="440917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input содержит исходные записи, output и reports — результаты обработки и аналитики.</a:t>
            </a:r>
            <a:endParaRPr lang="en-US" sz="1400" dirty="0">
              <a:latin typeface="+mj-lt"/>
            </a:endParaRPr>
          </a:p>
        </p:txBody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F83F0E43-4C75-4B9C-8535-BC3C2C0C13A2}"/>
              </a:ext>
            </a:extLst>
          </p:cNvPr>
          <p:cNvSpPr/>
          <p:nvPr/>
        </p:nvSpPr>
        <p:spPr>
          <a:xfrm>
            <a:off x="5897880" y="5420228"/>
            <a:ext cx="5641848" cy="461771"/>
          </a:xfrm>
          <a:prstGeom prst="roundRect">
            <a:avLst>
              <a:gd name="adj" fmla="val 8696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1E076B71-D8C2-419C-A921-BD4770EF36A7}"/>
              </a:ext>
            </a:extLst>
          </p:cNvPr>
          <p:cNvSpPr/>
          <p:nvPr/>
        </p:nvSpPr>
        <p:spPr>
          <a:xfrm>
            <a:off x="6007608" y="5493381"/>
            <a:ext cx="765808" cy="274320"/>
          </a:xfrm>
          <a:prstGeom prst="roundRect">
            <a:avLst>
              <a:gd name="adj" fmla="val 13333"/>
            </a:avLst>
          </a:prstGeom>
          <a:solidFill>
            <a:srgbClr val="1FC8C2"/>
          </a:solidFill>
          <a:ln w="12700">
            <a:solidFill>
              <a:srgbClr val="1FC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FD53F390-19AA-4751-B0CC-C85692F60474}"/>
              </a:ext>
            </a:extLst>
          </p:cNvPr>
          <p:cNvSpPr/>
          <p:nvPr/>
        </p:nvSpPr>
        <p:spPr>
          <a:xfrm>
            <a:off x="6033895" y="5561961"/>
            <a:ext cx="713232" cy="137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600">
                <a:solidFill>
                  <a:srgbClr val="172137"/>
                </a:solidFill>
              </a:defRPr>
            </a:pPr>
            <a:r>
              <a:rPr lang="en-US" sz="1400" b="1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Логика</a:t>
            </a:r>
            <a:endParaRPr lang="en-US" sz="1400" dirty="0">
              <a:latin typeface="+mj-lt"/>
            </a:endParaRPr>
          </a:p>
        </p:txBody>
      </p:sp>
      <p:sp>
        <p:nvSpPr>
          <p:cNvPr id="44" name="Text 38">
            <a:extLst>
              <a:ext uri="{FF2B5EF4-FFF2-40B4-BE49-F238E27FC236}">
                <a16:creationId xmlns:a16="http://schemas.microsoft.com/office/drawing/2014/main" id="{059AA449-7DB8-4983-B0B6-007A45AA25E2}"/>
              </a:ext>
            </a:extLst>
          </p:cNvPr>
          <p:cNvSpPr/>
          <p:nvPr/>
        </p:nvSpPr>
        <p:spPr>
          <a:xfrm>
            <a:off x="6876287" y="5514844"/>
            <a:ext cx="440917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ru-RU" sz="1400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основные скрипты обработки и пакетная обработка встреч (</a:t>
            </a:r>
            <a:r>
              <a:rPr lang="ru-RU" sz="1400" dirty="0" err="1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batch</a:t>
            </a:r>
            <a:r>
              <a:rPr lang="ru-RU" sz="1400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)</a:t>
            </a:r>
            <a:endParaRPr lang="en-US" sz="1400" dirty="0">
              <a:latin typeface="+mj-lt"/>
            </a:endParaRPr>
          </a:p>
        </p:txBody>
      </p:sp>
      <p:sp>
        <p:nvSpPr>
          <p:cNvPr id="45" name="Shape 39">
            <a:extLst>
              <a:ext uri="{FF2B5EF4-FFF2-40B4-BE49-F238E27FC236}">
                <a16:creationId xmlns:a16="http://schemas.microsoft.com/office/drawing/2014/main" id="{B8F110B5-9745-40C7-A4E9-FAF1C0B3F7C2}"/>
              </a:ext>
            </a:extLst>
          </p:cNvPr>
          <p:cNvSpPr/>
          <p:nvPr/>
        </p:nvSpPr>
        <p:spPr>
          <a:xfrm>
            <a:off x="5897880" y="5950581"/>
            <a:ext cx="5641848" cy="484086"/>
          </a:xfrm>
          <a:prstGeom prst="roundRect">
            <a:avLst>
              <a:gd name="adj" fmla="val 8696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0">
            <a:extLst>
              <a:ext uri="{FF2B5EF4-FFF2-40B4-BE49-F238E27FC236}">
                <a16:creationId xmlns:a16="http://schemas.microsoft.com/office/drawing/2014/main" id="{4BD98329-7D47-465A-B416-04972A51748F}"/>
              </a:ext>
            </a:extLst>
          </p:cNvPr>
          <p:cNvSpPr/>
          <p:nvPr/>
        </p:nvSpPr>
        <p:spPr>
          <a:xfrm>
            <a:off x="5963419" y="6023733"/>
            <a:ext cx="868679" cy="274320"/>
          </a:xfrm>
          <a:prstGeom prst="roundRect">
            <a:avLst>
              <a:gd name="adj" fmla="val 13333"/>
            </a:avLst>
          </a:prstGeom>
          <a:solidFill>
            <a:srgbClr val="1FC8C2"/>
          </a:solidFill>
          <a:ln w="12700">
            <a:solidFill>
              <a:srgbClr val="1FC8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1">
            <a:extLst>
              <a:ext uri="{FF2B5EF4-FFF2-40B4-BE49-F238E27FC236}">
                <a16:creationId xmlns:a16="http://schemas.microsoft.com/office/drawing/2014/main" id="{D791ABB1-C923-4538-8BE8-8F0DBE9807DD}"/>
              </a:ext>
            </a:extLst>
          </p:cNvPr>
          <p:cNvSpPr/>
          <p:nvPr/>
        </p:nvSpPr>
        <p:spPr>
          <a:xfrm>
            <a:off x="5954464" y="6092313"/>
            <a:ext cx="886587" cy="1371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600">
                <a:solidFill>
                  <a:srgbClr val="172137"/>
                </a:solidFill>
              </a:defRPr>
            </a:pPr>
            <a:r>
              <a:rPr lang="en-US" sz="1300" b="1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Хранение</a:t>
            </a:r>
            <a:endParaRPr lang="en-US" sz="1300" dirty="0">
              <a:latin typeface="+mj-lt"/>
            </a:endParaRPr>
          </a:p>
        </p:txBody>
      </p:sp>
      <p:sp>
        <p:nvSpPr>
          <p:cNvPr id="48" name="Text 42">
            <a:extLst>
              <a:ext uri="{FF2B5EF4-FFF2-40B4-BE49-F238E27FC236}">
                <a16:creationId xmlns:a16="http://schemas.microsoft.com/office/drawing/2014/main" id="{EE45CF86-183E-4B3E-9B0E-F6E69ECC15CE}"/>
              </a:ext>
            </a:extLst>
          </p:cNvPr>
          <p:cNvSpPr/>
          <p:nvPr/>
        </p:nvSpPr>
        <p:spPr>
          <a:xfrm>
            <a:off x="6876287" y="6045196"/>
            <a:ext cx="440917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Модель данных и миграции вынесены отдельно, что упрощает сопровождение и расширение системы.</a:t>
            </a:r>
            <a:endParaRPr lang="en-US" sz="1400" dirty="0">
              <a:latin typeface="+mj-lt"/>
            </a:endParaRPr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DA941EF0-0E8D-471E-B52D-DEA084CD488F}"/>
              </a:ext>
            </a:extLst>
          </p:cNvPr>
          <p:cNvSpPr/>
          <p:nvPr/>
        </p:nvSpPr>
        <p:spPr>
          <a:xfrm>
            <a:off x="6035039" y="1911096"/>
            <a:ext cx="2545839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  <a:defRPr sz="16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audio.py</a:t>
            </a:r>
            <a:endParaRPr lang="en-US" sz="1600" dirty="0">
              <a:latin typeface="+mj-lt"/>
            </a:endParaRPr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36FB8D0F-7A94-400C-BFE3-77D0917263B8}"/>
              </a:ext>
            </a:extLst>
          </p:cNvPr>
          <p:cNvSpPr/>
          <p:nvPr/>
        </p:nvSpPr>
        <p:spPr>
          <a:xfrm>
            <a:off x="5963419" y="2177582"/>
            <a:ext cx="3075804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  <a:defRPr sz="1800">
                <a:solidFill>
                  <a:srgbClr val="172137"/>
                </a:solidFill>
              </a:defRPr>
            </a:pPr>
            <a:r>
              <a:rPr lang="ru-RU" sz="1400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обработка аудио и </a:t>
            </a:r>
            <a:r>
              <a:rPr lang="ru-RU" sz="1400" dirty="0" err="1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транскрибация</a:t>
            </a:r>
            <a:endParaRPr lang="en-US" sz="1400" dirty="0">
              <a:latin typeface="+mj-lt"/>
            </a:endParaRPr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AC90B594-C68E-42CD-BF28-A4B443C57957}"/>
              </a:ext>
            </a:extLst>
          </p:cNvPr>
          <p:cNvSpPr/>
          <p:nvPr/>
        </p:nvSpPr>
        <p:spPr>
          <a:xfrm>
            <a:off x="9148440" y="1911096"/>
            <a:ext cx="224183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  <a:defRPr sz="16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extract_protocol_v3.py</a:t>
            </a:r>
            <a:endParaRPr lang="en-US" sz="1600" dirty="0">
              <a:latin typeface="+mj-lt"/>
            </a:endParaRPr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A7909CA1-3779-4545-95BF-4093879B9813}"/>
              </a:ext>
            </a:extLst>
          </p:cNvPr>
          <p:cNvSpPr/>
          <p:nvPr/>
        </p:nvSpPr>
        <p:spPr>
          <a:xfrm>
            <a:off x="9114660" y="2112264"/>
            <a:ext cx="2411605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извлечение решений и задач</a:t>
            </a:r>
            <a:endParaRPr lang="en-US" sz="1400" dirty="0">
              <a:latin typeface="+mj-lt"/>
            </a:endParaRPr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88671156-43EC-4149-BD8A-7425E224079D}"/>
              </a:ext>
            </a:extLst>
          </p:cNvPr>
          <p:cNvSpPr/>
          <p:nvPr/>
        </p:nvSpPr>
        <p:spPr>
          <a:xfrm>
            <a:off x="5988747" y="2692612"/>
            <a:ext cx="2638422" cy="2256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  <a:defRPr sz="16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suggest_assignees_v2.py</a:t>
            </a:r>
            <a:endParaRPr lang="en-US" sz="1600" dirty="0">
              <a:latin typeface="+mj-lt"/>
            </a:endParaRPr>
          </a:p>
        </p:txBody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E163E80B-7B63-42F1-B9B1-285F4BC6C8DD}"/>
              </a:ext>
            </a:extLst>
          </p:cNvPr>
          <p:cNvSpPr/>
          <p:nvPr/>
        </p:nvSpPr>
        <p:spPr>
          <a:xfrm>
            <a:off x="5975605" y="2995127"/>
            <a:ext cx="2912741" cy="2506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предположения по исполнителям</a:t>
            </a:r>
            <a:endParaRPr lang="en-US" sz="1400" dirty="0">
              <a:latin typeface="+mj-lt"/>
            </a:endParaRPr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BF961D74-2DE5-4BDF-A430-4C5CE69A39FF}"/>
              </a:ext>
            </a:extLst>
          </p:cNvPr>
          <p:cNvSpPr/>
          <p:nvPr/>
        </p:nvSpPr>
        <p:spPr>
          <a:xfrm>
            <a:off x="9148439" y="2729951"/>
            <a:ext cx="224183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  <a:defRPr sz="16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export_protocol.py</a:t>
            </a:r>
            <a:endParaRPr lang="en-US" sz="1600" dirty="0">
              <a:latin typeface="+mj-lt"/>
            </a:endParaRPr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21CC2A3F-5853-45D1-B567-11C266E16352}"/>
              </a:ext>
            </a:extLst>
          </p:cNvPr>
          <p:cNvSpPr/>
          <p:nvPr/>
        </p:nvSpPr>
        <p:spPr>
          <a:xfrm>
            <a:off x="9080874" y="2931119"/>
            <a:ext cx="2500503" cy="2327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генерация md / JSON отчётов</a:t>
            </a:r>
            <a:endParaRPr lang="en-US" sz="1400" dirty="0">
              <a:latin typeface="+mj-lt"/>
            </a:endParaRPr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CF335B55-E317-43D1-8109-86914970EA50}"/>
              </a:ext>
            </a:extLst>
          </p:cNvPr>
          <p:cNvSpPr/>
          <p:nvPr/>
        </p:nvSpPr>
        <p:spPr>
          <a:xfrm>
            <a:off x="6035040" y="3483864"/>
            <a:ext cx="254584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  <a:defRPr sz="16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export_dashboard.py</a:t>
            </a:r>
            <a:endParaRPr lang="en-US" sz="1600" dirty="0">
              <a:latin typeface="+mj-lt"/>
            </a:endParaRPr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EAF6BD23-587E-4EF5-B8A5-354DF0143CE8}"/>
              </a:ext>
            </a:extLst>
          </p:cNvPr>
          <p:cNvSpPr/>
          <p:nvPr/>
        </p:nvSpPr>
        <p:spPr>
          <a:xfrm>
            <a:off x="6035040" y="3904193"/>
            <a:ext cx="254584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  <a:defRPr sz="1800">
                <a:solidFill>
                  <a:srgbClr val="172137"/>
                </a:solidFill>
              </a:defRPr>
            </a:pPr>
            <a:r>
              <a:rPr lang="ru-RU" sz="1400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агрегация KPI (ключевых показателей) и формирование </a:t>
            </a:r>
            <a:r>
              <a:rPr lang="ru-RU" sz="1400" dirty="0" err="1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дашборда</a:t>
            </a:r>
            <a:endParaRPr lang="en-US" sz="1400" dirty="0">
              <a:latin typeface="+mj-lt"/>
            </a:endParaRPr>
          </a:p>
        </p:txBody>
      </p:sp>
      <p:sp>
        <p:nvSpPr>
          <p:cNvPr id="59" name="Text 29">
            <a:extLst>
              <a:ext uri="{FF2B5EF4-FFF2-40B4-BE49-F238E27FC236}">
                <a16:creationId xmlns:a16="http://schemas.microsoft.com/office/drawing/2014/main" id="{C03AF8D4-5543-4384-9A06-7D970122D723}"/>
              </a:ext>
            </a:extLst>
          </p:cNvPr>
          <p:cNvSpPr/>
          <p:nvPr/>
        </p:nvSpPr>
        <p:spPr>
          <a:xfrm>
            <a:off x="9148439" y="3665000"/>
            <a:ext cx="224183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  <a:defRPr sz="16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deploy.sql + models.py</a:t>
            </a:r>
            <a:endParaRPr lang="en-US" sz="1600" dirty="0">
              <a:latin typeface="+mj-lt"/>
            </a:endParaRPr>
          </a:p>
        </p:txBody>
      </p:sp>
      <p:sp>
        <p:nvSpPr>
          <p:cNvPr id="60" name="Text 30">
            <a:extLst>
              <a:ext uri="{FF2B5EF4-FFF2-40B4-BE49-F238E27FC236}">
                <a16:creationId xmlns:a16="http://schemas.microsoft.com/office/drawing/2014/main" id="{E65DCF93-B5B5-4BF2-A667-C66F1BB399D1}"/>
              </a:ext>
            </a:extLst>
          </p:cNvPr>
          <p:cNvSpPr/>
          <p:nvPr/>
        </p:nvSpPr>
        <p:spPr>
          <a:xfrm>
            <a:off x="9148439" y="3866168"/>
            <a:ext cx="224183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  <a:defRPr sz="18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схема и структура БД</a:t>
            </a:r>
            <a:endParaRPr lang="en-US" sz="1400" dirty="0">
              <a:latin typeface="+mj-lt"/>
            </a:endParaRPr>
          </a:p>
        </p:txBody>
      </p:sp>
      <p:sp>
        <p:nvSpPr>
          <p:cNvPr id="73" name="Text 2">
            <a:extLst>
              <a:ext uri="{FF2B5EF4-FFF2-40B4-BE49-F238E27FC236}">
                <a16:creationId xmlns:a16="http://schemas.microsoft.com/office/drawing/2014/main" id="{1DD85159-F7F8-42A7-AB99-0435D08244AE}"/>
              </a:ext>
            </a:extLst>
          </p:cNvPr>
          <p:cNvSpPr/>
          <p:nvPr/>
        </p:nvSpPr>
        <p:spPr>
          <a:xfrm>
            <a:off x="640079" y="924814"/>
            <a:ext cx="769112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600">
                <a:solidFill>
                  <a:srgbClr val="172137"/>
                </a:solidFill>
              </a:defRPr>
            </a:pPr>
            <a:r>
              <a:rPr lang="en-US" sz="2000" dirty="0" err="1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Актуальная</a:t>
            </a:r>
            <a:r>
              <a:rPr lang="en-US" sz="2000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 </a:t>
            </a:r>
            <a:r>
              <a:rPr lang="en-US" sz="2000" dirty="0" err="1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организация</a:t>
            </a:r>
            <a:r>
              <a:rPr lang="en-US" sz="2000" dirty="0">
                <a:solidFill>
                  <a:srgbClr val="172137"/>
                </a:solidFill>
                <a:latin typeface="+mj-lt"/>
                <a:ea typeface="Aptos" pitchFamily="34" charset="-122"/>
                <a:cs typeface="Aptos" pitchFamily="34" charset="-120"/>
              </a:rPr>
              <a:t> файлов и ключевые модули системы</a:t>
            </a:r>
            <a:endParaRPr lang="en-US" sz="2000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112703" y="21945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000" b="0">
                <a:solidFill>
                  <a:srgbClr val="172137"/>
                </a:solidFill>
                <a:latin typeface="Arial"/>
              </a:rPr>
              <a:t>09 / 18</a:t>
            </a:r>
          </a:p>
        </p:txBody>
      </p:sp>
      <p:sp>
        <p:nvSpPr>
          <p:cNvPr id="5" name="Text 3"/>
          <p:cNvSpPr/>
          <p:nvPr/>
        </p:nvSpPr>
        <p:spPr>
          <a:xfrm>
            <a:off x="579290" y="332994"/>
            <a:ext cx="88696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2800" b="1" dirty="0">
                <a:solidFill>
                  <a:srgbClr val="172137"/>
                </a:solidFill>
              </a:rPr>
              <a:t>База данных: логическая схема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395858"/>
            <a:ext cx="10972800" cy="0"/>
          </a:xfrm>
          <a:prstGeom prst="line">
            <a:avLst/>
          </a:prstGeom>
          <a:noFill/>
          <a:ln w="1524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79290" y="910906"/>
            <a:ext cx="10960438" cy="3044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400">
                <a:solidFill>
                  <a:srgbClr val="172137"/>
                </a:solidFill>
              </a:defRPr>
            </a:pPr>
            <a:r>
              <a:rPr lang="ru-RU" sz="2000" dirty="0">
                <a:solidFill>
                  <a:srgbClr val="172137"/>
                </a:solidFill>
              </a:rPr>
              <a:t>В системе хранятся как подтверждённые данные, так и вероятностные оценки, полученные в ходе анализа.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5557" y="2045294"/>
            <a:ext cx="1051560" cy="0"/>
          </a:xfrm>
          <a:prstGeom prst="line">
            <a:avLst/>
          </a:prstGeom>
          <a:noFill/>
          <a:ln w="20320">
            <a:solidFill>
              <a:srgbClr val="6B7C9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5557" y="2783587"/>
            <a:ext cx="1014984" cy="481072"/>
          </a:xfrm>
          <a:prstGeom prst="line">
            <a:avLst/>
          </a:prstGeom>
          <a:noFill/>
          <a:ln w="20320">
            <a:solidFill>
              <a:srgbClr val="6B7C9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608832" y="4566159"/>
            <a:ext cx="514601" cy="501015"/>
          </a:xfrm>
          <a:prstGeom prst="line">
            <a:avLst/>
          </a:prstGeom>
          <a:noFill/>
          <a:ln w="20320">
            <a:solidFill>
              <a:srgbClr val="6B7C9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556847" y="4754880"/>
            <a:ext cx="0" cy="438912"/>
          </a:xfrm>
          <a:prstGeom prst="line">
            <a:avLst/>
          </a:prstGeom>
          <a:noFill/>
          <a:ln w="20320">
            <a:solidFill>
              <a:srgbClr val="6B7C9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2240280" y="1430275"/>
            <a:ext cx="2335277" cy="1389888"/>
          </a:xfrm>
          <a:prstGeom prst="roundRect">
            <a:avLst>
              <a:gd name="adj" fmla="val 5263"/>
            </a:avLst>
          </a:prstGeom>
          <a:solidFill>
            <a:srgbClr val="F9FBFF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269895" y="1448563"/>
            <a:ext cx="2287374" cy="310896"/>
          </a:xfrm>
          <a:prstGeom prst="roundRect">
            <a:avLst>
              <a:gd name="adj" fmla="val 17647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358740" y="1503427"/>
            <a:ext cx="2143665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</a:rPr>
              <a:t>meetings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58740" y="1814323"/>
            <a:ext cx="2143665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id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58740" y="2015491"/>
            <a:ext cx="2143665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filename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58740" y="2216659"/>
            <a:ext cx="2143665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source_path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58740" y="2417827"/>
            <a:ext cx="2143665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created_at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58740" y="2618995"/>
            <a:ext cx="2143665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status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27117" y="1430275"/>
            <a:ext cx="2212068" cy="1497074"/>
          </a:xfrm>
          <a:prstGeom prst="roundRect">
            <a:avLst>
              <a:gd name="adj" fmla="val 5263"/>
            </a:avLst>
          </a:prstGeom>
          <a:solidFill>
            <a:srgbClr val="F9FBFF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>
              <a:defRPr sz="1400"/>
            </a:pPr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645405" y="1448563"/>
            <a:ext cx="2166692" cy="334872"/>
          </a:xfrm>
          <a:prstGeom prst="roundRect">
            <a:avLst>
              <a:gd name="adj" fmla="val 17647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pPr>
              <a:defRPr sz="1400"/>
            </a:pPr>
            <a:endParaRPr/>
          </a:p>
        </p:txBody>
      </p:sp>
      <p:sp>
        <p:nvSpPr>
          <p:cNvPr id="24" name="Text 22"/>
          <p:cNvSpPr/>
          <p:nvPr/>
        </p:nvSpPr>
        <p:spPr>
          <a:xfrm>
            <a:off x="5700268" y="1503426"/>
            <a:ext cx="2030565" cy="1575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</a:rPr>
              <a:t>utterances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00268" y="1814322"/>
            <a:ext cx="2030565" cy="177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</a:t>
            </a:r>
            <a:r>
              <a:rPr lang="en-US" sz="1400" dirty="0" err="1">
                <a:solidFill>
                  <a:srgbClr val="172137"/>
                </a:solidFill>
              </a:rPr>
              <a:t>meeting_id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00268" y="2015490"/>
            <a:ext cx="2030565" cy="177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speaker_label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00268" y="2216658"/>
            <a:ext cx="2030565" cy="177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start_sec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00268" y="2417826"/>
            <a:ext cx="2030565" cy="177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end_sec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700268" y="2618994"/>
            <a:ext cx="2030565" cy="1772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text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608828" y="3128517"/>
            <a:ext cx="2258395" cy="1572767"/>
          </a:xfrm>
          <a:prstGeom prst="roundRect">
            <a:avLst>
              <a:gd name="adj" fmla="val 6154"/>
            </a:avLst>
          </a:prstGeom>
          <a:solidFill>
            <a:srgbClr val="F9FBFF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>
              <a:defRPr sz="1400"/>
            </a:pPr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627116" y="3146805"/>
            <a:ext cx="2212069" cy="411339"/>
          </a:xfrm>
          <a:prstGeom prst="roundRect">
            <a:avLst>
              <a:gd name="adj" fmla="val 1764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pPr>
              <a:defRPr sz="1400"/>
            </a:pPr>
            <a:endParaRPr/>
          </a:p>
        </p:txBody>
      </p:sp>
      <p:sp>
        <p:nvSpPr>
          <p:cNvPr id="32" name="Text 30"/>
          <p:cNvSpPr/>
          <p:nvPr/>
        </p:nvSpPr>
        <p:spPr>
          <a:xfrm>
            <a:off x="5681980" y="3201669"/>
            <a:ext cx="2073091" cy="1935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</a:rPr>
              <a:t>summaries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81980" y="3650222"/>
            <a:ext cx="2073091" cy="217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</a:t>
            </a:r>
            <a:r>
              <a:rPr lang="en-US" sz="1400" dirty="0" err="1">
                <a:solidFill>
                  <a:srgbClr val="172137"/>
                </a:solidFill>
              </a:rPr>
              <a:t>meeting_id</a:t>
            </a:r>
            <a:endParaRPr lang="en-US" sz="1400" dirty="0">
              <a:solidFill>
                <a:srgbClr val="334155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5681980" y="3851390"/>
            <a:ext cx="2073091" cy="217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summary_text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81980" y="4052558"/>
            <a:ext cx="2073091" cy="217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model_name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681980" y="4253726"/>
            <a:ext cx="2073091" cy="217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created_at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221992" y="3321177"/>
            <a:ext cx="2386840" cy="1389888"/>
          </a:xfrm>
          <a:prstGeom prst="roundRect">
            <a:avLst>
              <a:gd name="adj" fmla="val 5263"/>
            </a:avLst>
          </a:prstGeom>
          <a:solidFill>
            <a:srgbClr val="F9FBFF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>
              <a:defRPr sz="1400"/>
            </a:pPr>
            <a:endParaRPr/>
          </a:p>
        </p:txBody>
      </p:sp>
      <p:sp>
        <p:nvSpPr>
          <p:cNvPr id="38" name="Shape 36"/>
          <p:cNvSpPr/>
          <p:nvPr/>
        </p:nvSpPr>
        <p:spPr>
          <a:xfrm>
            <a:off x="2251982" y="3339465"/>
            <a:ext cx="2337879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>
              <a:defRPr sz="1400"/>
            </a:pPr>
            <a:endParaRPr/>
          </a:p>
        </p:txBody>
      </p:sp>
      <p:sp>
        <p:nvSpPr>
          <p:cNvPr id="39" name="Text 37"/>
          <p:cNvSpPr/>
          <p:nvPr/>
        </p:nvSpPr>
        <p:spPr>
          <a:xfrm>
            <a:off x="2341952" y="3394329"/>
            <a:ext cx="2190997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</a:rPr>
              <a:t>processing_runs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341952" y="3705225"/>
            <a:ext cx="21909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meeting_id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341952" y="3906393"/>
            <a:ext cx="21909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status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341952" y="4107561"/>
            <a:ext cx="21909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started_at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341952" y="4308729"/>
            <a:ext cx="21909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finished_at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341952" y="4509897"/>
            <a:ext cx="219099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audio_sec / rtf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221992" y="5212080"/>
            <a:ext cx="2178557" cy="1426464"/>
          </a:xfrm>
          <a:prstGeom prst="roundRect">
            <a:avLst>
              <a:gd name="adj" fmla="val 6154"/>
            </a:avLst>
          </a:prstGeom>
          <a:solidFill>
            <a:srgbClr val="F9FBFF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>
              <a:defRPr sz="1400"/>
            </a:pPr>
            <a:endParaRPr/>
          </a:p>
        </p:txBody>
      </p:sp>
      <p:sp>
        <p:nvSpPr>
          <p:cNvPr id="46" name="Shape 44"/>
          <p:cNvSpPr/>
          <p:nvPr/>
        </p:nvSpPr>
        <p:spPr>
          <a:xfrm>
            <a:off x="2240280" y="5230368"/>
            <a:ext cx="2084070" cy="310896"/>
          </a:xfrm>
          <a:prstGeom prst="roundRect">
            <a:avLst>
              <a:gd name="adj" fmla="val 17647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pPr>
              <a:defRPr sz="1400"/>
            </a:pPr>
            <a:endParaRPr/>
          </a:p>
        </p:txBody>
      </p:sp>
      <p:sp>
        <p:nvSpPr>
          <p:cNvPr id="47" name="Text 45"/>
          <p:cNvSpPr/>
          <p:nvPr/>
        </p:nvSpPr>
        <p:spPr>
          <a:xfrm>
            <a:off x="2295144" y="5285232"/>
            <a:ext cx="186537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</a:rPr>
              <a:t>decisions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295144" y="5596128"/>
            <a:ext cx="186537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meeting_id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2295144" y="5833872"/>
            <a:ext cx="186537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processing_run_id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295144" y="6053328"/>
            <a:ext cx="186537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decision_text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295144" y="6310503"/>
            <a:ext cx="186537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confidence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876206" y="5065776"/>
            <a:ext cx="2258401" cy="1572768"/>
          </a:xfrm>
          <a:prstGeom prst="roundRect">
            <a:avLst>
              <a:gd name="adj" fmla="val 5263"/>
            </a:avLst>
          </a:prstGeom>
          <a:solidFill>
            <a:srgbClr val="F9FBFF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>
              <a:defRPr sz="1400"/>
            </a:pPr>
            <a:endParaRPr/>
          </a:p>
        </p:txBody>
      </p:sp>
      <p:sp>
        <p:nvSpPr>
          <p:cNvPr id="53" name="Shape 51"/>
          <p:cNvSpPr/>
          <p:nvPr/>
        </p:nvSpPr>
        <p:spPr>
          <a:xfrm>
            <a:off x="4894494" y="5084064"/>
            <a:ext cx="2211427" cy="310896"/>
          </a:xfrm>
          <a:prstGeom prst="roundRect">
            <a:avLst>
              <a:gd name="adj" fmla="val 17647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pPr>
              <a:defRPr sz="1400"/>
            </a:pPr>
            <a:endParaRPr/>
          </a:p>
        </p:txBody>
      </p:sp>
      <p:sp>
        <p:nvSpPr>
          <p:cNvPr id="54" name="Text 52"/>
          <p:cNvSpPr/>
          <p:nvPr/>
        </p:nvSpPr>
        <p:spPr>
          <a:xfrm>
            <a:off x="4949359" y="5138928"/>
            <a:ext cx="200253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</a:rPr>
              <a:t>action_items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949359" y="5449824"/>
            <a:ext cx="200253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meeting_id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949359" y="5679862"/>
            <a:ext cx="200253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processing_run_id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935259" y="5890388"/>
            <a:ext cx="200253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task_text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949359" y="6083680"/>
            <a:ext cx="200253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assignee_label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4949359" y="6315201"/>
            <a:ext cx="2002536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due_date / priority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8357616" y="5067173"/>
            <a:ext cx="3053334" cy="1571371"/>
          </a:xfrm>
          <a:prstGeom prst="roundRect">
            <a:avLst>
              <a:gd name="adj" fmla="val 6154"/>
            </a:avLst>
          </a:prstGeom>
          <a:solidFill>
            <a:srgbClr val="F9FBFF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>
              <a:defRPr sz="1400"/>
            </a:pPr>
            <a:endParaRPr/>
          </a:p>
        </p:txBody>
      </p:sp>
      <p:sp>
        <p:nvSpPr>
          <p:cNvPr id="61" name="Shape 59"/>
          <p:cNvSpPr/>
          <p:nvPr/>
        </p:nvSpPr>
        <p:spPr>
          <a:xfrm>
            <a:off x="8375904" y="5085461"/>
            <a:ext cx="3006360" cy="410975"/>
          </a:xfrm>
          <a:prstGeom prst="roundRect">
            <a:avLst>
              <a:gd name="adj" fmla="val 17647"/>
            </a:avLst>
          </a:prstGeom>
          <a:solidFill>
            <a:srgbClr val="33D6FF"/>
          </a:solidFill>
          <a:ln w="12700">
            <a:solidFill>
              <a:srgbClr val="33D6FF"/>
            </a:solidFill>
            <a:prstDash val="solid"/>
          </a:ln>
        </p:spPr>
        <p:txBody>
          <a:bodyPr/>
          <a:lstStyle/>
          <a:p>
            <a:pPr>
              <a:defRPr sz="1400"/>
            </a:pPr>
            <a:endParaRPr/>
          </a:p>
        </p:txBody>
      </p:sp>
      <p:sp>
        <p:nvSpPr>
          <p:cNvPr id="62" name="Text 60"/>
          <p:cNvSpPr/>
          <p:nvPr/>
        </p:nvSpPr>
        <p:spPr>
          <a:xfrm>
            <a:off x="8430765" y="5157486"/>
            <a:ext cx="2865437" cy="19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</a:rPr>
              <a:t>assignee_suggestions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430767" y="5489679"/>
            <a:ext cx="2865437" cy="3259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action_item_id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430766" y="5711255"/>
            <a:ext cx="2865437" cy="3643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suggested_label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8430766" y="6006937"/>
            <a:ext cx="2865437" cy="2994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suggested_utterance_id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8430765" y="6306351"/>
            <a:ext cx="2865437" cy="2998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400">
                <a:solidFill>
                  <a:srgbClr val="172137"/>
                </a:solidFill>
              </a:defRPr>
            </a:pPr>
            <a:r>
              <a:rPr lang="en-US" sz="1400" dirty="0">
                <a:solidFill>
                  <a:srgbClr val="172137"/>
                </a:solidFill>
              </a:rPr>
              <a:t>• suggested_rank</a:t>
            </a:r>
            <a:endParaRPr lang="en-US" sz="1400" dirty="0"/>
          </a:p>
        </p:txBody>
      </p:sp>
      <p:sp>
        <p:nvSpPr>
          <p:cNvPr id="72" name="Shape 8">
            <a:extLst>
              <a:ext uri="{FF2B5EF4-FFF2-40B4-BE49-F238E27FC236}">
                <a16:creationId xmlns:a16="http://schemas.microsoft.com/office/drawing/2014/main" id="{C9AE33AC-EA94-49F4-8EF7-CCF2315EB837}"/>
              </a:ext>
            </a:extLst>
          </p:cNvPr>
          <p:cNvSpPr/>
          <p:nvPr/>
        </p:nvSpPr>
        <p:spPr>
          <a:xfrm>
            <a:off x="3659972" y="2891621"/>
            <a:ext cx="0" cy="409531"/>
          </a:xfrm>
          <a:prstGeom prst="line">
            <a:avLst/>
          </a:prstGeom>
          <a:noFill/>
          <a:ln w="20320">
            <a:solidFill>
              <a:srgbClr val="6B7C9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 sz="1400"/>
            </a:pPr>
            <a:endParaRPr/>
          </a:p>
        </p:txBody>
      </p:sp>
      <p:sp>
        <p:nvSpPr>
          <p:cNvPr id="73" name="Shape 10">
            <a:extLst>
              <a:ext uri="{FF2B5EF4-FFF2-40B4-BE49-F238E27FC236}">
                <a16:creationId xmlns:a16="http://schemas.microsoft.com/office/drawing/2014/main" id="{9CFF9862-A5AB-4F0A-A62C-DBDE1A1615A4}"/>
              </a:ext>
            </a:extLst>
          </p:cNvPr>
          <p:cNvSpPr/>
          <p:nvPr/>
        </p:nvSpPr>
        <p:spPr>
          <a:xfrm>
            <a:off x="7134608" y="5388186"/>
            <a:ext cx="1223008" cy="6773"/>
          </a:xfrm>
          <a:prstGeom prst="line">
            <a:avLst/>
          </a:prstGeom>
          <a:noFill/>
          <a:ln w="20320">
            <a:solidFill>
              <a:srgbClr val="6B7C9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>
              <a:defRPr sz="1400"/>
            </a:pPr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29087C3-14EA-4A1D-82CE-C1BEF8F74D90}"/>
              </a:ext>
            </a:extLst>
          </p:cNvPr>
          <p:cNvSpPr txBox="1"/>
          <p:nvPr/>
        </p:nvSpPr>
        <p:spPr>
          <a:xfrm>
            <a:off x="7664535" y="4368059"/>
            <a:ext cx="4197976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72137"/>
                </a:solidFill>
              </a:defRPr>
            </a:pPr>
            <a:r>
              <a:rPr lang="ru-RU" sz="1400" dirty="0">
                <a:solidFill>
                  <a:srgbClr val="172137"/>
                </a:solidFill>
              </a:rPr>
              <a:t>вероятностные назначения исполнителей (с оценкой достоверности)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112703" y="21945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000" b="0">
                <a:solidFill>
                  <a:srgbClr val="172137"/>
                </a:solidFill>
                <a:latin typeface="Arial"/>
              </a:rPr>
              <a:t>10 / 18</a:t>
            </a:r>
          </a:p>
        </p:txBody>
      </p:sp>
      <p:sp>
        <p:nvSpPr>
          <p:cNvPr id="5" name="Text 3"/>
          <p:cNvSpPr/>
          <p:nvPr/>
        </p:nvSpPr>
        <p:spPr>
          <a:xfrm>
            <a:off x="566928" y="299381"/>
            <a:ext cx="88696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en-US" sz="2800" b="1" dirty="0">
                <a:solidFill>
                  <a:srgbClr val="172137"/>
                </a:solidFill>
              </a:rPr>
              <a:t>Обработка аудио и транскрибация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524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49808" y="1783077"/>
            <a:ext cx="2743200" cy="3867907"/>
          </a:xfrm>
          <a:prstGeom prst="roundRect">
            <a:avLst>
              <a:gd name="adj" fmla="val 2667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14400" y="1993392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2304288"/>
            <a:ext cx="2240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en-US" sz="2000" b="1" dirty="0">
                <a:solidFill>
                  <a:srgbClr val="172137"/>
                </a:solidFill>
              </a:rPr>
              <a:t>1. ASR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615269"/>
            <a:ext cx="2331720" cy="2354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172137"/>
                </a:solidFill>
              </a:defRPr>
            </a:pPr>
            <a:r>
              <a:rPr lang="ru-RU" dirty="0">
                <a:solidFill>
                  <a:srgbClr val="172137"/>
                </a:solidFill>
              </a:rPr>
              <a:t>Распознавание речи (</a:t>
            </a:r>
            <a:r>
              <a:rPr lang="en-US" dirty="0">
                <a:solidFill>
                  <a:srgbClr val="172137"/>
                </a:solidFill>
              </a:rPr>
              <a:t>Whisper)</a:t>
            </a:r>
            <a:endParaRPr lang="ru-RU" dirty="0">
              <a:solidFill>
                <a:srgbClr val="A9B4C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172137"/>
                </a:solidFill>
              </a:defRPr>
            </a:pPr>
            <a:r>
              <a:rPr lang="ru-RU" dirty="0">
                <a:solidFill>
                  <a:srgbClr val="172137"/>
                </a:solidFill>
              </a:rPr>
              <a:t>Формирование текстовых сегментов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172137"/>
                </a:solidFill>
              </a:defRPr>
            </a:pPr>
            <a:r>
              <a:rPr lang="ru-RU" dirty="0">
                <a:solidFill>
                  <a:srgbClr val="172137"/>
                </a:solidFill>
              </a:rPr>
              <a:t>Привязка ко времени</a:t>
            </a:r>
          </a:p>
          <a:p>
            <a:pPr>
              <a:defRPr sz="1800"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90523" y="5413036"/>
            <a:ext cx="2331720" cy="0"/>
          </a:xfrm>
          <a:prstGeom prst="line">
            <a:avLst/>
          </a:prstGeom>
          <a:noFill/>
          <a:ln w="1905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995928" y="1783079"/>
            <a:ext cx="2743200" cy="3867908"/>
          </a:xfrm>
          <a:prstGeom prst="roundRect">
            <a:avLst>
              <a:gd name="adj" fmla="val 2667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160520" y="1993392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160520" y="2322575"/>
            <a:ext cx="2240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en-US" sz="2000" b="1" dirty="0">
                <a:solidFill>
                  <a:srgbClr val="172137"/>
                </a:solidFill>
              </a:rPr>
              <a:t>2. Диаризация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38244" y="2805924"/>
            <a:ext cx="2331720" cy="16042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172137"/>
                </a:solidFill>
              </a:defRPr>
            </a:pPr>
            <a:r>
              <a:rPr lang="ru-RU" dirty="0">
                <a:solidFill>
                  <a:srgbClr val="172137"/>
                </a:solidFill>
              </a:rPr>
              <a:t>Определение спикеров (</a:t>
            </a:r>
            <a:r>
              <a:rPr lang="en-US" dirty="0">
                <a:solidFill>
                  <a:srgbClr val="172137"/>
                </a:solidFill>
              </a:rPr>
              <a:t>pyannote)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172137"/>
                </a:solidFill>
              </a:defRPr>
            </a:pPr>
            <a:r>
              <a:rPr lang="ru-RU" dirty="0">
                <a:solidFill>
                  <a:srgbClr val="172137"/>
                </a:solidFill>
              </a:rPr>
              <a:t>Привязка реплик к </a:t>
            </a:r>
            <a:r>
              <a:rPr lang="en-US" dirty="0" err="1">
                <a:solidFill>
                  <a:srgbClr val="172137"/>
                </a:solidFill>
              </a:rPr>
              <a:t>speaker_label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136643" y="5413036"/>
            <a:ext cx="2331720" cy="0"/>
          </a:xfrm>
          <a:prstGeom prst="line">
            <a:avLst/>
          </a:prstGeom>
          <a:noFill/>
          <a:ln w="1905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242048" y="1783078"/>
            <a:ext cx="2743200" cy="3867909"/>
          </a:xfrm>
          <a:prstGeom prst="roundRect">
            <a:avLst>
              <a:gd name="adj" fmla="val 2667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406640" y="1993392"/>
            <a:ext cx="914400" cy="219456"/>
          </a:xfrm>
          <a:prstGeom prst="roundRect">
            <a:avLst>
              <a:gd name="adj" fmla="val 16667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406640" y="2388862"/>
            <a:ext cx="2583689" cy="30633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en-US" sz="2000" b="1" dirty="0">
                <a:solidFill>
                  <a:srgbClr val="172137"/>
                </a:solidFill>
              </a:rPr>
              <a:t>3. Сохранение результата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06640" y="3148201"/>
            <a:ext cx="2331720" cy="1923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172137"/>
                </a:solidFill>
              </a:defRPr>
            </a:pPr>
            <a:r>
              <a:rPr lang="ru-RU" dirty="0">
                <a:solidFill>
                  <a:srgbClr val="172137"/>
                </a:solidFill>
              </a:rPr>
              <a:t>Сохранение реплик и </a:t>
            </a:r>
            <a:r>
              <a:rPr lang="en-US" dirty="0">
                <a:solidFill>
                  <a:srgbClr val="172137"/>
                </a:solidFill>
              </a:rPr>
              <a:t>summary </a:t>
            </a:r>
            <a:r>
              <a:rPr lang="ru-RU" dirty="0">
                <a:solidFill>
                  <a:srgbClr val="172137"/>
                </a:solidFill>
              </a:rPr>
              <a:t>в БД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172137"/>
                </a:solidFill>
              </a:defRPr>
            </a:pPr>
            <a:r>
              <a:rPr lang="ru-RU" dirty="0">
                <a:solidFill>
                  <a:srgbClr val="172137"/>
                </a:solidFill>
              </a:rPr>
              <a:t>Логирование обработки (</a:t>
            </a:r>
            <a:r>
              <a:rPr lang="en-US" dirty="0" err="1">
                <a:solidFill>
                  <a:srgbClr val="172137"/>
                </a:solidFill>
              </a:rPr>
              <a:t>processing_runs</a:t>
            </a:r>
            <a:r>
              <a:rPr lang="en-US" dirty="0">
                <a:solidFill>
                  <a:srgbClr val="172137"/>
                </a:solidFill>
              </a:rPr>
              <a:t>)</a:t>
            </a:r>
            <a:r>
              <a:rPr lang="ru-RU" dirty="0">
                <a:solidFill>
                  <a:srgbClr val="172137"/>
                </a:solidFill>
              </a:rPr>
              <a:t> –процесс обработки</a:t>
            </a:r>
            <a:endParaRPr lang="en-US" dirty="0">
              <a:solidFill>
                <a:srgbClr val="172137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172137"/>
                </a:solidFill>
              </a:defRPr>
            </a:pPr>
            <a:r>
              <a:rPr lang="ru-RU" dirty="0">
                <a:solidFill>
                  <a:srgbClr val="172137"/>
                </a:solidFill>
              </a:rPr>
              <a:t>Расчёт метрик (</a:t>
            </a:r>
            <a:r>
              <a:rPr lang="en-US" dirty="0">
                <a:solidFill>
                  <a:srgbClr val="172137"/>
                </a:solidFill>
              </a:rPr>
              <a:t>RTF)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7382763" y="5413036"/>
            <a:ext cx="2331720" cy="0"/>
          </a:xfrm>
          <a:prstGeom prst="line">
            <a:avLst/>
          </a:prstGeom>
          <a:noFill/>
          <a:ln w="19050">
            <a:solidFill>
              <a:srgbClr val="C8D2D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9C5ED6-7F17-47D7-B69A-E75FA1E1E9C9}"/>
              </a:ext>
            </a:extLst>
          </p:cNvPr>
          <p:cNvSpPr txBox="1"/>
          <p:nvPr/>
        </p:nvSpPr>
        <p:spPr>
          <a:xfrm>
            <a:off x="914399" y="816432"/>
            <a:ext cx="7191375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ru-RU" dirty="0">
                <a:solidFill>
                  <a:srgbClr val="172137"/>
                </a:solidFill>
              </a:rPr>
              <a:t>Основные этапы обработки аудиозаписи в системе</a:t>
            </a:r>
            <a:endParaRPr lang="en-US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433F7572-454E-49BC-88B6-3347DE3DC36E}"/>
              </a:ext>
            </a:extLst>
          </p:cNvPr>
          <p:cNvSpPr/>
          <p:nvPr/>
        </p:nvSpPr>
        <p:spPr>
          <a:xfrm>
            <a:off x="1945471" y="5725095"/>
            <a:ext cx="6917266" cy="7869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2000">
                <a:solidFill>
                  <a:srgbClr val="172137"/>
                </a:solidFill>
              </a:defRPr>
            </a:pPr>
            <a:r>
              <a:rPr lang="ru-RU" sz="1800" b="1" dirty="0">
                <a:solidFill>
                  <a:srgbClr val="172137"/>
                </a:solidFill>
              </a:rPr>
              <a:t>Результатом обработки является структурированный набор данных для дальнейшего анализа и извлечения знаний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112703" y="21945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000" b="0">
                <a:solidFill>
                  <a:srgbClr val="172137"/>
                </a:solidFill>
                <a:latin typeface="Arial"/>
              </a:rPr>
              <a:t>11 / 18</a:t>
            </a:r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88696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ru-RU" sz="2800" b="1" dirty="0">
                <a:solidFill>
                  <a:srgbClr val="172137"/>
                </a:solidFill>
              </a:rPr>
              <a:t>Извлечение структурированных данных (</a:t>
            </a:r>
            <a:r>
              <a:rPr lang="en-US" sz="2800" b="1" dirty="0">
                <a:solidFill>
                  <a:srgbClr val="172137"/>
                </a:solidFill>
              </a:rPr>
              <a:t>LLM)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524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49808" y="1664208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9202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en-US" sz="1800" b="1" dirty="0">
                <a:solidFill>
                  <a:srgbClr val="172137"/>
                </a:solidFill>
              </a:rPr>
              <a:t>Логика prompt-инженерии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87552" y="2616538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tx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243584" y="2570818"/>
            <a:ext cx="267004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ru-RU" sz="1600" dirty="0">
                <a:solidFill>
                  <a:srgbClr val="172137"/>
                </a:solidFill>
              </a:rPr>
              <a:t>Вход: транскрипт в формате [SPEAKER_XX]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87552" y="3466253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bg2">
              <a:lumMod val="1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243584" y="3420533"/>
            <a:ext cx="267004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ru-RU" sz="1600" dirty="0">
                <a:solidFill>
                  <a:srgbClr val="172137"/>
                </a:solidFill>
              </a:rPr>
              <a:t>Ограничение: отсутствие персональных данных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87552" y="4260764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243584" y="4215044"/>
            <a:ext cx="267004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ru-RU" sz="1600" dirty="0">
                <a:solidFill>
                  <a:srgbClr val="172137"/>
                </a:solidFill>
              </a:rPr>
              <a:t>Выход: строго структурированный </a:t>
            </a:r>
            <a:r>
              <a:rPr lang="en-US" sz="1600" dirty="0">
                <a:solidFill>
                  <a:srgbClr val="172137"/>
                </a:solidFill>
              </a:rPr>
              <a:t>JSON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87552" y="5015314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bg2">
              <a:lumMod val="10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243584" y="4969594"/>
            <a:ext cx="267004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ru-RU" sz="1600" dirty="0">
                <a:solidFill>
                  <a:srgbClr val="172137"/>
                </a:solidFill>
              </a:rPr>
              <a:t>Исполнитель фиксируется как </a:t>
            </a:r>
            <a:r>
              <a:rPr lang="ru-RU" sz="1600" dirty="0" err="1">
                <a:solidFill>
                  <a:srgbClr val="172137"/>
                </a:solidFill>
              </a:rPr>
              <a:t>speaker_label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26280" y="3840480"/>
            <a:ext cx="640080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321808" y="1664208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596128" y="192024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en-US" sz="1800" b="1" dirty="0">
                <a:solidFill>
                  <a:srgbClr val="172137"/>
                </a:solidFill>
              </a:rPr>
              <a:t>Структура итогового JSON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96128" y="2404872"/>
            <a:ext cx="4828032" cy="338328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2DF"/>
            </a:solidFill>
          </a:ln>
        </p:spPr>
        <p:txBody>
          <a:bodyPr wrap="square" lIns="1524" tIns="1524" rIns="1524" bIns="1524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en-US" sz="1600" dirty="0">
                <a:solidFill>
                  <a:srgbClr val="17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{
 2   "decisions": [
 3     {"text": "...", "confidence": 0.91}
 4   ],
 5   "action_items": [
 6     {
 7       "task": "подготовить отчёт",
 8       "assignee_label": "SPEAKER_00",
 9       "due_date": "2026-01-14",
10       "priority": 1,
11       "confidence": 0.88
12     }
13   ]
14 }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112703" y="21945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000" b="0">
                <a:solidFill>
                  <a:srgbClr val="172137"/>
                </a:solidFill>
                <a:latin typeface="Arial"/>
              </a:rPr>
              <a:t>12 / 18</a:t>
            </a:r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88696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2800" b="1" dirty="0">
                <a:solidFill>
                  <a:srgbClr val="172137"/>
                </a:solidFill>
              </a:rPr>
              <a:t>Пакетная обработка и экспорт отчётов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11205972" cy="0"/>
          </a:xfrm>
          <a:prstGeom prst="line">
            <a:avLst/>
          </a:prstGeom>
          <a:noFill/>
          <a:ln w="1524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42900" y="1741932"/>
            <a:ext cx="5527548" cy="4896608"/>
          </a:xfrm>
          <a:prstGeom prst="roundRect">
            <a:avLst>
              <a:gd name="adj" fmla="val 1616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0101" y="2130553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2000" b="1" dirty="0">
                <a:solidFill>
                  <a:srgbClr val="172137"/>
                </a:solidFill>
              </a:rPr>
              <a:t>Автоматический контур обработки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691978" y="3271435"/>
            <a:ext cx="219456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1019" y="2996609"/>
            <a:ext cx="1150959" cy="566928"/>
          </a:xfrm>
          <a:prstGeom prst="roundRect">
            <a:avLst>
              <a:gd name="adj" fmla="val 12903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86738" y="3188633"/>
            <a:ext cx="1054609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400" b="1" dirty="0">
                <a:solidFill>
                  <a:srgbClr val="172137"/>
                </a:solidFill>
              </a:rPr>
              <a:t>meeting_ids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52630" y="2991528"/>
            <a:ext cx="113859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398350" y="3183551"/>
            <a:ext cx="1047158" cy="1513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400" b="1" dirty="0">
                <a:solidFill>
                  <a:srgbClr val="172137"/>
                </a:solidFill>
              </a:rPr>
              <a:t>export_protocol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91228" y="3271435"/>
            <a:ext cx="255693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746921" y="2995085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792641" y="3187109"/>
            <a:ext cx="8686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400" b="1" dirty="0">
                <a:solidFill>
                  <a:srgbClr val="172137"/>
                </a:solidFill>
              </a:rPr>
              <a:t>reports/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11434" y="2987971"/>
            <a:ext cx="1212596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0" name="Shape 18"/>
          <p:cNvSpPr/>
          <p:nvPr/>
        </p:nvSpPr>
        <p:spPr>
          <a:xfrm>
            <a:off x="987552" y="4052992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243584" y="3952408"/>
            <a:ext cx="404164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ru-RU" dirty="0">
                <a:solidFill>
                  <a:srgbClr val="172137"/>
                </a:solidFill>
              </a:rPr>
              <a:t>Обработка новых встреч (без дубликатов)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987552" y="4668521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243584" y="4570223"/>
            <a:ext cx="404164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ru-RU" dirty="0">
                <a:solidFill>
                  <a:srgbClr val="172137"/>
                </a:solidFill>
              </a:rPr>
              <a:t>Поддержка </a:t>
            </a:r>
            <a:r>
              <a:rPr lang="en-US" dirty="0">
                <a:solidFill>
                  <a:srgbClr val="172137"/>
                </a:solidFill>
              </a:rPr>
              <a:t>batch-</a:t>
            </a:r>
            <a:r>
              <a:rPr lang="ru-RU" dirty="0">
                <a:solidFill>
                  <a:srgbClr val="172137"/>
                </a:solidFill>
              </a:rPr>
              <a:t>режима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987552" y="5188288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243584" y="5083979"/>
            <a:ext cx="404164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ru-RU" dirty="0">
                <a:solidFill>
                  <a:srgbClr val="172137"/>
                </a:solidFill>
              </a:rPr>
              <a:t>Устойчивость к ошибкам (</a:t>
            </a:r>
            <a:r>
              <a:rPr lang="en-US" dirty="0">
                <a:solidFill>
                  <a:srgbClr val="172137"/>
                </a:solidFill>
              </a:rPr>
              <a:t>continue-on-error)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144768" y="1741931"/>
            <a:ext cx="5628132" cy="4896609"/>
          </a:xfrm>
          <a:prstGeom prst="roundRect">
            <a:avLst>
              <a:gd name="adj" fmla="val 1616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46520" y="2136649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ru-RU" sz="2000" b="1" dirty="0">
                <a:solidFill>
                  <a:srgbClr val="172137"/>
                </a:solidFill>
              </a:rPr>
              <a:t>Выходные данные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446520" y="2581658"/>
            <a:ext cx="2423160" cy="3032758"/>
          </a:xfrm>
          <a:prstGeom prst="roundRect">
            <a:avLst>
              <a:gd name="adj" fmla="val 1887"/>
            </a:avLst>
          </a:prstGeom>
          <a:solidFill>
            <a:srgbClr val="FCFD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9" name="Text 27"/>
          <p:cNvSpPr/>
          <p:nvPr/>
        </p:nvSpPr>
        <p:spPr>
          <a:xfrm>
            <a:off x="6601968" y="2803473"/>
            <a:ext cx="1737360" cy="1537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400" b="1" dirty="0">
                <a:solidFill>
                  <a:srgbClr val="172137"/>
                </a:solidFill>
              </a:rPr>
              <a:t># Протокол встречи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01968" y="2880360"/>
            <a:ext cx="1993392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080" dirty="0">
                <a:solidFill>
                  <a:srgbClr val="172137"/>
                </a:solidFill>
              </a:rPr>
              <a:t>## Краткое резюме</a:t>
            </a:r>
            <a:endParaRPr lang="en-US" sz="108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080" dirty="0">
                <a:solidFill>
                  <a:srgbClr val="172137"/>
                </a:solidFill>
              </a:rPr>
              <a:t>— темы обсуждения</a:t>
            </a:r>
            <a:endParaRPr lang="en-US" sz="108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080" dirty="0">
                <a:solidFill>
                  <a:srgbClr val="172137"/>
                </a:solidFill>
              </a:rPr>
              <a:t>— договорённости</a:t>
            </a:r>
            <a:endParaRPr lang="en-US" sz="108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080" dirty="0">
                <a:solidFill>
                  <a:srgbClr val="172137"/>
                </a:solidFill>
              </a:rPr>
              <a:t>— ключевые идеи</a:t>
            </a:r>
            <a:endParaRPr lang="en-US" sz="1080" dirty="0"/>
          </a:p>
          <a:p>
            <a:pPr marL="0" indent="0">
              <a:buNone/>
              <a:defRPr sz="1800"/>
            </a:pPr>
            <a:endParaRPr lang="en-US" sz="108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080" dirty="0">
                <a:solidFill>
                  <a:srgbClr val="172137"/>
                </a:solidFill>
              </a:rPr>
              <a:t>## Решения</a:t>
            </a:r>
            <a:endParaRPr lang="en-US" sz="108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080" dirty="0">
                <a:solidFill>
                  <a:srgbClr val="172137"/>
                </a:solidFill>
              </a:rPr>
              <a:t>1. ...</a:t>
            </a:r>
            <a:endParaRPr lang="en-US" sz="1080" dirty="0"/>
          </a:p>
          <a:p>
            <a:pPr marL="0" indent="0">
              <a:buNone/>
              <a:defRPr sz="1800"/>
            </a:pPr>
            <a:endParaRPr lang="en-US" sz="108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080" dirty="0">
                <a:solidFill>
                  <a:srgbClr val="172137"/>
                </a:solidFill>
              </a:rPr>
              <a:t>## Задачи</a:t>
            </a:r>
            <a:endParaRPr lang="en-US" sz="108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080" dirty="0">
                <a:solidFill>
                  <a:srgbClr val="172137"/>
                </a:solidFill>
              </a:rPr>
              <a:t>| task | assignee | due |</a:t>
            </a:r>
            <a:endParaRPr lang="en-US" sz="1080" dirty="0"/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EC01D3A1-FDAA-4D79-BA45-671D9A367951}"/>
              </a:ext>
            </a:extLst>
          </p:cNvPr>
          <p:cNvSpPr/>
          <p:nvPr/>
        </p:nvSpPr>
        <p:spPr>
          <a:xfrm>
            <a:off x="3124030" y="3271435"/>
            <a:ext cx="219456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dirty="0"/>
          </a:p>
        </p:txBody>
      </p:sp>
      <p:sp>
        <p:nvSpPr>
          <p:cNvPr id="31" name="Text 29"/>
          <p:cNvSpPr/>
          <p:nvPr/>
        </p:nvSpPr>
        <p:spPr>
          <a:xfrm>
            <a:off x="6675120" y="5294376"/>
            <a:ext cx="13716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150" b="1" dirty="0">
                <a:solidFill>
                  <a:srgbClr val="172137"/>
                </a:solidFill>
              </a:rPr>
              <a:t>markdown / json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072065" y="2581658"/>
            <a:ext cx="2415542" cy="28590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1800"/>
            </a:pPr>
            <a:r>
              <a:rPr lang="ru-RU" sz="1600" dirty="0"/>
              <a:t>Протокол встречи (Markdown)</a:t>
            </a:r>
          </a:p>
          <a:p>
            <a:pPr>
              <a:defRPr sz="1800"/>
            </a:pPr>
            <a:r>
              <a:rPr lang="ru-RU" sz="1600" dirty="0"/>
              <a:t>— полный текст встречи</a:t>
            </a:r>
          </a:p>
          <a:p>
            <a:pPr>
              <a:defRPr sz="1800"/>
            </a:pPr>
            <a:r>
              <a:rPr lang="ru-RU" sz="1600" dirty="0"/>
              <a:t>Структурированные данные (JSON)</a:t>
            </a:r>
          </a:p>
          <a:p>
            <a:pPr>
              <a:defRPr sz="1800"/>
            </a:pPr>
            <a:r>
              <a:rPr lang="ru-RU" sz="1600" dirty="0"/>
              <a:t>— решения и задачи в формализованном виде</a:t>
            </a:r>
          </a:p>
          <a:p>
            <a:pPr>
              <a:defRPr sz="1800"/>
            </a:pPr>
            <a:r>
              <a:rPr lang="ru-RU" sz="1600" dirty="0"/>
              <a:t>Использование данных:</a:t>
            </a:r>
          </a:p>
          <a:p>
            <a:pPr>
              <a:defRPr sz="1800"/>
            </a:pPr>
            <a:r>
              <a:rPr lang="ru-RU" sz="1600" dirty="0"/>
              <a:t>— контроль сроков выполнения задач</a:t>
            </a:r>
          </a:p>
          <a:p>
            <a:pPr>
              <a:defRPr sz="1800"/>
            </a:pPr>
            <a:r>
              <a:rPr lang="ru-RU" sz="1600" dirty="0"/>
              <a:t>— анализ загрузки исполнителей</a:t>
            </a:r>
          </a:p>
          <a:p>
            <a:pPr>
              <a:defRPr sz="1800"/>
            </a:pPr>
            <a:r>
              <a:rPr lang="ru-RU" sz="1600" dirty="0"/>
              <a:t>— формирование статистики по встречам</a:t>
            </a:r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47D409F3-45BF-451A-8A30-52B453F2A63A}"/>
              </a:ext>
            </a:extLst>
          </p:cNvPr>
          <p:cNvSpPr/>
          <p:nvPr/>
        </p:nvSpPr>
        <p:spPr>
          <a:xfrm>
            <a:off x="1236133" y="5719399"/>
            <a:ext cx="404164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ru-RU" dirty="0">
                <a:solidFill>
                  <a:srgbClr val="172137"/>
                </a:solidFill>
              </a:rPr>
              <a:t>Формирование протоколов автоматически</a:t>
            </a:r>
            <a:endParaRPr lang="en-US" dirty="0"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7B209B31-8C39-4347-BF87-A6E2788BBED4}"/>
              </a:ext>
            </a:extLst>
          </p:cNvPr>
          <p:cNvSpPr/>
          <p:nvPr/>
        </p:nvSpPr>
        <p:spPr>
          <a:xfrm>
            <a:off x="980101" y="5810839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B2396EB6-DF57-49C3-B27D-1A6394B24427}"/>
              </a:ext>
            </a:extLst>
          </p:cNvPr>
          <p:cNvSpPr/>
          <p:nvPr/>
        </p:nvSpPr>
        <p:spPr>
          <a:xfrm>
            <a:off x="6342380" y="5734640"/>
            <a:ext cx="5054600" cy="726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1800"/>
            </a:pP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обеспечивает</a:t>
            </a:r>
            <a:r>
              <a:rPr dirty="0"/>
              <a:t>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автоматическую</a:t>
            </a:r>
            <a:r>
              <a:rPr dirty="0"/>
              <a:t> </a:t>
            </a:r>
            <a:r>
              <a:rPr dirty="0" err="1"/>
              <a:t>обработку</a:t>
            </a:r>
            <a:r>
              <a:rPr dirty="0"/>
              <a:t> </a:t>
            </a:r>
            <a:r>
              <a:rPr dirty="0" err="1"/>
              <a:t>встреч</a:t>
            </a:r>
            <a:r>
              <a:rPr dirty="0"/>
              <a:t> и </a:t>
            </a:r>
            <a:r>
              <a:rPr dirty="0" err="1"/>
              <a:t>формирование</a:t>
            </a:r>
            <a:r>
              <a:rPr dirty="0"/>
              <a:t> </a:t>
            </a:r>
            <a:r>
              <a:rPr dirty="0" err="1"/>
              <a:t>протоколов</a:t>
            </a:r>
            <a:r>
              <a:rPr dirty="0"/>
              <a:t> и </a:t>
            </a:r>
            <a:r>
              <a:rPr dirty="0" err="1"/>
              <a:t>статистики</a:t>
            </a:r>
            <a:r>
              <a:rPr dirty="0"/>
              <a:t>.</a:t>
            </a:r>
          </a:p>
        </p:txBody>
      </p:sp>
      <p:sp>
        <p:nvSpPr>
          <p:cNvPr id="13" name="Text 11"/>
          <p:cNvSpPr/>
          <p:nvPr/>
        </p:nvSpPr>
        <p:spPr>
          <a:xfrm>
            <a:off x="1957154" y="3179995"/>
            <a:ext cx="112115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400" b="1" dirty="0">
                <a:solidFill>
                  <a:srgbClr val="172137"/>
                </a:solidFill>
              </a:rPr>
              <a:t>extract_protocol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112703" y="21945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000" b="0">
                <a:solidFill>
                  <a:srgbClr val="172137"/>
                </a:solidFill>
                <a:latin typeface="Arial"/>
              </a:rPr>
              <a:t>13 / 18</a:t>
            </a:r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88696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ru-RU" sz="2800" b="1" dirty="0">
                <a:solidFill>
                  <a:srgbClr val="172137"/>
                </a:solidFill>
              </a:rPr>
              <a:t>Пример готового протокола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384808"/>
            <a:ext cx="11205972" cy="0"/>
          </a:xfrm>
          <a:prstGeom prst="line">
            <a:avLst/>
          </a:prstGeom>
          <a:noFill/>
          <a:ln w="15240">
            <a:solidFill>
              <a:srgbClr val="C8D2D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7" name="Shape 5"/>
          <p:cNvSpPr/>
          <p:nvPr/>
        </p:nvSpPr>
        <p:spPr>
          <a:xfrm>
            <a:off x="563750" y="2042081"/>
            <a:ext cx="5964587" cy="3659380"/>
          </a:xfrm>
          <a:prstGeom prst="roundRect">
            <a:avLst>
              <a:gd name="adj" fmla="val 1616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8" name="Text 6"/>
          <p:cNvSpPr/>
          <p:nvPr/>
        </p:nvSpPr>
        <p:spPr>
          <a:xfrm>
            <a:off x="858449" y="253371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ru-RU" sz="2000" b="1" dirty="0">
                <a:solidFill>
                  <a:srgbClr val="172137"/>
                </a:solidFill>
              </a:rPr>
              <a:t>Протокол встречи (тестовый пример)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8449" y="3348940"/>
            <a:ext cx="5964587" cy="4941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ru-RU" sz="2000" dirty="0">
                <a:solidFill>
                  <a:srgbClr val="172137"/>
                </a:solidFill>
              </a:rPr>
              <a:t>Краткое резюме:</a:t>
            </a:r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ru-RU" dirty="0"/>
              <a:t>— Обсуждена проблема обработки ошибок в API</a:t>
            </a:r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ru-RU" dirty="0"/>
              <a:t>— Принято решение перенести релиз на 1 неделю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72623" y="3837378"/>
            <a:ext cx="5425744" cy="16642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ru-RU" sz="2000" dirty="0">
                <a:solidFill>
                  <a:srgbClr val="172137"/>
                </a:solidFill>
              </a:rPr>
              <a:t>Решения:</a:t>
            </a:r>
          </a:p>
          <a:p>
            <a:pPr marL="342900" indent="-342900">
              <a:buAutoNum type="arabicPeriod"/>
              <a:defRPr sz="1800">
                <a:solidFill>
                  <a:srgbClr val="172137"/>
                </a:solidFill>
              </a:defRPr>
            </a:pPr>
            <a:r>
              <a:rPr lang="ru-RU" dirty="0">
                <a:solidFill>
                  <a:srgbClr val="172137"/>
                </a:solidFill>
              </a:rPr>
              <a:t>Перенести релиз на одну неделю</a:t>
            </a:r>
          </a:p>
          <a:p>
            <a:pPr marL="342900" indent="-342900">
              <a:buAutoNum type="arabicPeriod"/>
              <a:defRPr sz="1800">
                <a:solidFill>
                  <a:srgbClr val="172137"/>
                </a:solidFill>
              </a:defRPr>
            </a:pPr>
            <a:r>
              <a:rPr lang="ru-RU" dirty="0">
                <a:solidFill>
                  <a:srgbClr val="172137"/>
                </a:solidFill>
              </a:rPr>
              <a:t>Не использовать временный обходной вариант</a:t>
            </a:r>
            <a:endParaRPr lang="en-US" dirty="0"/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4B4D23AB-9428-4493-8D01-C60ED06C84C5}"/>
              </a:ext>
            </a:extLst>
          </p:cNvPr>
          <p:cNvSpPr/>
          <p:nvPr/>
        </p:nvSpPr>
        <p:spPr>
          <a:xfrm>
            <a:off x="831017" y="3083927"/>
            <a:ext cx="2560320" cy="4768"/>
          </a:xfrm>
          <a:prstGeom prst="line">
            <a:avLst/>
          </a:prstGeom>
          <a:noFill/>
          <a:ln w="1905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46F5EA4C-AD19-48E1-A7B6-F7634E20F1CF}"/>
              </a:ext>
            </a:extLst>
          </p:cNvPr>
          <p:cNvSpPr/>
          <p:nvPr/>
        </p:nvSpPr>
        <p:spPr>
          <a:xfrm>
            <a:off x="831017" y="4140151"/>
            <a:ext cx="2560320" cy="4768"/>
          </a:xfrm>
          <a:prstGeom prst="line">
            <a:avLst/>
          </a:prstGeom>
          <a:noFill/>
          <a:ln w="1905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A3889E91-64EA-497D-A09E-F18AC2F30B8E}"/>
              </a:ext>
            </a:extLst>
          </p:cNvPr>
          <p:cNvSpPr/>
          <p:nvPr/>
        </p:nvSpPr>
        <p:spPr>
          <a:xfrm>
            <a:off x="6747773" y="2042739"/>
            <a:ext cx="5025127" cy="3658722"/>
          </a:xfrm>
          <a:prstGeom prst="roundRect">
            <a:avLst>
              <a:gd name="adj" fmla="val 1616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4" name="Таблица 13">
            <a:extLst>
              <a:ext uri="{FF2B5EF4-FFF2-40B4-BE49-F238E27FC236}">
                <a16:creationId xmlns:a16="http://schemas.microsoft.com/office/drawing/2014/main" id="{2D886BE2-A5C2-4543-AD06-3FAE1E1E4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961935"/>
              </p:ext>
            </p:extLst>
          </p:nvPr>
        </p:nvGraphicFramePr>
        <p:xfrm>
          <a:off x="6837210" y="3139291"/>
          <a:ext cx="4855257" cy="1529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618419">
                  <a:extLst>
                    <a:ext uri="{9D8B030D-6E8A-4147-A177-3AD203B41FA5}">
                      <a16:colId xmlns:a16="http://schemas.microsoft.com/office/drawing/2014/main" val="3839727094"/>
                    </a:ext>
                  </a:extLst>
                </a:gridCol>
                <a:gridCol w="1695904">
                  <a:extLst>
                    <a:ext uri="{9D8B030D-6E8A-4147-A177-3AD203B41FA5}">
                      <a16:colId xmlns:a16="http://schemas.microsoft.com/office/drawing/2014/main" val="690173735"/>
                    </a:ext>
                  </a:extLst>
                </a:gridCol>
                <a:gridCol w="1540934">
                  <a:extLst>
                    <a:ext uri="{9D8B030D-6E8A-4147-A177-3AD203B41FA5}">
                      <a16:colId xmlns:a16="http://schemas.microsoft.com/office/drawing/2014/main" val="2702770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b="0" dirty="0"/>
                        <a:t>Задачи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Исполнитель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/>
                        <a:t>Срок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80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Подготовить отчет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SPEAKER_00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2026-01-14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166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Обновить документацию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SPEAKER_01</a:t>
                      </a:r>
                      <a:endParaRPr lang="ru-R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2026-01-15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539604"/>
                  </a:ext>
                </a:extLst>
              </a:tr>
            </a:tbl>
          </a:graphicData>
        </a:graphic>
      </p:graphicFrame>
      <p:sp>
        <p:nvSpPr>
          <p:cNvPr id="40" name="Text 21">
            <a:extLst>
              <a:ext uri="{FF2B5EF4-FFF2-40B4-BE49-F238E27FC236}">
                <a16:creationId xmlns:a16="http://schemas.microsoft.com/office/drawing/2014/main" id="{A6CC79C2-711A-4C29-895B-BCD0906E4430}"/>
              </a:ext>
            </a:extLst>
          </p:cNvPr>
          <p:cNvSpPr/>
          <p:nvPr/>
        </p:nvSpPr>
        <p:spPr>
          <a:xfrm>
            <a:off x="6837210" y="2327740"/>
            <a:ext cx="1025302" cy="5240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ru-RU" sz="2000" b="1" dirty="0"/>
              <a:t>Задачи</a:t>
            </a:r>
            <a:r>
              <a:rPr lang="en-US" sz="2000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64673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112703" y="21945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000" b="0">
                <a:solidFill>
                  <a:srgbClr val="172137"/>
                </a:solidFill>
                <a:latin typeface="Arial"/>
              </a:rPr>
              <a:t>14 / 18</a:t>
            </a:r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88696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ru-RU" sz="2800" b="1" dirty="0">
                <a:solidFill>
                  <a:srgbClr val="172137"/>
                </a:solidFill>
              </a:rPr>
              <a:t>Примеры выборок из базы данных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11205972" cy="0"/>
          </a:xfrm>
          <a:prstGeom prst="line">
            <a:avLst/>
          </a:prstGeom>
          <a:noFill/>
          <a:ln w="1524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42900" y="1741932"/>
            <a:ext cx="5527548" cy="4896608"/>
          </a:xfrm>
          <a:prstGeom prst="roundRect">
            <a:avLst>
              <a:gd name="adj" fmla="val 1616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66928" y="21224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2000" b="1" dirty="0">
                <a:solidFill>
                  <a:srgbClr val="172137"/>
                </a:solidFill>
              </a:rPr>
              <a:t>SQL-</a:t>
            </a:r>
            <a:r>
              <a:rPr lang="ru-RU" sz="2000" b="1" dirty="0">
                <a:solidFill>
                  <a:srgbClr val="172137"/>
                </a:solidFill>
              </a:rPr>
              <a:t>запрос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144768" y="1741931"/>
            <a:ext cx="5628132" cy="4896609"/>
          </a:xfrm>
          <a:prstGeom prst="roundRect">
            <a:avLst>
              <a:gd name="adj" fmla="val 1616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46520" y="2136649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ru-RU" sz="2000" b="1" dirty="0">
                <a:solidFill>
                  <a:srgbClr val="172137"/>
                </a:solidFill>
              </a:rPr>
              <a:t>Результат выборки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347634" y="2852249"/>
            <a:ext cx="5268633" cy="3032758"/>
          </a:xfrm>
          <a:prstGeom prst="roundRect">
            <a:avLst>
              <a:gd name="adj" fmla="val 1887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47D409F3-45BF-451A-8A30-52B453F2A63A}"/>
              </a:ext>
            </a:extLst>
          </p:cNvPr>
          <p:cNvSpPr/>
          <p:nvPr/>
        </p:nvSpPr>
        <p:spPr>
          <a:xfrm>
            <a:off x="495474" y="5174020"/>
            <a:ext cx="5577840" cy="8331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dirty="0">
                <a:solidFill>
                  <a:srgbClr val="172137"/>
                </a:solidFill>
              </a:rPr>
              <a:t>SQL-</a:t>
            </a:r>
            <a:r>
              <a:rPr lang="ru-RU" dirty="0">
                <a:solidFill>
                  <a:srgbClr val="172137"/>
                </a:solidFill>
              </a:rPr>
              <a:t>запросы позволяют получать задачи</a:t>
            </a:r>
            <a:r>
              <a:rPr lang="en-US" dirty="0">
                <a:solidFill>
                  <a:srgbClr val="172137"/>
                </a:solidFill>
              </a:rPr>
              <a:t>,</a:t>
            </a:r>
            <a:r>
              <a:rPr lang="ru-RU" dirty="0">
                <a:solidFill>
                  <a:srgbClr val="172137"/>
                </a:solidFill>
              </a:rPr>
              <a:t> </a:t>
            </a:r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ru-RU" dirty="0">
                <a:solidFill>
                  <a:srgbClr val="172137"/>
                </a:solidFill>
              </a:rPr>
              <a:t>сроки и исполнителей для контроля выполнения</a:t>
            </a:r>
            <a:r>
              <a:rPr lang="en-US" dirty="0">
                <a:solidFill>
                  <a:srgbClr val="172137"/>
                </a:solidFill>
              </a:rPr>
              <a:t>.</a:t>
            </a:r>
            <a:endParaRPr lang="en-US" dirty="0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B7E1B771-70BB-41B2-B105-211E74CFC455}"/>
              </a:ext>
            </a:extLst>
          </p:cNvPr>
          <p:cNvSpPr/>
          <p:nvPr/>
        </p:nvSpPr>
        <p:spPr>
          <a:xfrm>
            <a:off x="419100" y="2632369"/>
            <a:ext cx="5389033" cy="1371943"/>
          </a:xfrm>
          <a:prstGeom prst="roundRect">
            <a:avLst>
              <a:gd name="adj" fmla="val 1616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0" y="2803845"/>
            <a:ext cx="6568788" cy="11046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lvl="1">
              <a:defRPr sz="1800">
                <a:solidFill>
                  <a:srgbClr val="172137"/>
                </a:solidFill>
              </a:defRPr>
            </a:pPr>
            <a:r>
              <a:rPr lang="en-US" sz="1600" dirty="0"/>
              <a:t>SELECT </a:t>
            </a:r>
            <a:r>
              <a:rPr lang="en-US" sz="1600" dirty="0" err="1"/>
              <a:t>meeting_id</a:t>
            </a:r>
            <a:r>
              <a:rPr lang="en-US" sz="1600" dirty="0"/>
              <a:t>, filename, </a:t>
            </a:r>
            <a:r>
              <a:rPr lang="en-US" sz="1600" dirty="0" err="1"/>
              <a:t>task_text</a:t>
            </a:r>
            <a:r>
              <a:rPr lang="en-US" sz="1600" dirty="0"/>
              <a:t>, </a:t>
            </a:r>
            <a:r>
              <a:rPr lang="en-US" sz="1600" dirty="0" err="1"/>
              <a:t>assignee_display</a:t>
            </a:r>
            <a:endParaRPr lang="en-US" sz="1600" dirty="0"/>
          </a:p>
          <a:p>
            <a:pPr lvl="1">
              <a:defRPr sz="1800">
                <a:solidFill>
                  <a:srgbClr val="172137"/>
                </a:solidFill>
              </a:defRPr>
            </a:pPr>
            <a:r>
              <a:rPr lang="en-US" sz="1600" dirty="0"/>
              <a:t>FROM </a:t>
            </a:r>
            <a:r>
              <a:rPr lang="en-US" sz="1600" dirty="0" err="1"/>
              <a:t>v_action_items_open_unfied</a:t>
            </a:r>
            <a:br>
              <a:rPr lang="en-US" sz="1600" dirty="0"/>
            </a:br>
            <a:r>
              <a:rPr lang="en-US" sz="1600" dirty="0"/>
              <a:t>ORDER BY </a:t>
            </a:r>
            <a:r>
              <a:rPr lang="en-US" sz="1600" dirty="0" err="1"/>
              <a:t>meeting_created_at</a:t>
            </a:r>
            <a:r>
              <a:rPr lang="en-US" sz="1600" dirty="0"/>
              <a:t> DESC;</a:t>
            </a:r>
          </a:p>
        </p:txBody>
      </p:sp>
      <p:graphicFrame>
        <p:nvGraphicFramePr>
          <p:cNvPr id="41" name="Таблица 41">
            <a:extLst>
              <a:ext uri="{FF2B5EF4-FFF2-40B4-BE49-F238E27FC236}">
                <a16:creationId xmlns:a16="http://schemas.microsoft.com/office/drawing/2014/main" id="{C7CDE310-6C02-4B0F-843A-4604F5813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917883"/>
              </p:ext>
            </p:extLst>
          </p:nvPr>
        </p:nvGraphicFramePr>
        <p:xfrm>
          <a:off x="6446520" y="3146677"/>
          <a:ext cx="5110480" cy="24439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30552">
                  <a:extLst>
                    <a:ext uri="{9D8B030D-6E8A-4147-A177-3AD203B41FA5}">
                      <a16:colId xmlns:a16="http://schemas.microsoft.com/office/drawing/2014/main" val="2058790912"/>
                    </a:ext>
                  </a:extLst>
                </a:gridCol>
                <a:gridCol w="1406552">
                  <a:extLst>
                    <a:ext uri="{9D8B030D-6E8A-4147-A177-3AD203B41FA5}">
                      <a16:colId xmlns:a16="http://schemas.microsoft.com/office/drawing/2014/main" val="732715998"/>
                    </a:ext>
                  </a:extLst>
                </a:gridCol>
                <a:gridCol w="1695757">
                  <a:extLst>
                    <a:ext uri="{9D8B030D-6E8A-4147-A177-3AD203B41FA5}">
                      <a16:colId xmlns:a16="http://schemas.microsoft.com/office/drawing/2014/main" val="535698020"/>
                    </a:ext>
                  </a:extLst>
                </a:gridCol>
                <a:gridCol w="1277619">
                  <a:extLst>
                    <a:ext uri="{9D8B030D-6E8A-4147-A177-3AD203B41FA5}">
                      <a16:colId xmlns:a16="http://schemas.microsoft.com/office/drawing/2014/main" val="4034596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Файл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Задача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Исполнитель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156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video2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Подготовить отчёт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SPEAKER_00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600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video2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Обновить релиз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SPEAKER_01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233083"/>
                  </a:ext>
                </a:extLst>
              </a:tr>
              <a:tr h="523661"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308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4016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112703" y="21945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000" b="0">
                <a:solidFill>
                  <a:srgbClr val="172137"/>
                </a:solidFill>
                <a:latin typeface="Arial"/>
              </a:rPr>
              <a:t>15 / 18</a:t>
            </a:r>
          </a:p>
        </p:txBody>
      </p:sp>
      <p:sp>
        <p:nvSpPr>
          <p:cNvPr id="5" name="Text 3"/>
          <p:cNvSpPr/>
          <p:nvPr/>
        </p:nvSpPr>
        <p:spPr>
          <a:xfrm>
            <a:off x="566928" y="575469"/>
            <a:ext cx="88696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ru-RU" sz="2800" b="1" dirty="0">
                <a:solidFill>
                  <a:srgbClr val="172137"/>
                </a:solidFill>
              </a:rPr>
              <a:t>Использование структурированных данных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524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49808" y="1551700"/>
            <a:ext cx="2743200" cy="2846059"/>
          </a:xfrm>
          <a:prstGeom prst="roundRect">
            <a:avLst>
              <a:gd name="adj" fmla="val 2667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2203588"/>
            <a:ext cx="2240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ru-RU" sz="2000" b="1" dirty="0">
                <a:solidFill>
                  <a:srgbClr val="172137"/>
                </a:solidFill>
              </a:rPr>
              <a:t>Пример анализа задач за месяц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043009"/>
            <a:ext cx="2331720" cy="2354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172137"/>
                </a:solidFill>
              </a:defRPr>
            </a:pPr>
            <a:r>
              <a:rPr lang="ru-RU" dirty="0">
                <a:solidFill>
                  <a:srgbClr val="172137"/>
                </a:solidFill>
              </a:rPr>
              <a:t>Всего задач: 12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172137"/>
                </a:solidFill>
              </a:defRPr>
            </a:pPr>
            <a:r>
              <a:rPr lang="ru-RU" dirty="0"/>
              <a:t>Выполнено: 8</a:t>
            </a:r>
            <a:endParaRPr lang="ru-RU" dirty="0">
              <a:solidFill>
                <a:srgbClr val="172137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172137"/>
                </a:solidFill>
              </a:defRPr>
            </a:pPr>
            <a:r>
              <a:rPr lang="ru-RU" dirty="0"/>
              <a:t>В процессе: 4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55548" y="4140317"/>
            <a:ext cx="2331720" cy="0"/>
          </a:xfrm>
          <a:prstGeom prst="line">
            <a:avLst/>
          </a:prstGeom>
          <a:noFill/>
          <a:ln w="1905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995927" y="1551701"/>
            <a:ext cx="6299539" cy="2842496"/>
          </a:xfrm>
          <a:prstGeom prst="roundRect">
            <a:avLst>
              <a:gd name="adj" fmla="val 2667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160520" y="2203588"/>
            <a:ext cx="25450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ru-RU" sz="2000" b="1" dirty="0">
                <a:solidFill>
                  <a:srgbClr val="172137"/>
                </a:solidFill>
              </a:rPr>
              <a:t>По исполнителям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60519" y="2396908"/>
            <a:ext cx="5171307" cy="16042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172137"/>
                </a:solidFill>
              </a:defRPr>
            </a:pPr>
            <a:r>
              <a:rPr lang="ru-RU" dirty="0"/>
              <a:t>SPEAKER_00 — 5 задач, из них 3 выполнено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172137"/>
                </a:solidFill>
              </a:defRPr>
            </a:pPr>
            <a:r>
              <a:rPr lang="ru-RU" dirty="0"/>
              <a:t>SPEAKER_01 — 7 задач, из них 5 выполнено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160519" y="4123325"/>
            <a:ext cx="5549731" cy="0"/>
          </a:xfrm>
          <a:prstGeom prst="line">
            <a:avLst/>
          </a:prstGeom>
          <a:noFill/>
          <a:ln w="1905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2360845" y="4738889"/>
            <a:ext cx="5487755" cy="1331985"/>
          </a:xfrm>
          <a:prstGeom prst="roundRect">
            <a:avLst>
              <a:gd name="adj" fmla="val 2667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833309" y="4914870"/>
            <a:ext cx="5933234" cy="105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000">
                <a:solidFill>
                  <a:srgbClr val="172137"/>
                </a:solidFill>
              </a:defRPr>
            </a:pPr>
            <a:r>
              <a:rPr lang="ru-RU" sz="2000" b="1" dirty="0">
                <a:solidFill>
                  <a:srgbClr val="172137"/>
                </a:solidFill>
              </a:rPr>
              <a:t>Система позволяет: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755755" y="5168402"/>
            <a:ext cx="5354609" cy="6623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172137"/>
                </a:solidFill>
              </a:defRPr>
            </a:pPr>
            <a:r>
              <a:rPr lang="ru-RU" dirty="0"/>
              <a:t>контролировать сроки выполнения задач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172137"/>
                </a:solidFill>
              </a:defRPr>
            </a:pPr>
            <a:r>
              <a:rPr lang="ru-RU" dirty="0"/>
              <a:t>анализировать загрузку исполнителей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172137"/>
                </a:solidFill>
              </a:defRPr>
            </a:pPr>
            <a:r>
              <a:rPr lang="ru-RU" dirty="0"/>
              <a:t>формировать статистику по встречам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833309" y="5980189"/>
            <a:ext cx="4625824" cy="0"/>
          </a:xfrm>
          <a:prstGeom prst="line">
            <a:avLst/>
          </a:prstGeom>
          <a:noFill/>
          <a:ln w="19050">
            <a:solidFill>
              <a:srgbClr val="C8D2D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7256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112703" y="21945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000" b="0">
                <a:solidFill>
                  <a:srgbClr val="172137"/>
                </a:solidFill>
                <a:latin typeface="Arial"/>
              </a:rPr>
              <a:t>16 / 18</a:t>
            </a:r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88696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1800"/>
            </a:pPr>
            <a:r>
              <a:rPr sz="2800" b="1" dirty="0" err="1"/>
              <a:t>Статистика</a:t>
            </a:r>
            <a:r>
              <a:rPr sz="2800" b="1" dirty="0"/>
              <a:t> и </a:t>
            </a:r>
            <a:r>
              <a:rPr sz="2800" b="1" dirty="0" err="1"/>
              <a:t>дашборд</a:t>
            </a:r>
            <a:endParaRPr sz="2800" b="1" dirty="0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524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49808" y="1719072"/>
            <a:ext cx="10972800" cy="4605528"/>
          </a:xfrm>
          <a:prstGeom prst="roundRect">
            <a:avLst>
              <a:gd name="adj" fmla="val 1633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87552" y="1993392"/>
            <a:ext cx="6629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1800"/>
            </a:pPr>
            <a:r>
              <a:rPr lang="ru-RU" sz="2000" dirty="0"/>
              <a:t>Система агрегирует данные обработки встреч</a:t>
            </a:r>
          </a:p>
          <a:p>
            <a:pPr>
              <a:defRPr sz="1800"/>
            </a:pPr>
            <a:r>
              <a:rPr lang="ru-RU" sz="2000" dirty="0"/>
              <a:t>и формирует сводную статистику и </a:t>
            </a:r>
            <a:r>
              <a:rPr lang="ru-RU" sz="2000" dirty="0" err="1"/>
              <a:t>дашборд</a:t>
            </a:r>
            <a:r>
              <a:rPr lang="ru-RU" sz="2000" dirty="0"/>
              <a:t>.</a:t>
            </a:r>
            <a:endParaRPr sz="2000" dirty="0"/>
          </a:p>
        </p:txBody>
      </p:sp>
      <p:sp>
        <p:nvSpPr>
          <p:cNvPr id="9" name="Shape 7"/>
          <p:cNvSpPr/>
          <p:nvPr/>
        </p:nvSpPr>
        <p:spPr>
          <a:xfrm>
            <a:off x="987552" y="2578608"/>
            <a:ext cx="2331720" cy="1189058"/>
          </a:xfrm>
          <a:prstGeom prst="roundRect">
            <a:avLst>
              <a:gd name="adj" fmla="val 7273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43000" y="2692908"/>
            <a:ext cx="566928" cy="128016"/>
          </a:xfrm>
          <a:prstGeom prst="roundRect">
            <a:avLst>
              <a:gd name="adj" fmla="val 21429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133856" y="2962656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</a:rPr>
              <a:t>Встреч всего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33856" y="3351784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600" dirty="0">
                <a:solidFill>
                  <a:srgbClr val="172137"/>
                </a:solidFill>
              </a:rPr>
              <a:t>meetings_total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39312" y="2578607"/>
            <a:ext cx="2331720" cy="1189059"/>
          </a:xfrm>
          <a:prstGeom prst="roundRect">
            <a:avLst>
              <a:gd name="adj" fmla="val 7273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785616" y="2692908"/>
            <a:ext cx="566928" cy="128016"/>
          </a:xfrm>
          <a:prstGeom prst="roundRect">
            <a:avLst>
              <a:gd name="adj" fmla="val 21429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785616" y="2962656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ru-RU" sz="1600" b="1" dirty="0">
                <a:solidFill>
                  <a:srgbClr val="172137"/>
                </a:solidFill>
              </a:rPr>
              <a:t>Успешность </a:t>
            </a:r>
            <a:r>
              <a:rPr lang="ru-RU" sz="1600" b="1" dirty="0" err="1">
                <a:solidFill>
                  <a:srgbClr val="172137"/>
                </a:solidFill>
              </a:rPr>
              <a:t>транскрибации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5052" y="3430354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600" dirty="0">
                <a:solidFill>
                  <a:srgbClr val="172137"/>
                </a:solidFill>
              </a:rPr>
              <a:t>transcription_success / failed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91072" y="2578607"/>
            <a:ext cx="2331720" cy="1189059"/>
          </a:xfrm>
          <a:prstGeom prst="roundRect">
            <a:avLst>
              <a:gd name="adj" fmla="val 7273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37376" y="2692908"/>
            <a:ext cx="566928" cy="128016"/>
          </a:xfrm>
          <a:prstGeom prst="roundRect">
            <a:avLst>
              <a:gd name="adj" fmla="val 21429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37376" y="2962656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</a:rPr>
              <a:t>Открытые задачи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37376" y="3346704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600" dirty="0">
                <a:solidFill>
                  <a:srgbClr val="172137"/>
                </a:solidFill>
              </a:rPr>
              <a:t>open_items_total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42832" y="2578608"/>
            <a:ext cx="2331720" cy="1189058"/>
          </a:xfrm>
          <a:prstGeom prst="roundRect">
            <a:avLst>
              <a:gd name="adj" fmla="val 7273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089136" y="2724912"/>
            <a:ext cx="566928" cy="128016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019031" y="2962656"/>
            <a:ext cx="218541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</a:rPr>
              <a:t>Производительность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89136" y="3278632"/>
            <a:ext cx="192024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600" dirty="0">
                <a:solidFill>
                  <a:srgbClr val="172137"/>
                </a:solidFill>
              </a:rPr>
              <a:t>avg_rtf / p95_rtf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87552" y="3977640"/>
            <a:ext cx="4892040" cy="1737360"/>
          </a:xfrm>
          <a:prstGeom prst="roundRect">
            <a:avLst>
              <a:gd name="adj" fmla="val 3158"/>
            </a:avLst>
          </a:prstGeom>
          <a:solidFill>
            <a:srgbClr val="FCFDFF"/>
          </a:solidFill>
          <a:ln w="12700">
            <a:solidFill>
              <a:srgbClr val="D8E2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143000" y="4187700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</a:rPr>
              <a:t>KPI по последним встречам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" y="4462272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200" dirty="0">
                <a:solidFill>
                  <a:srgbClr val="17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meeting_id | filename | transcription_status | rtf | decisions_count | open_items_count</a:t>
            </a:r>
            <a:endParaRPr lang="en-US" sz="12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200" dirty="0">
                <a:solidFill>
                  <a:srgbClr val="17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| 2026_01_10_team | success | 0.84 | 3 | 2</a:t>
            </a:r>
            <a:endParaRPr lang="en-US" sz="12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200" dirty="0">
                <a:solidFill>
                  <a:srgbClr val="17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| 2026_01_11_sync | success | 0.78 | 1 | 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3977640"/>
            <a:ext cx="4617720" cy="1737360"/>
          </a:xfrm>
          <a:prstGeom prst="roundRect">
            <a:avLst>
              <a:gd name="adj" fmla="val 3158"/>
            </a:avLst>
          </a:prstGeom>
          <a:solidFill>
            <a:srgbClr val="FCFD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327648" y="4184055"/>
            <a:ext cx="164592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600" b="1" dirty="0">
                <a:solidFill>
                  <a:srgbClr val="172137"/>
                </a:solidFill>
              </a:rPr>
              <a:t>Открытые задачи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27648" y="4645827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200" dirty="0">
                <a:solidFill>
                  <a:srgbClr val="17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task_text | assignee_display | due_date | priority</a:t>
            </a:r>
            <a:endParaRPr lang="en-US" sz="12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200" dirty="0">
                <a:solidFill>
                  <a:srgbClr val="17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Подготовить отчёт | SPEAKER_00 | 2026-01-14 | 1</a:t>
            </a:r>
            <a:endParaRPr lang="en-US" sz="1200" dirty="0"/>
          </a:p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1200" dirty="0">
                <a:solidFill>
                  <a:srgbClr val="1721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Обновить выгрузку | SUGGESTED: SPEAKER_02 | 2026-01-15 | 2</a:t>
            </a:r>
            <a:endParaRPr lang="en-US" sz="12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6DDD9D08-9D69-495A-9D55-5D7C75EBEBF7}"/>
              </a:ext>
            </a:extLst>
          </p:cNvPr>
          <p:cNvSpPr/>
          <p:nvPr/>
        </p:nvSpPr>
        <p:spPr>
          <a:xfrm>
            <a:off x="1037843" y="5802881"/>
            <a:ext cx="9316889" cy="4114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1800"/>
            </a:pPr>
            <a:r>
              <a:rPr lang="ru-RU" dirty="0" err="1"/>
              <a:t>Дашборд</a:t>
            </a:r>
            <a:r>
              <a:rPr lang="ru-RU" dirty="0"/>
              <a:t> позволяет контролировать качество </a:t>
            </a:r>
            <a:r>
              <a:rPr lang="ru-RU" dirty="0" err="1"/>
              <a:t>обработкии</a:t>
            </a:r>
            <a:r>
              <a:rPr lang="ru-RU" dirty="0"/>
              <a:t> загрузку системы.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112703" y="21945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000" b="0">
                <a:solidFill>
                  <a:srgbClr val="172137"/>
                </a:solidFill>
                <a:latin typeface="Arial"/>
              </a:rPr>
              <a:t>17 / 18</a:t>
            </a:r>
          </a:p>
        </p:txBody>
      </p:sp>
      <p:sp>
        <p:nvSpPr>
          <p:cNvPr id="5" name="Text 3"/>
          <p:cNvSpPr/>
          <p:nvPr/>
        </p:nvSpPr>
        <p:spPr>
          <a:xfrm>
            <a:off x="566928" y="603504"/>
            <a:ext cx="886968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2800" b="1" dirty="0">
                <a:solidFill>
                  <a:srgbClr val="172137"/>
                </a:solidFill>
              </a:rPr>
              <a:t>Преимущества и полученные результаты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207008"/>
            <a:ext cx="10972800" cy="0"/>
          </a:xfrm>
          <a:prstGeom prst="line">
            <a:avLst/>
          </a:prstGeom>
          <a:noFill/>
          <a:ln w="15240">
            <a:solidFill>
              <a:srgbClr val="C8D2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49808" y="1755648"/>
            <a:ext cx="5303520" cy="4434840"/>
          </a:xfrm>
          <a:prstGeom prst="roundRect">
            <a:avLst>
              <a:gd name="adj" fmla="val 1649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05840" y="2020485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2000" b="1" dirty="0">
                <a:solidFill>
                  <a:srgbClr val="172137"/>
                </a:solidFill>
              </a:rPr>
              <a:t>Практическая ценность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05840" y="2715429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261872" y="2669709"/>
            <a:ext cx="440740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dirty="0">
                <a:solidFill>
                  <a:srgbClr val="172137"/>
                </a:solidFill>
              </a:rPr>
              <a:t>Система автоматизирует процесс от исходного файла до готового протокола.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005840" y="3514343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261872" y="3468623"/>
            <a:ext cx="440740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1800"/>
            </a:pPr>
            <a:r>
              <a:rPr lang="ru-RU" dirty="0"/>
              <a:t>Структурированные данные могут использоваться</a:t>
            </a:r>
          </a:p>
          <a:p>
            <a:pPr>
              <a:defRPr sz="1800"/>
            </a:pPr>
            <a:r>
              <a:rPr lang="ru-RU" dirty="0"/>
              <a:t>для поиска и формирования статистики.</a:t>
            </a:r>
            <a:endParaRPr dirty="0"/>
          </a:p>
        </p:txBody>
      </p:sp>
      <p:sp>
        <p:nvSpPr>
          <p:cNvPr id="13" name="Shape 11"/>
          <p:cNvSpPr/>
          <p:nvPr/>
        </p:nvSpPr>
        <p:spPr>
          <a:xfrm>
            <a:off x="1005840" y="4364735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tx1">
              <a:lumMod val="95000"/>
              <a:lumOff val="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261872" y="4319015"/>
            <a:ext cx="440740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dirty="0">
                <a:solidFill>
                  <a:srgbClr val="172137"/>
                </a:solidFill>
              </a:rPr>
              <a:t>Есть возможность пакетной обработки большого числа встреч.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005840" y="5205983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tx1">
              <a:lumMod val="85000"/>
              <a:lumOff val="1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261872" y="5160263"/>
            <a:ext cx="440740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dirty="0">
                <a:solidFill>
                  <a:srgbClr val="172137"/>
                </a:solidFill>
              </a:rPr>
              <a:t>Подход расширяем: можно менять модели, добавлять интерфейс и интеграции.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309360" y="1755648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83680" y="2020485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sz="2000" b="1" dirty="0">
                <a:solidFill>
                  <a:srgbClr val="172137"/>
                </a:solidFill>
              </a:rPr>
              <a:t>Что реализовано в проекте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583680" y="2672756"/>
            <a:ext cx="329184" cy="329184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48704" y="2755052"/>
            <a:ext cx="164592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000" b="1" dirty="0">
                <a:solidFill>
                  <a:srgbClr val="172137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59168" y="2691044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dirty="0">
                <a:solidFill>
                  <a:srgbClr val="172137"/>
                </a:solidFill>
              </a:rPr>
              <a:t>Приём аудио и видеофайлов с конвертацией в WAV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583680" y="3471331"/>
            <a:ext cx="329184" cy="3291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648704" y="3557691"/>
            <a:ext cx="164592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000" b="1" dirty="0">
                <a:solidFill>
                  <a:srgbClr val="172137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59168" y="3489619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dirty="0">
                <a:solidFill>
                  <a:srgbClr val="172137"/>
                </a:solidFill>
              </a:rPr>
              <a:t>Транскрибация и диаризация с сохранением сегментов в БД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583680" y="4196754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648704" y="4306482"/>
            <a:ext cx="164592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000" b="1" dirty="0">
                <a:solidFill>
                  <a:srgbClr val="172137"/>
                </a:solidFill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59168" y="4215042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1800">
                <a:solidFill>
                  <a:srgbClr val="172137"/>
                </a:solidFill>
              </a:defRPr>
            </a:pPr>
            <a:r>
              <a:rPr lang="en-US" dirty="0">
                <a:solidFill>
                  <a:srgbClr val="172137"/>
                </a:solidFill>
              </a:rPr>
              <a:t>Извлечение решений и задач в JSON и таблицы БД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583680" y="4880013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648704" y="4989741"/>
            <a:ext cx="164592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800">
                <a:solidFill>
                  <a:srgbClr val="172137"/>
                </a:solidFill>
              </a:defRPr>
            </a:pPr>
            <a:r>
              <a:rPr lang="en-US" sz="1000" b="1" dirty="0">
                <a:solidFill>
                  <a:srgbClr val="172137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59168" y="5035122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1800"/>
            </a:pPr>
            <a:r>
              <a:rPr lang="ru-RU" dirty="0"/>
              <a:t>Экспорт результатов обработки и формирование сводной статистики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3D6FF"/>
          </a:solidFill>
          <a:ln w="12700">
            <a:solidFill>
              <a:srgbClr val="33D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11112703" y="219456"/>
            <a:ext cx="7498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sz="1000" b="0">
                <a:solidFill>
                  <a:srgbClr val="172137"/>
                </a:solidFill>
                <a:latin typeface="Arial"/>
              </a:rPr>
              <a:t>18 / 18</a:t>
            </a:r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5852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200">
                <a:solidFill>
                  <a:srgbClr val="172137"/>
                </a:solidFill>
              </a:defRPr>
            </a:pPr>
            <a:r>
              <a:rPr lang="en-US" sz="3000" b="1" dirty="0">
                <a:solidFill>
                  <a:srgbClr val="172137"/>
                </a:solidFill>
              </a:rPr>
              <a:t>Спасибо за внимание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" y="31546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2000"/>
            </a:pPr>
            <a:r>
              <a:t>Разработанная система позволяет автоматизировать обработку переговоров и формировать структурированные данные.</a:t>
            </a:r>
          </a:p>
        </p:txBody>
      </p:sp>
      <p:sp>
        <p:nvSpPr>
          <p:cNvPr id="12" name="Shape 10"/>
          <p:cNvSpPr/>
          <p:nvPr/>
        </p:nvSpPr>
        <p:spPr>
          <a:xfrm>
            <a:off x="6995160" y="1508760"/>
            <a:ext cx="4069080" cy="3566160"/>
          </a:xfrm>
          <a:prstGeom prst="roundRect">
            <a:avLst>
              <a:gd name="adj" fmla="val 2051"/>
            </a:avLst>
          </a:prstGeom>
          <a:solidFill>
            <a:srgbClr val="EEF4FA"/>
          </a:solidFill>
          <a:ln w="12700">
            <a:solidFill>
              <a:srgbClr val="C8D2DF"/>
            </a:solidFill>
            <a:prstDash val="solid"/>
          </a:ln>
          <a:effectLst>
            <a:outerShdw blurRad="25400" dist="127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296912" y="196596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  <a:defRPr sz="2200">
                <a:solidFill>
                  <a:srgbClr val="172137"/>
                </a:solidFill>
              </a:defRPr>
            </a:pPr>
            <a:r>
              <a:rPr lang="en-US" sz="2000" b="1" dirty="0">
                <a:solidFill>
                  <a:srgbClr val="172137"/>
                </a:solidFill>
              </a:rPr>
              <a:t>Ключевая мысль защиты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96912" y="2560320"/>
            <a:ext cx="3273552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>
              <a:defRPr sz="2000"/>
            </a:pPr>
            <a:r>
              <a:rPr dirty="0"/>
              <a:t>В </a:t>
            </a:r>
            <a:r>
              <a:rPr dirty="0" err="1"/>
              <a:t>работе</a:t>
            </a:r>
            <a:r>
              <a:rPr dirty="0"/>
              <a:t> </a:t>
            </a:r>
            <a:r>
              <a:rPr dirty="0" err="1"/>
              <a:t>реализован</a:t>
            </a:r>
            <a:r>
              <a:rPr dirty="0"/>
              <a:t> </a:t>
            </a:r>
            <a:r>
              <a:rPr dirty="0" err="1"/>
              <a:t>полный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обработки</a:t>
            </a:r>
            <a:r>
              <a:rPr dirty="0"/>
              <a:t>: </a:t>
            </a:r>
            <a:r>
              <a:rPr lang="ru-RU" dirty="0"/>
              <a:t>от аудио до готового протокола, а также формирования выборок и статистики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7121</TotalTime>
  <Words>2019</Words>
  <Application>Microsoft Office PowerPoint</Application>
  <PresentationFormat>Широкоэкранный</PresentationFormat>
  <Paragraphs>386</Paragraphs>
  <Slides>18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автоматической транскрибации и протоколирования встреч</dc:title>
  <dc:subject>Diploma presentation</dc:subject>
  <dc:creator>OpenAI</dc:creator>
  <cp:lastModifiedBy>flake31@mail.ru</cp:lastModifiedBy>
  <cp:revision>79</cp:revision>
  <dcterms:created xsi:type="dcterms:W3CDTF">2026-03-22T21:08:54Z</dcterms:created>
  <dcterms:modified xsi:type="dcterms:W3CDTF">2026-04-12T11:06:51Z</dcterms:modified>
</cp:coreProperties>
</file>